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embeddedFontLst>
    <p:embeddedFont>
      <p:font typeface="Roboto" panose="020B0604020202020204" charset="0"/>
      <p:regular r:id="rId16"/>
      <p:bold r:id="rId17"/>
      <p:italic r:id="rId18"/>
      <p:boldItalic r:id="rId19"/>
    </p:embeddedFont>
    <p:embeddedFont>
      <p:font typeface="Verdana" panose="020B060403050404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buChar char="●"/>
              <a:defRPr sz="1100"/>
            </a:lvl1pPr>
            <a:lvl2pPr lvl="1">
              <a:spcBef>
                <a:spcPts val="0"/>
              </a:spcBef>
              <a:buSzPct val="100000"/>
              <a:buChar char="○"/>
              <a:defRPr sz="1100"/>
            </a:lvl2pPr>
            <a:lvl3pPr lvl="2">
              <a:spcBef>
                <a:spcPts val="0"/>
              </a:spcBef>
              <a:buSzPct val="100000"/>
              <a:buChar char="■"/>
              <a:defRPr sz="1100"/>
            </a:lvl3pPr>
            <a:lvl4pPr lvl="3">
              <a:spcBef>
                <a:spcPts val="0"/>
              </a:spcBef>
              <a:buSzPct val="100000"/>
              <a:buChar char="●"/>
              <a:defRPr sz="1100"/>
            </a:lvl4pPr>
            <a:lvl5pPr lvl="4">
              <a:spcBef>
                <a:spcPts val="0"/>
              </a:spcBef>
              <a:buSzPct val="100000"/>
              <a:buChar char="○"/>
              <a:defRPr sz="1100"/>
            </a:lvl5pPr>
            <a:lvl6pPr lvl="5">
              <a:spcBef>
                <a:spcPts val="0"/>
              </a:spcBef>
              <a:buSzPct val="100000"/>
              <a:buChar char="■"/>
              <a:defRPr sz="1100"/>
            </a:lvl6pPr>
            <a:lvl7pPr lvl="6">
              <a:spcBef>
                <a:spcPts val="0"/>
              </a:spcBef>
              <a:buSzPct val="100000"/>
              <a:buChar char="●"/>
              <a:defRPr sz="1100"/>
            </a:lvl7pPr>
            <a:lvl8pPr lvl="7">
              <a:spcBef>
                <a:spcPts val="0"/>
              </a:spcBef>
              <a:buSzPct val="100000"/>
              <a:buChar char="○"/>
              <a:defRPr sz="1100"/>
            </a:lvl8pPr>
            <a:lvl9pPr lvl="8">
              <a:spcBef>
                <a:spcPts val="0"/>
              </a:spcBef>
              <a:buSzPct val="1000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Shape 1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Shape 1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Shape 1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6167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Shape 1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Shape 1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Shape 13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Shape 1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Shape 1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Shape 1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hape 10"/>
          <p:cNvGrpSpPr/>
          <p:nvPr/>
        </p:nvGrpSpPr>
        <p:grpSpPr>
          <a:xfrm>
            <a:off x="6098378" y="4"/>
            <a:ext cx="3045625" cy="2030570"/>
            <a:chOff x="6098378" y="4"/>
            <a:chExt cx="3045625" cy="2030570"/>
          </a:xfrm>
        </p:grpSpPr>
        <p:sp>
          <p:nvSpPr>
            <p:cNvPr id="11" name="Shape 11"/>
            <p:cNvSpPr/>
            <p:nvPr/>
          </p:nvSpPr>
          <p:spPr>
            <a:xfrm>
              <a:off x="8128803" y="15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" name="Shape 12"/>
            <p:cNvSpPr/>
            <p:nvPr/>
          </p:nvSpPr>
          <p:spPr>
            <a:xfrm flipH="1">
              <a:off x="7113463" y="4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" name="Shape 13"/>
            <p:cNvSpPr/>
            <p:nvPr/>
          </p:nvSpPr>
          <p:spPr>
            <a:xfrm rot="10800000" flipH="1">
              <a:off x="7113588" y="106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" name="Shape 14"/>
            <p:cNvSpPr/>
            <p:nvPr/>
          </p:nvSpPr>
          <p:spPr>
            <a:xfrm rot="10800000">
              <a:off x="6098378" y="96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" name="Shape 1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Clr>
                <a:schemeClr val="lt1"/>
              </a:buClr>
              <a:buSzPct val="100000"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ct val="100000"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ct val="100000"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ct val="100000"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ct val="100000"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ct val="100000"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ct val="100000"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ct val="100000"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ct val="100000"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598088" y="2715912"/>
            <a:ext cx="8222100" cy="4329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Shape 20"/>
          <p:cNvGrpSpPr/>
          <p:nvPr/>
        </p:nvGrpSpPr>
        <p:grpSpPr>
          <a:xfrm>
            <a:off x="6098378" y="4"/>
            <a:ext cx="3045625" cy="2030570"/>
            <a:chOff x="6098378" y="4"/>
            <a:chExt cx="3045625" cy="2030570"/>
          </a:xfrm>
        </p:grpSpPr>
        <p:sp>
          <p:nvSpPr>
            <p:cNvPr id="21" name="Shape 21"/>
            <p:cNvSpPr/>
            <p:nvPr/>
          </p:nvSpPr>
          <p:spPr>
            <a:xfrm>
              <a:off x="8128803" y="15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" name="Shape 22"/>
            <p:cNvSpPr/>
            <p:nvPr/>
          </p:nvSpPr>
          <p:spPr>
            <a:xfrm flipH="1">
              <a:off x="7113463" y="4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" name="Shape 23"/>
            <p:cNvSpPr/>
            <p:nvPr/>
          </p:nvSpPr>
          <p:spPr>
            <a:xfrm rot="10800000" flipH="1">
              <a:off x="7113588" y="106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" name="Shape 24"/>
            <p:cNvSpPr/>
            <p:nvPr/>
          </p:nvSpPr>
          <p:spPr>
            <a:xfrm rot="10800000">
              <a:off x="6098378" y="96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" name="Shape 2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Clr>
                <a:schemeClr val="lt1"/>
              </a:buClr>
              <a:buSzPct val="100000"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ct val="100000"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ct val="100000"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ct val="100000"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ct val="100000"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ct val="100000"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ct val="100000"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ct val="100000"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ct val="100000"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Shape 29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Shape 30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" name="Shape 31"/>
            <p:cNvSpPr/>
            <p:nvPr/>
          </p:nvSpPr>
          <p:spPr>
            <a:xfrm flipH="1">
              <a:off x="6181162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" name="Shape 3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" name="Shape 33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" name="Shape 3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 lang="en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 lang="en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 lang="en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Shape 51"/>
          <p:cNvGrpSpPr/>
          <p:nvPr/>
        </p:nvGrpSpPr>
        <p:grpSpPr>
          <a:xfrm>
            <a:off x="6098378" y="4"/>
            <a:ext cx="3045625" cy="2030570"/>
            <a:chOff x="6098378" y="4"/>
            <a:chExt cx="3045625" cy="2030570"/>
          </a:xfrm>
        </p:grpSpPr>
        <p:sp>
          <p:nvSpPr>
            <p:cNvPr id="52" name="Shape 52"/>
            <p:cNvSpPr/>
            <p:nvPr/>
          </p:nvSpPr>
          <p:spPr>
            <a:xfrm>
              <a:off x="8128803" y="15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" name="Shape 53"/>
            <p:cNvSpPr/>
            <p:nvPr/>
          </p:nvSpPr>
          <p:spPr>
            <a:xfrm flipH="1">
              <a:off x="7113463" y="4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" name="Shape 54"/>
            <p:cNvSpPr/>
            <p:nvPr/>
          </p:nvSpPr>
          <p:spPr>
            <a:xfrm rot="10800000" flipH="1">
              <a:off x="7113588" y="106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" name="Shape 55"/>
            <p:cNvSpPr/>
            <p:nvPr/>
          </p:nvSpPr>
          <p:spPr>
            <a:xfrm rot="10800000">
              <a:off x="6098378" y="96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" name="Shape 5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61" name="Shape 6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 lang="en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Shape 70"/>
          <p:cNvGrpSpPr/>
          <p:nvPr/>
        </p:nvGrpSpPr>
        <p:grpSpPr>
          <a:xfrm>
            <a:off x="6098378" y="4"/>
            <a:ext cx="3045625" cy="2030570"/>
            <a:chOff x="6098378" y="4"/>
            <a:chExt cx="3045625" cy="2030570"/>
          </a:xfrm>
        </p:grpSpPr>
        <p:sp>
          <p:nvSpPr>
            <p:cNvPr id="71" name="Shape 71"/>
            <p:cNvSpPr/>
            <p:nvPr/>
          </p:nvSpPr>
          <p:spPr>
            <a:xfrm>
              <a:off x="8128803" y="15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" name="Shape 72"/>
            <p:cNvSpPr/>
            <p:nvPr/>
          </p:nvSpPr>
          <p:spPr>
            <a:xfrm flipH="1">
              <a:off x="7113463" y="4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" name="Shape 73"/>
            <p:cNvSpPr/>
            <p:nvPr/>
          </p:nvSpPr>
          <p:spPr>
            <a:xfrm rot="10800000" flipH="1">
              <a:off x="7113588" y="106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" name="Shape 74"/>
            <p:cNvSpPr/>
            <p:nvPr/>
          </p:nvSpPr>
          <p:spPr>
            <a:xfrm rot="10800000">
              <a:off x="6098378" y="96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" name="Shape 7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76" name="Shape 76"/>
          <p:cNvSpPr txBox="1">
            <a:spLocks noGrp="1"/>
          </p:cNvSpPr>
          <p:nvPr>
            <p:ph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 lang="en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lang="en"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egaldictionary.net/defendant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vestopedia.com/terms/w/white-collar-crime.asp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hyperlink" Target="http://www.investopedia.com/terms/m/misrepresentation.asp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://topics.law.cornell.edu/wex/trespass" TargetMode="External"/><Relationship Id="rId3" Type="http://schemas.openxmlformats.org/officeDocument/2006/relationships/hyperlink" Target="http://topics.law.cornell.edu/wex/Fraud" TargetMode="External"/><Relationship Id="rId7" Type="http://schemas.openxmlformats.org/officeDocument/2006/relationships/hyperlink" Target="http://topics.law.cornell.edu/wex/espionag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topics.law.cornell.edu/wex/statute" TargetMode="External"/><Relationship Id="rId11" Type="http://schemas.openxmlformats.org/officeDocument/2006/relationships/image" Target="../media/image11.png"/><Relationship Id="rId5" Type="http://schemas.openxmlformats.org/officeDocument/2006/relationships/hyperlink" Target="http://topics.law.cornell.edu/wex/theft" TargetMode="External"/><Relationship Id="rId10" Type="http://schemas.openxmlformats.org/officeDocument/2006/relationships/image" Target="../media/image10.png"/><Relationship Id="rId4" Type="http://schemas.openxmlformats.org/officeDocument/2006/relationships/hyperlink" Target="http://topics.law.cornell.edu/wex/criminal" TargetMode="External"/><Relationship Id="rId9" Type="http://schemas.openxmlformats.org/officeDocument/2006/relationships/hyperlink" Target="http://topics.law.cornell.edu/wex/fraud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bi.gov/contact-us/field-offices/newyork/news/press-releases/nine-people-charged-in-largest-known-computer-hacking-and-securities-fraud-scheme" TargetMode="External"/><Relationship Id="rId7" Type="http://schemas.openxmlformats.org/officeDocument/2006/relationships/hyperlink" Target="https://www.law.cornell.edu/wex/computer_and_internet_fraud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investopedia.com/terms/s/securities-fraud.asp" TargetMode="External"/><Relationship Id="rId5" Type="http://schemas.openxmlformats.org/officeDocument/2006/relationships/hyperlink" Target="https://legaldictionary.net/wire-fraud/" TargetMode="External"/><Relationship Id="rId4" Type="http://schemas.openxmlformats.org/officeDocument/2006/relationships/hyperlink" Target="https://www.nytimes.com/2015/08/12/business/dealbook/insider-trading-sec-hacking-cas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ctrTitle"/>
          </p:nvPr>
        </p:nvSpPr>
        <p:spPr>
          <a:xfrm>
            <a:off x="311700" y="874625"/>
            <a:ext cx="8520600" cy="18267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3600"/>
              <a:t>“Nine People Charged in Largest Known Computer Hacking and Securities Fraud Scheme”</a:t>
            </a:r>
          </a:p>
        </p:txBody>
      </p:sp>
      <p:sp>
        <p:nvSpPr>
          <p:cNvPr id="86" name="Shape 86"/>
          <p:cNvSpPr txBox="1">
            <a:spLocks noGrp="1"/>
          </p:cNvSpPr>
          <p:nvPr>
            <p:ph type="subTitle" idx="1"/>
          </p:nvPr>
        </p:nvSpPr>
        <p:spPr>
          <a:xfrm>
            <a:off x="311700" y="3240525"/>
            <a:ext cx="8520600" cy="11283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Aamir Shaikh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Jimmy Tran</a:t>
            </a:r>
          </a:p>
        </p:txBody>
      </p:sp>
      <p:sp>
        <p:nvSpPr>
          <p:cNvPr id="87" name="Shape 87"/>
          <p:cNvSpPr txBox="1">
            <a:spLocks noGrp="1"/>
          </p:cNvSpPr>
          <p:nvPr>
            <p:ph type="subTitle" idx="1"/>
          </p:nvPr>
        </p:nvSpPr>
        <p:spPr>
          <a:xfrm>
            <a:off x="363075" y="4396200"/>
            <a:ext cx="8520600" cy="5391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900"/>
              <a:t>Nine People Charged in Largest Known Computer Hacking and Securities Fraud Scheme. (2015, August 11). Retrieved August 30, 2017, from https://www.fbi.gov/contact-us/field-offices/newyork/news/press-releases/nine-people-charged-in-largest-known-computer-hacking-and-securities-fraud-scheme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The Scheme</a:t>
            </a:r>
          </a:p>
        </p:txBody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311700" y="1077475"/>
            <a:ext cx="4251000" cy="364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" dirty="0"/>
              <a:t>US attorney Kelly Currie: “unholy alliance” of hackers and traders</a:t>
            </a:r>
          </a:p>
          <a:p>
            <a:pPr marL="457200" lvl="0" indent="-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" dirty="0"/>
              <a:t>Three business newswires hacked</a:t>
            </a:r>
          </a:p>
          <a:p>
            <a:pPr marL="914400" lvl="1" indent="-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" dirty="0"/>
              <a:t>Marketwired L.P.</a:t>
            </a:r>
          </a:p>
          <a:p>
            <a:pPr marL="914400" lvl="1" indent="-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" dirty="0"/>
              <a:t>PR Newswire Association LLC (PRN)</a:t>
            </a:r>
          </a:p>
          <a:p>
            <a:pPr marL="914400" lvl="1" indent="-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" dirty="0"/>
              <a:t>Business Wire</a:t>
            </a:r>
          </a:p>
          <a:p>
            <a:pPr marL="457200" lvl="0" indent="-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" dirty="0"/>
              <a:t>Unreleased press releases stolen</a:t>
            </a:r>
          </a:p>
          <a:p>
            <a:pPr marL="914400" lvl="1" indent="-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" dirty="0"/>
              <a:t>Up to 150,000 stolen</a:t>
            </a:r>
          </a:p>
          <a:p>
            <a:pPr marL="914400" lvl="1" indent="-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" dirty="0"/>
              <a:t>At least 800 leaked</a:t>
            </a:r>
          </a:p>
        </p:txBody>
      </p:sp>
      <p:pic>
        <p:nvPicPr>
          <p:cNvPr id="94" name="Shape 94" descr="Image result for business wire" title="View source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1575" y="2756875"/>
            <a:ext cx="1972925" cy="197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Shape 95" descr="Image result for marketwired" title="View source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650" y="595100"/>
            <a:ext cx="3209700" cy="179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Shape 96" descr="Image result for newswire" title="View source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1723" y="3307400"/>
            <a:ext cx="1972925" cy="14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The Scheme</a:t>
            </a:r>
          </a:p>
        </p:txBody>
      </p:sp>
      <p:sp>
        <p:nvSpPr>
          <p:cNvPr id="102" name="Shape 102"/>
          <p:cNvSpPr txBox="1">
            <a:spLocks noGrp="1"/>
          </p:cNvSpPr>
          <p:nvPr>
            <p:ph type="body" idx="1"/>
          </p:nvPr>
        </p:nvSpPr>
        <p:spPr>
          <a:xfrm>
            <a:off x="4579475" y="1229875"/>
            <a:ext cx="4252800" cy="3339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"/>
              <a:t>Inside traders given information ahead of time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Illegal trades worth more than $30 million over three years</a:t>
            </a:r>
          </a:p>
          <a:p>
            <a:pPr marL="457200" lvl="0" indent="-228600">
              <a:spcBef>
                <a:spcPts val="0"/>
              </a:spcBef>
            </a:pPr>
            <a:r>
              <a:rPr lang="en"/>
              <a:t>Profits shared through foreign shell companies</a:t>
            </a:r>
          </a:p>
        </p:txBody>
      </p:sp>
      <p:pic>
        <p:nvPicPr>
          <p:cNvPr id="103" name="Shape 103" descr="Image result for shell gas" title="View source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600" y="994375"/>
            <a:ext cx="381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Members</a:t>
            </a:r>
          </a:p>
        </p:txBody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311700" y="1017800"/>
            <a:ext cx="4267800" cy="3822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" sz="1400" dirty="0"/>
              <a:t>Comprised of hackers, security industry professionals, and inside traders</a:t>
            </a:r>
          </a:p>
          <a:p>
            <a: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" sz="1400" dirty="0"/>
              <a:t>Ivan Turchynov of Ukraine</a:t>
            </a:r>
          </a:p>
          <a:p>
            <a: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" sz="1400" dirty="0"/>
              <a:t>Oleksandr Ieremenko of Ukraine</a:t>
            </a:r>
          </a:p>
          <a:p>
            <a: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" sz="1400" dirty="0"/>
              <a:t>Pavel Dubovoyall of Ukraine</a:t>
            </a:r>
          </a:p>
          <a:p>
            <a: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" sz="1400" dirty="0"/>
              <a:t>Arkadiy Dubovoy of Alpharetta, Georgia</a:t>
            </a:r>
          </a:p>
          <a:p>
            <a: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" sz="1400" dirty="0"/>
              <a:t>Igor Dubovoy of Alpharetta, Georgia</a:t>
            </a:r>
          </a:p>
          <a:p>
            <a: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" sz="1400" dirty="0"/>
              <a:t>Vitaly Korchevsky of Glen Mills, Pennsylvania (</a:t>
            </a:r>
            <a:r>
              <a:rPr lang="en" sz="1400" b="1" dirty="0"/>
              <a:t>also a</a:t>
            </a:r>
            <a:r>
              <a:rPr lang="en" b="1" dirty="0"/>
              <a:t> former</a:t>
            </a:r>
            <a:r>
              <a:rPr lang="en" sz="1400" b="1" dirty="0"/>
              <a:t> S</a:t>
            </a:r>
            <a:r>
              <a:rPr lang="en" b="1" dirty="0"/>
              <a:t>ecurities and Exchange Commission</a:t>
            </a:r>
            <a:r>
              <a:rPr lang="en" sz="1400" b="1" dirty="0"/>
              <a:t> member</a:t>
            </a:r>
            <a:r>
              <a:rPr lang="en" sz="1400" dirty="0"/>
              <a:t>)</a:t>
            </a:r>
          </a:p>
          <a:p>
            <a: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" sz="1400" dirty="0"/>
              <a:t>Vladislav Khalupsky of Brooklyn, New York; and Odessa, Ukraine</a:t>
            </a:r>
          </a:p>
          <a:p>
            <a: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" sz="1400" dirty="0"/>
              <a:t>Leonid Momotok of Suwanee, Georgia</a:t>
            </a:r>
          </a:p>
          <a:p>
            <a: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" sz="1400" dirty="0"/>
              <a:t>Alexander Garkusha of Cummings and Alpharetta, Georgia</a:t>
            </a:r>
          </a:p>
        </p:txBody>
      </p:sp>
      <p:pic>
        <p:nvPicPr>
          <p:cNvPr id="110" name="Shape 110" descr="Image result for securities and exchange commission" title="View source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6600" y="1483212"/>
            <a:ext cx="3855700" cy="28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Crimes</a:t>
            </a:r>
          </a:p>
        </p:txBody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4260300" cy="3339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"/>
              <a:t>Wire fraud and conspiracy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Securities fraud and conspiracy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Money laundering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Turchynov and Ieremenko only:</a:t>
            </a:r>
          </a:p>
          <a:p>
            <a:pPr marL="914400" lvl="1" indent="-228600" rtl="0">
              <a:spcBef>
                <a:spcPts val="0"/>
              </a:spcBef>
            </a:pPr>
            <a:r>
              <a:rPr lang="en"/>
              <a:t>Computer fraud and conspiracy</a:t>
            </a:r>
          </a:p>
          <a:p>
            <a:pPr marL="914400" lvl="1" indent="-228600">
              <a:spcBef>
                <a:spcPts val="0"/>
              </a:spcBef>
            </a:pPr>
            <a:r>
              <a:rPr lang="en"/>
              <a:t>Aggravated identity theft</a:t>
            </a:r>
          </a:p>
        </p:txBody>
      </p:sp>
      <p:pic>
        <p:nvPicPr>
          <p:cNvPr id="117" name="Shape 117" descr="Image result for wire fraud" title="View source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70200"/>
            <a:ext cx="4107900" cy="2747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Wire Fraud</a:t>
            </a:r>
          </a:p>
        </p:txBody>
      </p:sp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4348716" y="919124"/>
            <a:ext cx="4483584" cy="3801731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14325" rtl="0">
              <a:lnSpc>
                <a:spcPct val="150000"/>
              </a:lnSpc>
              <a:spcAft>
                <a:spcPts val="0"/>
              </a:spcAft>
              <a:buClr>
                <a:srgbClr val="111111"/>
              </a:buClr>
              <a:buSzPct val="96428"/>
              <a:buFont typeface="Verdana"/>
            </a:pPr>
            <a:r>
              <a:rPr lang="en" sz="1350" dirty="0">
                <a:solidFill>
                  <a:srgbClr val="11111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Wire fraud is an intentional act to defraud another individual or entity of his money or property.</a:t>
            </a:r>
          </a:p>
          <a:p>
            <a:pPr marL="457200" lvl="0" indent="-317500" rtl="0">
              <a:lnSpc>
                <a:spcPct val="150000"/>
              </a:lnSpc>
              <a:spcAft>
                <a:spcPts val="0"/>
              </a:spcAft>
              <a:buClr>
                <a:srgbClr val="111111"/>
              </a:buClr>
              <a:buSzPct val="100000"/>
              <a:buFont typeface="Verdana"/>
            </a:pPr>
            <a:r>
              <a:rPr lang="en" sz="1400" dirty="0">
                <a:solidFill>
                  <a:srgbClr val="222222"/>
                </a:solidFill>
                <a:highlight>
                  <a:srgbClr val="FFFFFF"/>
                </a:highlight>
              </a:rPr>
              <a:t>In other words it’s a financial fraud involving the use of telecommunications or information technology.</a:t>
            </a:r>
          </a:p>
          <a:p>
            <a:pPr marL="457200" lvl="0" indent="-314325" rtl="0">
              <a:lnSpc>
                <a:spcPct val="150000"/>
              </a:lnSpc>
              <a:spcAft>
                <a:spcPts val="0"/>
              </a:spcAft>
              <a:buClr>
                <a:srgbClr val="111111"/>
              </a:buClr>
              <a:buSzPct val="96428"/>
              <a:buFont typeface="Verdana"/>
            </a:pPr>
            <a:r>
              <a:rPr lang="en" sz="1350" dirty="0">
                <a:solidFill>
                  <a:srgbClr val="11111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Origin dates back to 1872 when it was added into the U.S legal system</a:t>
            </a:r>
          </a:p>
          <a:p>
            <a:pPr marL="457200" lvl="0" indent="-314325" rtl="0">
              <a:lnSpc>
                <a:spcPct val="150000"/>
              </a:lnSpc>
              <a:spcAft>
                <a:spcPts val="0"/>
              </a:spcAft>
              <a:buClr>
                <a:srgbClr val="111111"/>
              </a:buClr>
              <a:buSzPct val="96428"/>
              <a:buFont typeface="Verdana"/>
            </a:pPr>
            <a:r>
              <a:rPr lang="en" sz="1350" dirty="0">
                <a:solidFill>
                  <a:srgbClr val="11111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is a federal crime punishable by up to 30 years in prison. </a:t>
            </a:r>
          </a:p>
          <a:p>
            <a:pPr marL="457200" lvl="0" indent="-314325">
              <a:lnSpc>
                <a:spcPct val="150000"/>
              </a:lnSpc>
              <a:spcAft>
                <a:spcPts val="0"/>
              </a:spcAft>
              <a:buClr>
                <a:srgbClr val="111111"/>
              </a:buClr>
              <a:buSzPct val="96428"/>
              <a:buFont typeface="Verdana"/>
            </a:pPr>
            <a:r>
              <a:rPr lang="en" sz="1350" dirty="0">
                <a:solidFill>
                  <a:srgbClr val="11111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Committed using interstate wires, television or radio communications, or the Internet. </a:t>
            </a:r>
          </a:p>
          <a:p>
            <a:pPr lvl="0" rtl="0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Pct val="78571"/>
              <a:buFont typeface="Arial"/>
              <a:buNone/>
            </a:pPr>
            <a:endParaRPr lang="en" sz="1350" dirty="0">
              <a:solidFill>
                <a:srgbClr val="11111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lvl="0">
              <a:lnSpc>
                <a:spcPct val="150000"/>
              </a:lnSpc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D25B71-0C07-4870-AB02-F3C40AF95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432183"/>
            <a:ext cx="4139608" cy="246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420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Wire Fraud</a:t>
            </a:r>
          </a:p>
        </p:txBody>
      </p:sp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4423144" y="663936"/>
            <a:ext cx="4409156" cy="3801731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Pct val="78571"/>
              <a:buFont typeface="Arial"/>
              <a:buNone/>
            </a:pPr>
            <a:r>
              <a:rPr lang="en" sz="1350" dirty="0">
                <a:solidFill>
                  <a:srgbClr val="11111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To successfully charge an individual with wire fraud, the crime must meet four specific elements:</a:t>
            </a:r>
          </a:p>
          <a:p>
            <a:pPr marL="736600" lvl="0" indent="-314325" rtl="0">
              <a:lnSpc>
                <a:spcPct val="150000"/>
              </a:lnSpc>
              <a:spcAft>
                <a:spcPts val="0"/>
              </a:spcAft>
              <a:buClr>
                <a:srgbClr val="111111"/>
              </a:buClr>
              <a:buSzPct val="96428"/>
              <a:buFont typeface="Verdana"/>
              <a:buAutoNum type="arabicPeriod"/>
            </a:pPr>
            <a:r>
              <a:rPr lang="en" sz="1350" dirty="0">
                <a:solidFill>
                  <a:srgbClr val="11111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350" u="sng" dirty="0">
                <a:solidFill>
                  <a:srgbClr val="E84747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3"/>
              </a:rPr>
              <a:t>defendant</a:t>
            </a:r>
            <a:r>
              <a:rPr lang="en" sz="1350" dirty="0">
                <a:solidFill>
                  <a:srgbClr val="11111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voluntarily concocted, or participated in, a scheme to defraud a person or entity out of money, or something else of value</a:t>
            </a:r>
          </a:p>
          <a:p>
            <a:pPr marL="736600" lvl="0" indent="-314325" rtl="0">
              <a:lnSpc>
                <a:spcPct val="150000"/>
              </a:lnSpc>
              <a:spcAft>
                <a:spcPts val="0"/>
              </a:spcAft>
              <a:buClr>
                <a:srgbClr val="111111"/>
              </a:buClr>
              <a:buSzPct val="96428"/>
              <a:buFont typeface="Verdana"/>
              <a:buAutoNum type="arabicPeriod"/>
            </a:pPr>
            <a:r>
              <a:rPr lang="en" sz="1350" dirty="0">
                <a:solidFill>
                  <a:srgbClr val="11111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The defendant perpetrated the scheme with the intent to defraud the victim</a:t>
            </a:r>
          </a:p>
          <a:p>
            <a:pPr marL="736600" lvl="0" indent="-314325" rtl="0">
              <a:lnSpc>
                <a:spcPct val="150000"/>
              </a:lnSpc>
              <a:spcAft>
                <a:spcPts val="0"/>
              </a:spcAft>
              <a:buClr>
                <a:srgbClr val="111111"/>
              </a:buClr>
              <a:buSzPct val="96428"/>
              <a:buFont typeface="Verdana"/>
              <a:buAutoNum type="arabicPeriod"/>
            </a:pPr>
            <a:r>
              <a:rPr lang="en" sz="1350" dirty="0">
                <a:solidFill>
                  <a:srgbClr val="11111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The defendant used interstate wire communications to perpetrate the fraud</a:t>
            </a:r>
          </a:p>
          <a:p>
            <a:pPr marL="736600" lvl="0" indent="-314325" rtl="0">
              <a:lnSpc>
                <a:spcPct val="150000"/>
              </a:lnSpc>
              <a:spcAft>
                <a:spcPts val="0"/>
              </a:spcAft>
              <a:buClr>
                <a:srgbClr val="111111"/>
              </a:buClr>
              <a:buSzPct val="96428"/>
              <a:buFont typeface="Verdana"/>
              <a:buAutoNum type="arabicPeriod"/>
            </a:pPr>
            <a:r>
              <a:rPr lang="en" sz="1350" dirty="0">
                <a:solidFill>
                  <a:srgbClr val="11111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The defendant should have known that interstate wire communications would be used to complete the fraud</a:t>
            </a:r>
          </a:p>
          <a:p>
            <a:pPr lvl="0">
              <a:lnSpc>
                <a:spcPct val="150000"/>
              </a:lnSpc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93E714-E3C3-4D21-9E76-0774B47A8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573620"/>
            <a:ext cx="3944727" cy="22221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Security Fraud</a:t>
            </a:r>
          </a:p>
        </p:txBody>
      </p:sp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111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</a:pPr>
            <a:r>
              <a:rPr lang="en" sz="1300" dirty="0">
                <a:solidFill>
                  <a:srgbClr val="11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securities fraud is a type of serious </a:t>
            </a:r>
            <a:r>
              <a:rPr lang="en" sz="1300" u="sng" dirty="0">
                <a:solidFill>
                  <a:srgbClr val="005B9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white-collar crime</a:t>
            </a:r>
            <a:r>
              <a:rPr lang="en" sz="1300" dirty="0">
                <a:solidFill>
                  <a:srgbClr val="11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 which a person or company, such as a stockbroker, brokerage firm, corporation, or investment bank misrepresents information that investors use to make decisions.</a:t>
            </a:r>
          </a:p>
          <a:p>
            <a:pPr marL="457200" lvl="0" indent="-3111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Font typeface="Arial"/>
            </a:pPr>
            <a:r>
              <a:rPr lang="en" sz="1300" dirty="0">
                <a:solidFill>
                  <a:srgbClr val="11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Securities Fraud can also be committed by independent individuals (such as by engaging in insider trading).</a:t>
            </a:r>
          </a:p>
          <a:p>
            <a:pPr marL="457200" lvl="0" indent="-3111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Font typeface="Arial"/>
            </a:pPr>
            <a:r>
              <a:rPr lang="en" sz="1300" dirty="0">
                <a:solidFill>
                  <a:srgbClr val="11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types of </a:t>
            </a:r>
            <a:r>
              <a:rPr lang="en" sz="1300" u="sng" dirty="0">
                <a:solidFill>
                  <a:srgbClr val="005B9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4"/>
              </a:rPr>
              <a:t>misrepresentation</a:t>
            </a:r>
            <a:r>
              <a:rPr lang="en" sz="1300" dirty="0">
                <a:solidFill>
                  <a:srgbClr val="11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involved in this crime include providing false information, withholding key information, offering bad advice, and offering or acting on inside information.</a:t>
            </a:r>
          </a:p>
        </p:txBody>
      </p:sp>
      <p:pic>
        <p:nvPicPr>
          <p:cNvPr id="130" name="Shape 1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5979" y="3420005"/>
            <a:ext cx="5952042" cy="143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Computer Fraud</a:t>
            </a:r>
          </a:p>
        </p:txBody>
      </p:sp>
      <p:sp>
        <p:nvSpPr>
          <p:cNvPr id="136" name="Shape 136"/>
          <p:cNvSpPr txBox="1">
            <a:spLocks noGrp="1"/>
          </p:cNvSpPr>
          <p:nvPr>
            <p:ph type="body" idx="1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0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Verdana"/>
            </a:pPr>
            <a:r>
              <a:rPr lang="en" sz="1200" u="sng" dirty="0">
                <a:solidFill>
                  <a:srgbClr val="005C7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3"/>
              </a:rPr>
              <a:t>Fraud</a:t>
            </a:r>
            <a:r>
              <a:rPr lang="en" sz="1200" dirty="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through the </a:t>
            </a:r>
            <a:r>
              <a:rPr lang="en" sz="1200" u="sng" dirty="0">
                <a:solidFill>
                  <a:srgbClr val="005C7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4"/>
              </a:rPr>
              <a:t>criminal</a:t>
            </a:r>
            <a:r>
              <a:rPr lang="en" sz="1200" dirty="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use of a computer or the Internet can take many different forms. </a:t>
            </a:r>
          </a:p>
          <a:p>
            <a:pPr marL="457200" lvl="0" indent="-30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Verdana"/>
            </a:pPr>
            <a:r>
              <a:rPr lang="en" sz="1200" dirty="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“Hacking” is a common form, in which a perpetrator uses technological tools to remotely access a protected computer or system.</a:t>
            </a:r>
          </a:p>
          <a:p>
            <a:pPr marL="457200" lvl="0" indent="-30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Verdana"/>
            </a:pPr>
            <a:r>
              <a:rPr lang="en" sz="1200" dirty="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Another common form involves the interception of an electronic transmission unintended for the interceptor, such as passwords, credit card information, or other types of identity </a:t>
            </a:r>
            <a:r>
              <a:rPr lang="en" sz="1200" u="sng" dirty="0">
                <a:solidFill>
                  <a:srgbClr val="005C7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5"/>
              </a:rPr>
              <a:t>theft</a:t>
            </a:r>
            <a:r>
              <a:rPr lang="en" sz="1200" dirty="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.</a:t>
            </a:r>
          </a:p>
          <a:p>
            <a:pPr marL="457200" lvl="0" indent="-30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Verdana"/>
            </a:pPr>
            <a:r>
              <a:rPr lang="en" sz="1200" dirty="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CFAA- Computer Fraud and Abuse Act (</a:t>
            </a:r>
            <a:r>
              <a:rPr lang="en" sz="1200" u="sng" dirty="0">
                <a:solidFill>
                  <a:srgbClr val="005C7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4"/>
              </a:rPr>
              <a:t>criminal</a:t>
            </a:r>
            <a:r>
              <a:rPr lang="en" sz="1200" dirty="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 u="sng" dirty="0">
                <a:solidFill>
                  <a:srgbClr val="005C7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6"/>
              </a:rPr>
              <a:t>statute</a:t>
            </a:r>
            <a:r>
              <a:rPr lang="en" sz="1200" dirty="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)</a:t>
            </a:r>
          </a:p>
          <a:p>
            <a:pPr marL="457200" lvl="0" indent="-30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Verdana"/>
            </a:pPr>
            <a:r>
              <a:rPr lang="en" sz="1200" dirty="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Specifically, the CFAA prohibits computer </a:t>
            </a:r>
            <a:r>
              <a:rPr lang="en" sz="1200" u="sng" dirty="0">
                <a:solidFill>
                  <a:srgbClr val="005C7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7"/>
              </a:rPr>
              <a:t>espionage</a:t>
            </a:r>
            <a:r>
              <a:rPr lang="en" sz="1200" dirty="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 computer </a:t>
            </a:r>
            <a:r>
              <a:rPr lang="en" sz="1200" u="sng" dirty="0">
                <a:solidFill>
                  <a:srgbClr val="005C7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8"/>
              </a:rPr>
              <a:t>trespassing</a:t>
            </a:r>
            <a:r>
              <a:rPr lang="en" sz="1200" dirty="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in private or public computers, committing </a:t>
            </a:r>
            <a:r>
              <a:rPr lang="en" sz="1200" u="sng" dirty="0">
                <a:solidFill>
                  <a:srgbClr val="005C7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  <a:hlinkClick r:id="rId9"/>
              </a:rPr>
              <a:t>fraud</a:t>
            </a:r>
            <a:r>
              <a:rPr lang="en" sz="1200" dirty="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with a computer, the distribution of malicious code, password trafficking, threatening to damage a protected computer.</a:t>
            </a:r>
          </a:p>
        </p:txBody>
      </p:sp>
      <p:pic>
        <p:nvPicPr>
          <p:cNvPr id="137" name="Shape 13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2468" y="3738192"/>
            <a:ext cx="2015040" cy="109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Shape 13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039935" y="3378627"/>
            <a:ext cx="2643175" cy="145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Arrest</a:t>
            </a:r>
          </a:p>
        </p:txBody>
      </p:sp>
      <p:sp>
        <p:nvSpPr>
          <p:cNvPr id="144" name="Shape 14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228600" rtl="0">
              <a:lnSpc>
                <a:spcPct val="100000"/>
              </a:lnSpc>
              <a:spcBef>
                <a:spcPts val="0"/>
              </a:spcBef>
            </a:pPr>
            <a:r>
              <a:rPr lang="en" dirty="0"/>
              <a:t>Some members monitored for years</a:t>
            </a:r>
          </a:p>
          <a:p>
            <a:pPr marL="457200" lvl="0" indent="-228600" rtl="0">
              <a:lnSpc>
                <a:spcPct val="100000"/>
              </a:lnSpc>
              <a:spcBef>
                <a:spcPts val="0"/>
              </a:spcBef>
            </a:pPr>
            <a:r>
              <a:rPr lang="en" dirty="0"/>
              <a:t>2012: A member sent a chat message in Russian stating: “I’m hacking prnewswire.com.”</a:t>
            </a:r>
          </a:p>
          <a:p>
            <a:pPr marL="457200" lvl="0" indent="-228600" rtl="0">
              <a:lnSpc>
                <a:spcPct val="100000"/>
              </a:lnSpc>
              <a:spcBef>
                <a:spcPts val="0"/>
              </a:spcBef>
            </a:pPr>
            <a:r>
              <a:rPr lang="en" dirty="0"/>
              <a:t>Ieremenko told Turchynov online that he had login information for 15 Business Wire employees</a:t>
            </a:r>
          </a:p>
          <a:p>
            <a:pPr marL="457200" lvl="0" indent="-228600" rtl="0">
              <a:lnSpc>
                <a:spcPct val="100000"/>
              </a:lnSpc>
              <a:spcBef>
                <a:spcPts val="0"/>
              </a:spcBef>
            </a:pPr>
            <a:r>
              <a:rPr lang="en" dirty="0"/>
              <a:t>96 news releases sent with subject: “fresh stuff” in Russian</a:t>
            </a:r>
          </a:p>
          <a:p>
            <a:pPr marL="457200" lvl="0" indent="-228600" rtl="0">
              <a:lnSpc>
                <a:spcPct val="100000"/>
              </a:lnSpc>
              <a:spcBef>
                <a:spcPts val="0"/>
              </a:spcBef>
            </a:pPr>
            <a:r>
              <a:rPr lang="en" dirty="0"/>
              <a:t>Five arrested at their homes</a:t>
            </a:r>
          </a:p>
          <a:p>
            <a:pPr marL="457200" lvl="0" indent="-228600">
              <a:lnSpc>
                <a:spcPct val="100000"/>
              </a:lnSpc>
              <a:spcBef>
                <a:spcPts val="0"/>
              </a:spcBef>
            </a:pPr>
            <a:r>
              <a:rPr lang="en" dirty="0"/>
              <a:t>Other four remain in Ukraine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Recovery</a:t>
            </a:r>
          </a:p>
        </p:txBody>
      </p:sp>
      <p:sp>
        <p:nvSpPr>
          <p:cNvPr id="150" name="Shape 150"/>
          <p:cNvSpPr txBox="1">
            <a:spLocks noGrp="1"/>
          </p:cNvSpPr>
          <p:nvPr>
            <p:ph type="body" idx="1"/>
          </p:nvPr>
        </p:nvSpPr>
        <p:spPr>
          <a:xfrm>
            <a:off x="211751" y="1017800"/>
            <a:ext cx="4261200" cy="3586098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" dirty="0"/>
              <a:t>Seventeen bank and brokerage account seized - $6.5 million</a:t>
            </a:r>
          </a:p>
          <a:p>
            <a:pPr marL="457200" lvl="0" indent="-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" dirty="0"/>
              <a:t>Twelve properties restrained - $5.5 million</a:t>
            </a:r>
          </a:p>
          <a:p>
            <a:pPr marL="914400" lvl="1" indent="-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" dirty="0"/>
              <a:t>Shopping center in Pennsylvania</a:t>
            </a:r>
          </a:p>
          <a:p>
            <a:pPr marL="914400" lvl="1" indent="-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" dirty="0"/>
              <a:t>Apartment building in Georgia</a:t>
            </a:r>
          </a:p>
          <a:p>
            <a:pPr marL="914400" lvl="1" indent="-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" dirty="0"/>
              <a:t>A houseboat</a:t>
            </a:r>
          </a:p>
          <a:p>
            <a:pPr marL="457200" lvl="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" dirty="0"/>
              <a:t>International arrest warrants issued for remaining four of nine charged</a:t>
            </a:r>
          </a:p>
        </p:txBody>
      </p:sp>
      <p:pic>
        <p:nvPicPr>
          <p:cNvPr id="151" name="Shape 151" descr="Image result for houseboat" title="View source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06539"/>
            <a:ext cx="4266275" cy="3208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Questions to think about...</a:t>
            </a:r>
          </a:p>
        </p:txBody>
      </p:sp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5991300" cy="3339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*If you received insider information, where do you draw the ethical boundary between taking/not-taking action?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*Who has trial rights for the remaining four members, Ukraine or U.S? 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*What are some things this group of hackers could have done to avoid being caught?</a:t>
            </a:r>
          </a:p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158" name="Shape 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5400" y="521000"/>
            <a:ext cx="2536199" cy="2957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Sources</a:t>
            </a:r>
          </a:p>
        </p:txBody>
      </p:sp>
      <p:sp>
        <p:nvSpPr>
          <p:cNvPr id="164" name="Shape 16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  <a:spcAft>
                <a:spcPts val="0"/>
              </a:spcAft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https://www.fbi.gov/contact-us/field-offices/newyork/news/press-releases/nine-people-charged-in-largest-known-computer-hacking-and-securities-fraud-scheme</a:t>
            </a:r>
          </a:p>
          <a:p>
            <a:pPr marL="457200" lvl="0" indent="-228600" rtl="0">
              <a:spcBef>
                <a:spcPts val="0"/>
              </a:spcBef>
              <a:spcAft>
                <a:spcPts val="0"/>
              </a:spcAft>
            </a:pPr>
            <a:r>
              <a:rPr lang="en" u="sng" dirty="0">
                <a:solidFill>
                  <a:schemeClr val="hlink"/>
                </a:solidFill>
                <a:hlinkClick r:id="rId4"/>
              </a:rPr>
              <a:t>https://www.nytimes.com/2015/08/12/business/dealbook/insider-trading-sec-hacking-case.html</a:t>
            </a:r>
          </a:p>
          <a:p>
            <a:pPr marL="457200" lvl="0" indent="-228600" rtl="0">
              <a:spcBef>
                <a:spcPts val="0"/>
              </a:spcBef>
              <a:spcAft>
                <a:spcPts val="0"/>
              </a:spcAft>
            </a:pPr>
            <a:r>
              <a:rPr lang="en" u="sng" dirty="0">
                <a:solidFill>
                  <a:schemeClr val="hlink"/>
                </a:solidFill>
                <a:hlinkClick r:id="rId5"/>
              </a:rPr>
              <a:t>https://legaldictionary.net/wire-fraud/</a:t>
            </a:r>
          </a:p>
          <a:p>
            <a:pPr marL="457200" lvl="0" indent="-228600" rtl="0">
              <a:spcBef>
                <a:spcPts val="0"/>
              </a:spcBef>
              <a:spcAft>
                <a:spcPts val="0"/>
              </a:spcAft>
            </a:pPr>
            <a:r>
              <a:rPr lang="en" u="sng" dirty="0">
                <a:solidFill>
                  <a:schemeClr val="hlink"/>
                </a:solidFill>
                <a:hlinkClick r:id="rId6"/>
              </a:rPr>
              <a:t>http://www.investopedia.com/terms/s/securities-fraud.asp</a:t>
            </a:r>
          </a:p>
          <a:p>
            <a:pPr marL="457200" lvl="0" indent="-228600" rtl="0">
              <a:spcBef>
                <a:spcPts val="0"/>
              </a:spcBef>
              <a:spcAft>
                <a:spcPts val="0"/>
              </a:spcAft>
            </a:pPr>
            <a:r>
              <a:rPr lang="en" u="sng" dirty="0">
                <a:solidFill>
                  <a:schemeClr val="hlink"/>
                </a:solidFill>
                <a:hlinkClick r:id="rId7"/>
              </a:rPr>
              <a:t>https://www.law.cornell.edu/wex/computer_and_internet_fraud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845</Words>
  <Application>Microsoft Office PowerPoint</Application>
  <PresentationFormat>On-screen Show (16:9)</PresentationFormat>
  <Paragraphs>81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Roboto</vt:lpstr>
      <vt:lpstr>Arial</vt:lpstr>
      <vt:lpstr>Verdana</vt:lpstr>
      <vt:lpstr>Geometric</vt:lpstr>
      <vt:lpstr>“Nine People Charged in Largest Known Computer Hacking and Securities Fraud Scheme”</vt:lpstr>
      <vt:lpstr>The Scheme</vt:lpstr>
      <vt:lpstr>The Scheme</vt:lpstr>
      <vt:lpstr>Members</vt:lpstr>
      <vt:lpstr>Crimes</vt:lpstr>
      <vt:lpstr>Wire Fraud</vt:lpstr>
      <vt:lpstr>Wire Fraud</vt:lpstr>
      <vt:lpstr>Security Fraud</vt:lpstr>
      <vt:lpstr>Computer Fraud</vt:lpstr>
      <vt:lpstr>Arrest</vt:lpstr>
      <vt:lpstr>Recovery</vt:lpstr>
      <vt:lpstr>Questions to think about...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“Nine People Charged in Largest Known Computer Hacking and Securities Fraud Scheme”</dc:title>
  <cp:lastModifiedBy>Jimmy Tran</cp:lastModifiedBy>
  <cp:revision>2</cp:revision>
  <dcterms:modified xsi:type="dcterms:W3CDTF">2017-09-10T16:43:16Z</dcterms:modified>
</cp:coreProperties>
</file>
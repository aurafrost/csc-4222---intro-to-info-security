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91" r:id="rId5"/>
    <p:sldId id="259" r:id="rId6"/>
    <p:sldId id="295" r:id="rId7"/>
    <p:sldId id="260" r:id="rId8"/>
    <p:sldId id="296" r:id="rId9"/>
    <p:sldId id="294"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338" r:id="rId52"/>
    <p:sldId id="339" r:id="rId53"/>
    <p:sldId id="340"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A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5" d="100"/>
          <a:sy n="55" d="100"/>
        </p:scale>
        <p:origin x="43" y="1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65C773-1577-4911-B448-EB736CAF580A}" type="datetimeFigureOut">
              <a:rPr lang="en-US" smtClean="0"/>
              <a:pPr/>
              <a:t>8/22/2017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D9E912-2CD2-4662-91BA-815634724EE3}" type="slidenum">
              <a:rPr lang="en-US" smtClean="0"/>
              <a:pPr/>
              <a:t>‹#›</a:t>
            </a:fld>
            <a:endParaRPr lang="en-US"/>
          </a:p>
        </p:txBody>
      </p:sp>
    </p:spTree>
    <p:extLst>
      <p:ext uri="{BB962C8B-B14F-4D97-AF65-F5344CB8AC3E}">
        <p14:creationId xmlns:p14="http://schemas.microsoft.com/office/powerpoint/2010/main" val="3697327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0" y="695325"/>
            <a:ext cx="1588" cy="1588"/>
          </a:xfrm>
          <a:prstGeom prst="rect">
            <a:avLst/>
          </a:prstGeom>
          <a:solidFill>
            <a:srgbClr val="FFFFFF"/>
          </a:solidFill>
          <a:ln w="9360">
            <a:solidFill>
              <a:srgbClr val="000000"/>
            </a:solidFill>
            <a:miter lim="800000"/>
            <a:headEnd/>
            <a:tailEnd/>
          </a:ln>
        </p:spPr>
        <p:txBody>
          <a:bodyPr wrap="none" anchor="ctr"/>
          <a:lstStyle/>
          <a:p>
            <a:endParaRPr lang="en-US"/>
          </a:p>
        </p:txBody>
      </p:sp>
      <p:sp>
        <p:nvSpPr>
          <p:cNvPr id="18435" name="Rectangle 3"/>
          <p:cNvSpPr>
            <a:spLocks noGrp="1" noChangeArrowheads="1"/>
          </p:cNvSpPr>
          <p:nvPr>
            <p:ph type="body"/>
          </p:nvPr>
        </p:nvSpPr>
        <p:spPr>
          <a:xfrm>
            <a:off x="914400" y="4343400"/>
            <a:ext cx="5013325" cy="4114800"/>
          </a:xfrm>
          <a:noFill/>
          <a:ln/>
        </p:spPr>
        <p:txBody>
          <a:bodyPr wrap="none" anchor="ctr"/>
          <a:lstStyle/>
          <a:p>
            <a:endParaRPr lang="en-US" smtClean="0"/>
          </a:p>
        </p:txBody>
      </p:sp>
    </p:spTree>
    <p:extLst>
      <p:ext uri="{BB962C8B-B14F-4D97-AF65-F5344CB8AC3E}">
        <p14:creationId xmlns:p14="http://schemas.microsoft.com/office/powerpoint/2010/main" val="3151169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smtClean="0"/>
              <a:t>Digital Cash</a:t>
            </a:r>
            <a:endParaRPr lang="en-US"/>
          </a:p>
        </p:txBody>
      </p:sp>
      <p:sp>
        <p:nvSpPr>
          <p:cNvPr id="5" name="Date Placeholder 4"/>
          <p:cNvSpPr>
            <a:spLocks noGrp="1"/>
          </p:cNvSpPr>
          <p:nvPr>
            <p:ph type="dt" idx="11"/>
          </p:nvPr>
        </p:nvSpPr>
        <p:spPr/>
        <p:txBody>
          <a:bodyPr/>
          <a:lstStyle/>
          <a:p>
            <a:pPr>
              <a:defRPr/>
            </a:pPr>
            <a:fld id="{929FC299-EF7B-44E4-BA11-2C892EF190EF}" type="datetime1">
              <a:rPr lang="en-US" smtClean="0"/>
              <a:pPr>
                <a:defRPr/>
              </a:pPr>
              <a:t>8/22/2017</a:t>
            </a:fld>
            <a:endParaRPr lang="en-US"/>
          </a:p>
        </p:txBody>
      </p:sp>
      <p:sp>
        <p:nvSpPr>
          <p:cNvPr id="6" name="Slide Number Placeholder 5"/>
          <p:cNvSpPr>
            <a:spLocks noGrp="1"/>
          </p:cNvSpPr>
          <p:nvPr>
            <p:ph type="sldNum" sz="quarter" idx="12"/>
          </p:nvPr>
        </p:nvSpPr>
        <p:spPr/>
        <p:txBody>
          <a:bodyPr/>
          <a:lstStyle/>
          <a:p>
            <a:pPr>
              <a:defRPr/>
            </a:pPr>
            <a:fld id="{4FBBF12B-1138-4D61-B1DB-14F0DB84800D}" type="slidenum">
              <a:rPr lang="en-US" smtClean="0"/>
              <a:pPr>
                <a:defRPr/>
              </a:pPr>
              <a:t>39</a:t>
            </a:fld>
            <a:endParaRPr lang="en-US"/>
          </a:p>
        </p:txBody>
      </p:sp>
    </p:spTree>
    <p:extLst>
      <p:ext uri="{BB962C8B-B14F-4D97-AF65-F5344CB8AC3E}">
        <p14:creationId xmlns:p14="http://schemas.microsoft.com/office/powerpoint/2010/main" val="1364248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94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FAF8F67-638A-4184-A4C9-DEDAD0E668E5}" type="slidenum">
              <a:rPr lang="en-US" smtClean="0"/>
              <a:pPr/>
              <a:t>48</a:t>
            </a:fld>
            <a:endParaRPr lang="en-US" smtClean="0"/>
          </a:p>
        </p:txBody>
      </p:sp>
      <p:sp>
        <p:nvSpPr>
          <p:cNvPr id="19461"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fld id="{D9CEAF4E-F546-4734-B921-594FC373FCF1}" type="datetime1">
              <a:rPr lang="en-US" smtClean="0"/>
              <a:pPr/>
              <a:t>8/22/2017</a:t>
            </a:fld>
            <a:endParaRPr lang="en-US" smtClean="0"/>
          </a:p>
        </p:txBody>
      </p:sp>
      <p:sp>
        <p:nvSpPr>
          <p:cNvPr id="19462" name="Header Placeholder 5"/>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smtClean="0"/>
              <a:t>Digital Cash</a:t>
            </a:r>
          </a:p>
        </p:txBody>
      </p:sp>
    </p:spTree>
    <p:extLst>
      <p:ext uri="{BB962C8B-B14F-4D97-AF65-F5344CB8AC3E}">
        <p14:creationId xmlns:p14="http://schemas.microsoft.com/office/powerpoint/2010/main" val="174683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482DEC-9E85-4EB0-BCA2-B34383921930}" type="datetime1">
              <a:rPr lang="en-US" smtClean="0"/>
              <a:pPr/>
              <a:t>8/22/2017</a:t>
            </a:fld>
            <a:endParaRPr lang="en-US"/>
          </a:p>
        </p:txBody>
      </p:sp>
      <p:sp>
        <p:nvSpPr>
          <p:cNvPr id="5" name="Footer Placeholder 4"/>
          <p:cNvSpPr>
            <a:spLocks noGrp="1"/>
          </p:cNvSpPr>
          <p:nvPr>
            <p:ph type="ftr" sz="quarter" idx="11"/>
          </p:nvPr>
        </p:nvSpPr>
        <p:spPr/>
        <p:txBody>
          <a:bodyPr/>
          <a:lstStyle/>
          <a:p>
            <a:r>
              <a:rPr lang="en-US" smtClean="0"/>
              <a:t>Storage Confidentiality</a:t>
            </a:r>
            <a:endParaRPr lang="en-US"/>
          </a:p>
        </p:txBody>
      </p:sp>
      <p:sp>
        <p:nvSpPr>
          <p:cNvPr id="6" name="Slide Number Placeholder 5"/>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A9AE07-E9AE-4524-AFC8-A9A8F58A201A}" type="datetime1">
              <a:rPr lang="en-US" smtClean="0"/>
              <a:pPr/>
              <a:t>8/22/2017</a:t>
            </a:fld>
            <a:endParaRPr lang="en-US"/>
          </a:p>
        </p:txBody>
      </p:sp>
      <p:sp>
        <p:nvSpPr>
          <p:cNvPr id="5" name="Footer Placeholder 4"/>
          <p:cNvSpPr>
            <a:spLocks noGrp="1"/>
          </p:cNvSpPr>
          <p:nvPr>
            <p:ph type="ftr" sz="quarter" idx="11"/>
          </p:nvPr>
        </p:nvSpPr>
        <p:spPr/>
        <p:txBody>
          <a:bodyPr/>
          <a:lstStyle/>
          <a:p>
            <a:r>
              <a:rPr lang="en-US" smtClean="0"/>
              <a:t>Storage Confidentiality</a:t>
            </a:r>
            <a:endParaRPr lang="en-US"/>
          </a:p>
        </p:txBody>
      </p:sp>
      <p:sp>
        <p:nvSpPr>
          <p:cNvPr id="6" name="Slide Number Placeholder 5"/>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672B91-A570-488B-8A93-FAEC252E3D8B}" type="datetime1">
              <a:rPr lang="en-US" smtClean="0"/>
              <a:pPr/>
              <a:t>8/22/2017</a:t>
            </a:fld>
            <a:endParaRPr lang="en-US"/>
          </a:p>
        </p:txBody>
      </p:sp>
      <p:sp>
        <p:nvSpPr>
          <p:cNvPr id="5" name="Footer Placeholder 4"/>
          <p:cNvSpPr>
            <a:spLocks noGrp="1"/>
          </p:cNvSpPr>
          <p:nvPr>
            <p:ph type="ftr" sz="quarter" idx="11"/>
          </p:nvPr>
        </p:nvSpPr>
        <p:spPr/>
        <p:txBody>
          <a:bodyPr/>
          <a:lstStyle/>
          <a:p>
            <a:r>
              <a:rPr lang="en-US" smtClean="0"/>
              <a:t>Storage Confidentiality</a:t>
            </a:r>
            <a:endParaRPr lang="en-US"/>
          </a:p>
        </p:txBody>
      </p:sp>
      <p:sp>
        <p:nvSpPr>
          <p:cNvPr id="6" name="Slide Number Placeholder 5"/>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9360F9-DBF0-4710-BA6E-EBFFBC93E608}" type="datetime1">
              <a:rPr lang="en-US" smtClean="0"/>
              <a:pPr/>
              <a:t>8/22/2017</a:t>
            </a:fld>
            <a:endParaRPr lang="en-US"/>
          </a:p>
        </p:txBody>
      </p:sp>
      <p:sp>
        <p:nvSpPr>
          <p:cNvPr id="6" name="Footer Placeholder 5"/>
          <p:cNvSpPr>
            <a:spLocks noGrp="1"/>
          </p:cNvSpPr>
          <p:nvPr>
            <p:ph type="ftr" sz="quarter" idx="11"/>
          </p:nvPr>
        </p:nvSpPr>
        <p:spPr/>
        <p:txBody>
          <a:bodyPr/>
          <a:lstStyle/>
          <a:p>
            <a:r>
              <a:rPr lang="en-US" smtClean="0"/>
              <a:t>Storage Confidentiality</a:t>
            </a:r>
            <a:endParaRPr lang="en-US"/>
          </a:p>
        </p:txBody>
      </p:sp>
      <p:sp>
        <p:nvSpPr>
          <p:cNvPr id="7" name="Slide Number Placeholder 6"/>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CBCBAC4-6914-4329-9CC7-AB3915F6A492}" type="datetime1">
              <a:rPr lang="en-US" smtClean="0"/>
              <a:pPr/>
              <a:t>8/22/2017</a:t>
            </a:fld>
            <a:endParaRPr lang="en-US"/>
          </a:p>
        </p:txBody>
      </p:sp>
      <p:sp>
        <p:nvSpPr>
          <p:cNvPr id="8" name="Footer Placeholder 7"/>
          <p:cNvSpPr>
            <a:spLocks noGrp="1"/>
          </p:cNvSpPr>
          <p:nvPr>
            <p:ph type="ftr" sz="quarter" idx="11"/>
          </p:nvPr>
        </p:nvSpPr>
        <p:spPr/>
        <p:txBody>
          <a:bodyPr/>
          <a:lstStyle/>
          <a:p>
            <a:r>
              <a:rPr lang="en-US" smtClean="0"/>
              <a:t>Storage Confidentiality</a:t>
            </a:r>
            <a:endParaRPr lang="en-US"/>
          </a:p>
        </p:txBody>
      </p:sp>
      <p:sp>
        <p:nvSpPr>
          <p:cNvPr id="9" name="Slide Number Placeholder 8"/>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270D6B-B47D-48AA-933B-D6F0DC4CF5D1}" type="datetime1">
              <a:rPr lang="en-US" smtClean="0"/>
              <a:pPr/>
              <a:t>8/22/2017</a:t>
            </a:fld>
            <a:endParaRPr lang="en-US"/>
          </a:p>
        </p:txBody>
      </p:sp>
      <p:sp>
        <p:nvSpPr>
          <p:cNvPr id="4" name="Footer Placeholder 3"/>
          <p:cNvSpPr>
            <a:spLocks noGrp="1"/>
          </p:cNvSpPr>
          <p:nvPr>
            <p:ph type="ftr" sz="quarter" idx="11"/>
          </p:nvPr>
        </p:nvSpPr>
        <p:spPr/>
        <p:txBody>
          <a:bodyPr/>
          <a:lstStyle/>
          <a:p>
            <a:r>
              <a:rPr lang="en-US" smtClean="0"/>
              <a:t>Storage Confidentiality</a:t>
            </a:r>
            <a:endParaRPr lang="en-US"/>
          </a:p>
        </p:txBody>
      </p:sp>
      <p:sp>
        <p:nvSpPr>
          <p:cNvPr id="5" name="Slide Number Placeholder 4"/>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C21FC-CC94-4BFC-A68A-EB3607AF93A3}" type="datetime1">
              <a:rPr lang="en-US" smtClean="0"/>
              <a:pPr/>
              <a:t>8/22/2017</a:t>
            </a:fld>
            <a:endParaRPr lang="en-US"/>
          </a:p>
        </p:txBody>
      </p:sp>
      <p:sp>
        <p:nvSpPr>
          <p:cNvPr id="3" name="Footer Placeholder 2"/>
          <p:cNvSpPr>
            <a:spLocks noGrp="1"/>
          </p:cNvSpPr>
          <p:nvPr>
            <p:ph type="ftr" sz="quarter" idx="11"/>
          </p:nvPr>
        </p:nvSpPr>
        <p:spPr/>
        <p:txBody>
          <a:bodyPr/>
          <a:lstStyle/>
          <a:p>
            <a:r>
              <a:rPr lang="en-US" smtClean="0"/>
              <a:t>Storage Confidentiality</a:t>
            </a:r>
            <a:endParaRPr lang="en-US"/>
          </a:p>
        </p:txBody>
      </p:sp>
      <p:sp>
        <p:nvSpPr>
          <p:cNvPr id="4" name="Slide Number Placeholder 3"/>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3F8160-627B-4FA1-8200-7A5881BBC705}" type="datetime1">
              <a:rPr lang="en-US" smtClean="0"/>
              <a:pPr/>
              <a:t>8/22/2017</a:t>
            </a:fld>
            <a:endParaRPr lang="en-US"/>
          </a:p>
        </p:txBody>
      </p:sp>
      <p:sp>
        <p:nvSpPr>
          <p:cNvPr id="6" name="Footer Placeholder 5"/>
          <p:cNvSpPr>
            <a:spLocks noGrp="1"/>
          </p:cNvSpPr>
          <p:nvPr>
            <p:ph type="ftr" sz="quarter" idx="11"/>
          </p:nvPr>
        </p:nvSpPr>
        <p:spPr/>
        <p:txBody>
          <a:bodyPr/>
          <a:lstStyle/>
          <a:p>
            <a:r>
              <a:rPr lang="en-US" smtClean="0"/>
              <a:t>Storage Confidentiality</a:t>
            </a:r>
            <a:endParaRPr lang="en-US"/>
          </a:p>
        </p:txBody>
      </p:sp>
      <p:sp>
        <p:nvSpPr>
          <p:cNvPr id="7" name="Slide Number Placeholder 6"/>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01F166-0D72-4139-9D89-6BD6B4663809}" type="datetime1">
              <a:rPr lang="en-US" smtClean="0"/>
              <a:pPr/>
              <a:t>8/22/2017</a:t>
            </a:fld>
            <a:endParaRPr lang="en-US"/>
          </a:p>
        </p:txBody>
      </p:sp>
      <p:sp>
        <p:nvSpPr>
          <p:cNvPr id="6" name="Footer Placeholder 5"/>
          <p:cNvSpPr>
            <a:spLocks noGrp="1"/>
          </p:cNvSpPr>
          <p:nvPr>
            <p:ph type="ftr" sz="quarter" idx="11"/>
          </p:nvPr>
        </p:nvSpPr>
        <p:spPr/>
        <p:txBody>
          <a:bodyPr/>
          <a:lstStyle/>
          <a:p>
            <a:r>
              <a:rPr lang="en-US" smtClean="0"/>
              <a:t>Storage Confidentiality</a:t>
            </a:r>
            <a:endParaRPr lang="en-US"/>
          </a:p>
        </p:txBody>
      </p:sp>
      <p:sp>
        <p:nvSpPr>
          <p:cNvPr id="7" name="Slide Number Placeholder 6"/>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403232-A2B8-4552-B777-1605D9DCA9FA}" type="datetime1">
              <a:rPr lang="en-US" smtClean="0"/>
              <a:pPr/>
              <a:t>8/22/2017</a:t>
            </a:fld>
            <a:endParaRPr lang="en-US"/>
          </a:p>
        </p:txBody>
      </p:sp>
      <p:sp>
        <p:nvSpPr>
          <p:cNvPr id="5" name="Footer Placeholder 4"/>
          <p:cNvSpPr>
            <a:spLocks noGrp="1"/>
          </p:cNvSpPr>
          <p:nvPr>
            <p:ph type="ftr" sz="quarter" idx="11"/>
          </p:nvPr>
        </p:nvSpPr>
        <p:spPr/>
        <p:txBody>
          <a:bodyPr/>
          <a:lstStyle/>
          <a:p>
            <a:r>
              <a:rPr lang="en-US" smtClean="0"/>
              <a:t>Storage Confidentiality</a:t>
            </a:r>
            <a:endParaRPr lang="en-US"/>
          </a:p>
        </p:txBody>
      </p:sp>
      <p:sp>
        <p:nvSpPr>
          <p:cNvPr id="6" name="Slide Number Placeholder 5"/>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F02A1B-2ED5-4610-B1E7-A1729603D4B7}" type="datetime1">
              <a:rPr lang="en-US" smtClean="0"/>
              <a:pPr/>
              <a:t>8/22/2017</a:t>
            </a:fld>
            <a:endParaRPr lang="en-US"/>
          </a:p>
        </p:txBody>
      </p:sp>
      <p:sp>
        <p:nvSpPr>
          <p:cNvPr id="5" name="Footer Placeholder 4"/>
          <p:cNvSpPr>
            <a:spLocks noGrp="1"/>
          </p:cNvSpPr>
          <p:nvPr>
            <p:ph type="ftr" sz="quarter" idx="11"/>
          </p:nvPr>
        </p:nvSpPr>
        <p:spPr/>
        <p:txBody>
          <a:bodyPr/>
          <a:lstStyle/>
          <a:p>
            <a:r>
              <a:rPr lang="en-US" smtClean="0"/>
              <a:t>Storage Confidentiality</a:t>
            </a:r>
            <a:endParaRPr lang="en-US"/>
          </a:p>
        </p:txBody>
      </p:sp>
      <p:sp>
        <p:nvSpPr>
          <p:cNvPr id="6" name="Slide Number Placeholder 5"/>
          <p:cNvSpPr>
            <a:spLocks noGrp="1"/>
          </p:cNvSpPr>
          <p:nvPr>
            <p:ph type="sldNum" sz="quarter" idx="12"/>
          </p:nvPr>
        </p:nvSpPr>
        <p:spPr/>
        <p:txBody>
          <a:bodyPr/>
          <a:lstStyle/>
          <a:p>
            <a:fld id="{94759074-FD2C-4344-8997-BA6EDF9927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ACDCDF-BC8E-42EF-97F8-9A1107FF635B}" type="datetime1">
              <a:rPr lang="en-US" smtClean="0"/>
              <a:pPr/>
              <a:t>8/22/2017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Storage Confidentiality</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759074-FD2C-4344-8997-BA6EDF99276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portal.acm.org/citation.cfm?id=1455770.1455774"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citeseer.ist.psu.edu/421212.html" TargetMode="External"/><Relationship Id="rId2" Type="http://schemas.openxmlformats.org/officeDocument/2006/relationships/hyperlink" Target="http://www.chaum.com/" TargetMode="External"/><Relationship Id="rId1" Type="http://schemas.openxmlformats.org/officeDocument/2006/relationships/slideLayout" Target="../slideLayouts/slideLayout2.xml"/><Relationship Id="rId4" Type="http://schemas.openxmlformats.org/officeDocument/2006/relationships/hyperlink" Target="http://www-cse.ucsd.edu/users/mihir/papers/gb.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24000"/>
            <a:ext cx="7772400" cy="1470025"/>
          </a:xfrm>
        </p:spPr>
        <p:txBody>
          <a:bodyPr/>
          <a:lstStyle/>
          <a:p>
            <a:r>
              <a:rPr lang="en-US" dirty="0" smtClean="0"/>
              <a:t>Database Security</a:t>
            </a:r>
            <a:endParaRPr lang="en-US" dirty="0"/>
          </a:p>
        </p:txBody>
      </p:sp>
      <p:sp>
        <p:nvSpPr>
          <p:cNvPr id="5" name="Slide Number Placeholder 4"/>
          <p:cNvSpPr>
            <a:spLocks noGrp="1"/>
          </p:cNvSpPr>
          <p:nvPr>
            <p:ph type="sldNum" sz="quarter" idx="12"/>
          </p:nvPr>
        </p:nvSpPr>
        <p:spPr/>
        <p:txBody>
          <a:bodyPr/>
          <a:lstStyle/>
          <a:p>
            <a:fld id="{94759074-FD2C-4344-8997-BA6EDF992768}" type="slidenum">
              <a:rPr lang="en-US" smtClean="0"/>
              <a:pPr/>
              <a:t>1</a:t>
            </a:fld>
            <a:endParaRPr lang="en-US"/>
          </a:p>
        </p:txBody>
      </p:sp>
      <p:sp>
        <p:nvSpPr>
          <p:cNvPr id="6" name="TextBox 5"/>
          <p:cNvSpPr txBox="1"/>
          <p:nvPr/>
        </p:nvSpPr>
        <p:spPr>
          <a:xfrm>
            <a:off x="1484357" y="6477000"/>
            <a:ext cx="6926896" cy="261610"/>
          </a:xfrm>
          <a:prstGeom prst="rect">
            <a:avLst/>
          </a:prstGeom>
          <a:noFill/>
        </p:spPr>
        <p:txBody>
          <a:bodyPr wrap="none" rtlCol="0">
            <a:spAutoFit/>
          </a:bodyPr>
          <a:lstStyle/>
          <a:p>
            <a:r>
              <a:rPr lang="en-US" sz="1100" dirty="0" smtClean="0"/>
              <a:t>Public domain NASA image L-1957-00989 of people working with an IBM type 704 electronic data processing machine.</a:t>
            </a:r>
            <a:endParaRPr lang="en-US" sz="1100" dirty="0"/>
          </a:p>
        </p:txBody>
      </p:sp>
      <p:pic>
        <p:nvPicPr>
          <p:cNvPr id="3" name="Picture 2"/>
          <p:cNvPicPr>
            <a:picLocks noChangeAspect="1" noChangeArrowheads="1"/>
          </p:cNvPicPr>
          <p:nvPr/>
        </p:nvPicPr>
        <p:blipFill>
          <a:blip r:embed="rId2" cstate="print"/>
          <a:srcRect/>
          <a:stretch>
            <a:fillRect/>
          </a:stretch>
        </p:blipFill>
        <p:spPr bwMode="auto">
          <a:xfrm>
            <a:off x="2667000" y="3124200"/>
            <a:ext cx="4091623" cy="32430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dirty="0" smtClean="0"/>
              <a:t>The Need for Database Security</a:t>
            </a:r>
            <a:endParaRPr lang="en-US" dirty="0"/>
          </a:p>
        </p:txBody>
      </p:sp>
      <p:sp>
        <p:nvSpPr>
          <p:cNvPr id="3" name="Content Placeholder 2"/>
          <p:cNvSpPr>
            <a:spLocks noGrp="1"/>
          </p:cNvSpPr>
          <p:nvPr>
            <p:ph idx="1"/>
          </p:nvPr>
        </p:nvSpPr>
        <p:spPr>
          <a:xfrm>
            <a:off x="457200" y="990600"/>
            <a:ext cx="8458200" cy="5638800"/>
          </a:xfrm>
        </p:spPr>
        <p:txBody>
          <a:bodyPr>
            <a:normAutofit/>
          </a:bodyPr>
          <a:lstStyle/>
          <a:p>
            <a:r>
              <a:rPr lang="en-US" sz="2400" dirty="0" smtClean="0"/>
              <a:t>Because databases play such an important role in storing large amounts of potentially valuable information, they are often the target of attacks by malicious parties seeking to gain access to this data; hence, we need good ways to secure them.</a:t>
            </a:r>
            <a:endParaRPr lang="en-US" sz="2400" dirty="0"/>
          </a:p>
        </p:txBody>
      </p:sp>
      <p:sp>
        <p:nvSpPr>
          <p:cNvPr id="5" name="Slide Number Placeholder 4"/>
          <p:cNvSpPr>
            <a:spLocks noGrp="1"/>
          </p:cNvSpPr>
          <p:nvPr>
            <p:ph type="sldNum" sz="quarter" idx="12"/>
          </p:nvPr>
        </p:nvSpPr>
        <p:spPr/>
        <p:txBody>
          <a:bodyPr/>
          <a:lstStyle/>
          <a:p>
            <a:fld id="{94759074-FD2C-4344-8997-BA6EDF992768}" type="slidenum">
              <a:rPr lang="en-US" smtClean="0"/>
              <a:pPr/>
              <a:t>2</a:t>
            </a:fld>
            <a:endParaRPr lang="en-US"/>
          </a:p>
        </p:txBody>
      </p:sp>
      <p:pic>
        <p:nvPicPr>
          <p:cNvPr id="2051" name="Picture 3"/>
          <p:cNvPicPr>
            <a:picLocks noChangeAspect="1" noChangeArrowheads="1"/>
          </p:cNvPicPr>
          <p:nvPr/>
        </p:nvPicPr>
        <p:blipFill>
          <a:blip r:embed="rId2" cstate="print"/>
          <a:srcRect/>
          <a:stretch>
            <a:fillRect/>
          </a:stretch>
        </p:blipFill>
        <p:spPr bwMode="auto">
          <a:xfrm>
            <a:off x="2209800" y="2743200"/>
            <a:ext cx="4876800" cy="384003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Tables and Queries</a:t>
            </a:r>
            <a:endParaRPr lang="en-US" dirty="0"/>
          </a:p>
        </p:txBody>
      </p:sp>
      <p:sp>
        <p:nvSpPr>
          <p:cNvPr id="3" name="Content Placeholder 2"/>
          <p:cNvSpPr>
            <a:spLocks noGrp="1"/>
          </p:cNvSpPr>
          <p:nvPr>
            <p:ph idx="1"/>
          </p:nvPr>
        </p:nvSpPr>
        <p:spPr>
          <a:xfrm>
            <a:off x="304800" y="1371600"/>
            <a:ext cx="4191000" cy="4953000"/>
          </a:xfrm>
        </p:spPr>
        <p:txBody>
          <a:bodyPr>
            <a:noAutofit/>
          </a:bodyPr>
          <a:lstStyle/>
          <a:p>
            <a:r>
              <a:rPr lang="en-US" sz="2400" dirty="0" smtClean="0"/>
              <a:t>A very common way to store information is to use a </a:t>
            </a:r>
            <a:r>
              <a:rPr lang="en-US" sz="2400" b="1" dirty="0" smtClean="0"/>
              <a:t>relational database.</a:t>
            </a:r>
          </a:p>
          <a:p>
            <a:r>
              <a:rPr lang="en-US" sz="2400" dirty="0" smtClean="0"/>
              <a:t>In this approach, information is organized into a collection of </a:t>
            </a:r>
            <a:r>
              <a:rPr lang="en-US" sz="2400" b="1" dirty="0" smtClean="0"/>
              <a:t>tables. </a:t>
            </a:r>
          </a:p>
          <a:p>
            <a:r>
              <a:rPr lang="en-US" sz="2400" dirty="0" smtClean="0"/>
              <a:t>Each row of a table is a </a:t>
            </a:r>
            <a:r>
              <a:rPr lang="en-US" sz="2400" b="1" dirty="0" smtClean="0"/>
              <a:t>record </a:t>
            </a:r>
            <a:r>
              <a:rPr lang="en-US" sz="2400" dirty="0" smtClean="0"/>
              <a:t>that stores related information about some entity.</a:t>
            </a:r>
          </a:p>
          <a:p>
            <a:r>
              <a:rPr lang="en-US" sz="2400" dirty="0" smtClean="0"/>
              <a:t>Each column is associated with an </a:t>
            </a:r>
            <a:r>
              <a:rPr lang="en-US" sz="2400" b="1" dirty="0" smtClean="0"/>
              <a:t>attribute </a:t>
            </a:r>
            <a:r>
              <a:rPr lang="en-US" sz="2400" dirty="0" smtClean="0"/>
              <a:t>that the entity can possess.</a:t>
            </a:r>
            <a:endParaRPr lang="en-US" sz="2400" dirty="0"/>
          </a:p>
        </p:txBody>
      </p:sp>
      <p:sp>
        <p:nvSpPr>
          <p:cNvPr id="6" name="Slide Number Placeholder 5"/>
          <p:cNvSpPr>
            <a:spLocks noGrp="1"/>
          </p:cNvSpPr>
          <p:nvPr>
            <p:ph type="sldNum" sz="quarter" idx="12"/>
          </p:nvPr>
        </p:nvSpPr>
        <p:spPr/>
        <p:txBody>
          <a:bodyPr/>
          <a:lstStyle/>
          <a:p>
            <a:fld id="{94759074-FD2C-4344-8997-BA6EDF992768}" type="slidenum">
              <a:rPr lang="en-US" smtClean="0"/>
              <a:pPr/>
              <a:t>3</a:t>
            </a:fld>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4876800" y="1524000"/>
            <a:ext cx="3978603" cy="4810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Queries</a:t>
            </a:r>
            <a:endParaRPr lang="en-US" dirty="0"/>
          </a:p>
        </p:txBody>
      </p:sp>
      <p:sp>
        <p:nvSpPr>
          <p:cNvPr id="3" name="Content Placeholder 2"/>
          <p:cNvSpPr>
            <a:spLocks noGrp="1"/>
          </p:cNvSpPr>
          <p:nvPr>
            <p:ph idx="1"/>
          </p:nvPr>
        </p:nvSpPr>
        <p:spPr>
          <a:xfrm>
            <a:off x="304800" y="1295400"/>
            <a:ext cx="8610600" cy="5410200"/>
          </a:xfrm>
        </p:spPr>
        <p:txBody>
          <a:bodyPr>
            <a:noAutofit/>
          </a:bodyPr>
          <a:lstStyle/>
          <a:p>
            <a:r>
              <a:rPr lang="en-US" sz="2800" dirty="0" smtClean="0"/>
              <a:t>Most databases use a language known as </a:t>
            </a:r>
            <a:r>
              <a:rPr lang="en-US" sz="2800" b="1" dirty="0" smtClean="0"/>
              <a:t>SQL (Structured Query Language) </a:t>
            </a:r>
            <a:r>
              <a:rPr lang="en-US" sz="2800" dirty="0" smtClean="0"/>
              <a:t>to support queries and updates, using commands that include the following:</a:t>
            </a:r>
          </a:p>
          <a:p>
            <a:pPr lvl="1"/>
            <a:r>
              <a:rPr lang="en-US" sz="2000" dirty="0" smtClean="0"/>
              <a:t>SELECT: to express queries</a:t>
            </a:r>
          </a:p>
          <a:p>
            <a:pPr lvl="1"/>
            <a:r>
              <a:rPr lang="en-US" sz="2000" dirty="0" smtClean="0"/>
              <a:t>INSERT: to create new records</a:t>
            </a:r>
          </a:p>
          <a:p>
            <a:pPr lvl="1"/>
            <a:r>
              <a:rPr lang="en-US" sz="2000" dirty="0" smtClean="0"/>
              <a:t>UPDATE: to alter existing data</a:t>
            </a:r>
          </a:p>
          <a:p>
            <a:pPr lvl="1"/>
            <a:r>
              <a:rPr lang="en-US" sz="2000" dirty="0" smtClean="0"/>
              <a:t>DELETE: to delete existing records</a:t>
            </a:r>
          </a:p>
          <a:p>
            <a:pPr lvl="1"/>
            <a:r>
              <a:rPr lang="en-US" sz="2000" dirty="0" smtClean="0"/>
              <a:t>Conditional statements using WHERE, and basic Boolean operations such as AND </a:t>
            </a:r>
            <a:r>
              <a:rPr lang="en-US" sz="2000" dirty="0" err="1" smtClean="0"/>
              <a:t>and</a:t>
            </a:r>
            <a:r>
              <a:rPr lang="en-US" sz="2000" dirty="0" smtClean="0"/>
              <a:t> OR: to identify records based on certain conditions</a:t>
            </a:r>
          </a:p>
          <a:p>
            <a:pPr lvl="1"/>
            <a:r>
              <a:rPr lang="en-US" sz="2000" dirty="0" smtClean="0"/>
              <a:t> UNION: to combine the results of multiple queries into a single result</a:t>
            </a:r>
          </a:p>
          <a:p>
            <a:r>
              <a:rPr lang="en-US" sz="2800" dirty="0" smtClean="0"/>
              <a:t>These commands can be combined to produce queries that extract data, or updates that make changes to the database.</a:t>
            </a:r>
            <a:endParaRPr lang="en-US" sz="2800" dirty="0"/>
          </a:p>
        </p:txBody>
      </p:sp>
      <p:sp>
        <p:nvSpPr>
          <p:cNvPr id="6" name="Slide Number Placeholder 5"/>
          <p:cNvSpPr>
            <a:spLocks noGrp="1"/>
          </p:cNvSpPr>
          <p:nvPr>
            <p:ph type="sldNum" sz="quarter" idx="12"/>
          </p:nvPr>
        </p:nvSpPr>
        <p:spPr/>
        <p:txBody>
          <a:bodyPr/>
          <a:lstStyle/>
          <a:p>
            <a:fld id="{94759074-FD2C-4344-8997-BA6EDF992768}" type="slidenum">
              <a:rPr lang="en-US" smtClean="0"/>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944562"/>
          </a:xfrm>
        </p:spPr>
        <p:txBody>
          <a:bodyPr>
            <a:normAutofit/>
          </a:bodyPr>
          <a:lstStyle/>
          <a:p>
            <a:r>
              <a:rPr lang="en-US" dirty="0" smtClean="0"/>
              <a:t>SQL Example</a:t>
            </a:r>
            <a:endParaRPr lang="en-US" dirty="0"/>
          </a:p>
        </p:txBody>
      </p:sp>
      <p:sp>
        <p:nvSpPr>
          <p:cNvPr id="3" name="Content Placeholder 2"/>
          <p:cNvSpPr>
            <a:spLocks noGrp="1"/>
          </p:cNvSpPr>
          <p:nvPr>
            <p:ph idx="1"/>
          </p:nvPr>
        </p:nvSpPr>
        <p:spPr>
          <a:xfrm>
            <a:off x="457200" y="1371600"/>
            <a:ext cx="8458200" cy="2895600"/>
          </a:xfrm>
        </p:spPr>
        <p:txBody>
          <a:bodyPr>
            <a:normAutofit fontScale="77500" lnSpcReduction="20000"/>
          </a:bodyPr>
          <a:lstStyle/>
          <a:p>
            <a:r>
              <a:rPr lang="en-US" dirty="0" smtClean="0"/>
              <a:t>Suppose, for example, we were to issue the following query on the Presidents table:</a:t>
            </a:r>
          </a:p>
          <a:p>
            <a:pPr lvl="1">
              <a:buNone/>
            </a:pPr>
            <a:r>
              <a:rPr lang="en-US" dirty="0" smtClean="0"/>
              <a:t>	SELECT * FROM Presidents WHERE </a:t>
            </a:r>
            <a:r>
              <a:rPr lang="en-US" dirty="0" err="1" smtClean="0"/>
              <a:t>Inaugural_Age</a:t>
            </a:r>
            <a:r>
              <a:rPr lang="en-US" dirty="0" smtClean="0"/>
              <a:t> &lt; 50</a:t>
            </a:r>
          </a:p>
          <a:p>
            <a:r>
              <a:rPr lang="en-US" dirty="0" smtClean="0"/>
              <a:t>This query is designed to find and return all the U.S. presidents who were younger than 50 when they were inaugurated. The star symbol (*) specifies to return all the attributes of the resulting records. </a:t>
            </a:r>
          </a:p>
          <a:p>
            <a:r>
              <a:rPr lang="en-US" dirty="0" smtClean="0"/>
              <a:t>This query would return the following table:</a:t>
            </a:r>
          </a:p>
        </p:txBody>
      </p:sp>
      <p:sp>
        <p:nvSpPr>
          <p:cNvPr id="6" name="Slide Number Placeholder 5"/>
          <p:cNvSpPr>
            <a:spLocks noGrp="1"/>
          </p:cNvSpPr>
          <p:nvPr>
            <p:ph type="sldNum" sz="quarter" idx="12"/>
          </p:nvPr>
        </p:nvSpPr>
        <p:spPr/>
        <p:txBody>
          <a:bodyPr/>
          <a:lstStyle/>
          <a:p>
            <a:fld id="{94759074-FD2C-4344-8997-BA6EDF992768}" type="slidenum">
              <a:rPr lang="en-US" smtClean="0"/>
              <a:pPr/>
              <a:t>5</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1676401" y="4135446"/>
            <a:ext cx="5715000" cy="260356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944562"/>
          </a:xfrm>
        </p:spPr>
        <p:txBody>
          <a:bodyPr>
            <a:normAutofit/>
          </a:bodyPr>
          <a:lstStyle/>
          <a:p>
            <a:r>
              <a:rPr lang="en-US" dirty="0" smtClean="0"/>
              <a:t>Another SQL Example</a:t>
            </a:r>
            <a:endParaRPr lang="en-US" dirty="0"/>
          </a:p>
        </p:txBody>
      </p:sp>
      <p:sp>
        <p:nvSpPr>
          <p:cNvPr id="3" name="Content Placeholder 2"/>
          <p:cNvSpPr>
            <a:spLocks noGrp="1"/>
          </p:cNvSpPr>
          <p:nvPr>
            <p:ph idx="1"/>
          </p:nvPr>
        </p:nvSpPr>
        <p:spPr>
          <a:xfrm>
            <a:off x="457200" y="1676400"/>
            <a:ext cx="8458200" cy="2895600"/>
          </a:xfrm>
        </p:spPr>
        <p:txBody>
          <a:bodyPr>
            <a:normAutofit fontScale="85000" lnSpcReduction="10000"/>
          </a:bodyPr>
          <a:lstStyle/>
          <a:p>
            <a:r>
              <a:rPr lang="en-US" dirty="0" smtClean="0"/>
              <a:t>More complex queries are also possible, such as one to find all U.S. presidents who were less than 50 when they took office and died during their first term:</a:t>
            </a:r>
          </a:p>
          <a:p>
            <a:pPr lvl="1">
              <a:buNone/>
            </a:pPr>
            <a:r>
              <a:rPr lang="en-US" dirty="0" smtClean="0"/>
              <a:t>	SELECT * FROM Presidents WHERE (</a:t>
            </a:r>
            <a:r>
              <a:rPr lang="en-US" dirty="0" err="1" smtClean="0"/>
              <a:t>Inaugural_Age</a:t>
            </a:r>
            <a:r>
              <a:rPr lang="en-US" dirty="0" smtClean="0"/>
              <a:t> &lt; 50)</a:t>
            </a:r>
          </a:p>
          <a:p>
            <a:pPr lvl="1">
              <a:buNone/>
            </a:pPr>
            <a:r>
              <a:rPr lang="en-US" dirty="0" smtClean="0"/>
              <a:t>	AND (</a:t>
            </a:r>
            <a:r>
              <a:rPr lang="en-US" dirty="0" err="1" smtClean="0"/>
              <a:t>Age_at_Death</a:t>
            </a:r>
            <a:r>
              <a:rPr lang="en-US" dirty="0" smtClean="0"/>
              <a:t> - </a:t>
            </a:r>
            <a:r>
              <a:rPr lang="en-US" dirty="0" err="1" smtClean="0"/>
              <a:t>Inaugural_Age</a:t>
            </a:r>
            <a:r>
              <a:rPr lang="en-US" dirty="0" smtClean="0"/>
              <a:t> &lt; 4.0)</a:t>
            </a:r>
          </a:p>
          <a:p>
            <a:r>
              <a:rPr lang="en-US" dirty="0" smtClean="0"/>
              <a:t>This query would return the following set of records:</a:t>
            </a:r>
          </a:p>
        </p:txBody>
      </p:sp>
      <p:sp>
        <p:nvSpPr>
          <p:cNvPr id="6" name="Slide Number Placeholder 5"/>
          <p:cNvSpPr>
            <a:spLocks noGrp="1"/>
          </p:cNvSpPr>
          <p:nvPr>
            <p:ph type="sldNum" sz="quarter" idx="12"/>
          </p:nvPr>
        </p:nvSpPr>
        <p:spPr/>
        <p:txBody>
          <a:bodyPr/>
          <a:lstStyle/>
          <a:p>
            <a:fld id="{94759074-FD2C-4344-8997-BA6EDF992768}" type="slidenum">
              <a:rPr lang="en-US" smtClean="0"/>
              <a:pPr/>
              <a:t>6</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990600" y="4648200"/>
            <a:ext cx="7562850" cy="121517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Deletions</a:t>
            </a:r>
            <a:endParaRPr lang="en-US" dirty="0"/>
          </a:p>
        </p:txBody>
      </p:sp>
      <p:sp>
        <p:nvSpPr>
          <p:cNvPr id="3" name="Content Placeholder 2"/>
          <p:cNvSpPr>
            <a:spLocks noGrp="1"/>
          </p:cNvSpPr>
          <p:nvPr>
            <p:ph idx="1"/>
          </p:nvPr>
        </p:nvSpPr>
        <p:spPr>
          <a:xfrm>
            <a:off x="457200" y="1828800"/>
            <a:ext cx="8305800" cy="4724400"/>
          </a:xfrm>
        </p:spPr>
        <p:txBody>
          <a:bodyPr>
            <a:normAutofit/>
          </a:bodyPr>
          <a:lstStyle/>
          <a:p>
            <a:r>
              <a:rPr lang="en-US" sz="2800" dirty="0" smtClean="0"/>
              <a:t>In addition to queries that extract information from a database, authorized users can also update the contents of a database using SQL commands. </a:t>
            </a:r>
          </a:p>
          <a:p>
            <a:r>
              <a:rPr lang="en-US" sz="2800" dirty="0" smtClean="0"/>
              <a:t>For example, the following update operation would delete all of those records from the Presidents table that correspond to U.S. presidents who were less than 50 years old when they were inaugurated:</a:t>
            </a:r>
          </a:p>
          <a:p>
            <a:pPr lvl="1">
              <a:buNone/>
            </a:pPr>
            <a:r>
              <a:rPr lang="en-US" sz="2400" dirty="0" smtClean="0"/>
              <a:t>	DELETE FROM Presidents WHERE </a:t>
            </a:r>
            <a:r>
              <a:rPr lang="en-US" sz="2400" dirty="0" err="1" smtClean="0"/>
              <a:t>Inaugural_Age</a:t>
            </a:r>
            <a:r>
              <a:rPr lang="en-US" sz="2400" dirty="0" smtClean="0"/>
              <a:t> &lt; 50</a:t>
            </a:r>
            <a:endParaRPr lang="en-US" sz="2400" dirty="0"/>
          </a:p>
        </p:txBody>
      </p:sp>
      <p:sp>
        <p:nvSpPr>
          <p:cNvPr id="6" name="Slide Number Placeholder 5"/>
          <p:cNvSpPr>
            <a:spLocks noGrp="1"/>
          </p:cNvSpPr>
          <p:nvPr>
            <p:ph type="sldNum" sz="quarter" idx="12"/>
          </p:nvPr>
        </p:nvSpPr>
        <p:spPr/>
        <p:txBody>
          <a:bodyPr/>
          <a:lstStyle/>
          <a:p>
            <a:fld id="{94759074-FD2C-4344-8997-BA6EDF992768}" type="slidenum">
              <a:rPr lang="en-US" smtClean="0"/>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Insertions</a:t>
            </a:r>
            <a:endParaRPr lang="en-US" dirty="0"/>
          </a:p>
        </p:txBody>
      </p:sp>
      <p:sp>
        <p:nvSpPr>
          <p:cNvPr id="3" name="Content Placeholder 2"/>
          <p:cNvSpPr>
            <a:spLocks noGrp="1"/>
          </p:cNvSpPr>
          <p:nvPr>
            <p:ph idx="1"/>
          </p:nvPr>
        </p:nvSpPr>
        <p:spPr/>
        <p:txBody>
          <a:bodyPr>
            <a:normAutofit fontScale="92500"/>
          </a:bodyPr>
          <a:lstStyle/>
          <a:p>
            <a:r>
              <a:rPr lang="en-US" dirty="0" smtClean="0"/>
              <a:t>In addition, the following update operation would add a new record to the Presidents table:</a:t>
            </a:r>
          </a:p>
          <a:p>
            <a:pPr lvl="1">
              <a:buNone/>
            </a:pPr>
            <a:r>
              <a:rPr lang="en-US" dirty="0" smtClean="0"/>
              <a:t>INSERT INTO Presidents</a:t>
            </a:r>
          </a:p>
          <a:p>
            <a:pPr lvl="1">
              <a:buNone/>
            </a:pPr>
            <a:r>
              <a:rPr lang="en-US" dirty="0" smtClean="0"/>
              <a:t>VALUES (45, 'Arnold Schwarzenegger', 65.5, NULL)</a:t>
            </a:r>
          </a:p>
          <a:p>
            <a:r>
              <a:rPr lang="en-US" dirty="0" smtClean="0"/>
              <a:t>Database updates can be more fine-grained than just inserting and deleting entire records, however. </a:t>
            </a:r>
          </a:p>
          <a:p>
            <a:r>
              <a:rPr lang="en-US" dirty="0" smtClean="0"/>
              <a:t>We can also alter the contents of individual attribute values in specific records.</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Two-Phase Commit</a:t>
            </a:r>
            <a:endParaRPr lang="en-US" dirty="0"/>
          </a:p>
        </p:txBody>
      </p:sp>
      <p:sp>
        <p:nvSpPr>
          <p:cNvPr id="3" name="Content Placeholder 2"/>
          <p:cNvSpPr>
            <a:spLocks noGrp="1"/>
          </p:cNvSpPr>
          <p:nvPr>
            <p:ph idx="1"/>
          </p:nvPr>
        </p:nvSpPr>
        <p:spPr>
          <a:xfrm>
            <a:off x="457200" y="1219200"/>
            <a:ext cx="8305800" cy="5486400"/>
          </a:xfrm>
        </p:spPr>
        <p:txBody>
          <a:bodyPr>
            <a:noAutofit/>
          </a:bodyPr>
          <a:lstStyle/>
          <a:p>
            <a:r>
              <a:rPr lang="en-US" sz="1800" dirty="0" smtClean="0"/>
              <a:t>To cope with consistency and reliability issues, most databases employ a protocol called </a:t>
            </a:r>
            <a:r>
              <a:rPr lang="en-US" sz="1800" b="1" dirty="0" smtClean="0"/>
              <a:t>two-phase commit </a:t>
            </a:r>
            <a:r>
              <a:rPr lang="en-US" sz="1800" dirty="0" smtClean="0"/>
              <a:t>for performing updates</a:t>
            </a:r>
            <a:r>
              <a:rPr lang="en-US" sz="1800" b="1" dirty="0" smtClean="0"/>
              <a:t>.</a:t>
            </a:r>
          </a:p>
          <a:p>
            <a:pPr marL="514350" indent="-514350">
              <a:buFont typeface="+mj-lt"/>
              <a:buAutoNum type="arabicPeriod"/>
            </a:pPr>
            <a:r>
              <a:rPr lang="en-US" sz="1800" dirty="0" smtClean="0"/>
              <a:t>The first phase is a </a:t>
            </a:r>
            <a:r>
              <a:rPr lang="en-US" sz="1800" b="1" dirty="0" smtClean="0"/>
              <a:t>request phase, </a:t>
            </a:r>
            <a:r>
              <a:rPr lang="en-US" sz="1800" dirty="0" smtClean="0"/>
              <a:t>in which all the parts of the database that need to change as a result of this update are identified and flagged as being intended for this change. The result of this phase is either that it completes successfully, and every change requested is available and now flagged to be changed, or it aborts, because it couldn’t flag all the parts it wanted (say, because someone else already flagged it) or because of a network or system failure. </a:t>
            </a:r>
          </a:p>
          <a:p>
            <a:pPr marL="914400" lvl="1" indent="-514350"/>
            <a:r>
              <a:rPr lang="en-US" sz="1400" dirty="0" smtClean="0"/>
              <a:t>If the first phase aborts, then all its requested changes are reset, which is always possible, because no permanent changes have been made yet.</a:t>
            </a:r>
          </a:p>
          <a:p>
            <a:pPr marL="914400" lvl="1" indent="-514350"/>
            <a:r>
              <a:rPr lang="en-US" sz="1400" dirty="0" smtClean="0"/>
              <a:t>If the first phase completes successfully, then the protocol continues to the second phase.</a:t>
            </a:r>
          </a:p>
          <a:p>
            <a:pPr marL="514350" indent="-514350">
              <a:buFont typeface="+mj-lt"/>
              <a:buAutoNum type="arabicPeriod"/>
            </a:pPr>
            <a:r>
              <a:rPr lang="en-US" sz="1800" dirty="0" smtClean="0"/>
              <a:t>The second phase is the </a:t>
            </a:r>
            <a:r>
              <a:rPr lang="en-US" sz="1800" b="1" dirty="0" smtClean="0"/>
              <a:t>commit phase, </a:t>
            </a:r>
            <a:r>
              <a:rPr lang="en-US" sz="1800" dirty="0" smtClean="0"/>
              <a:t>in which the database locks itself against other changes and performs the sequence of changes that were identified in the request phase. </a:t>
            </a:r>
          </a:p>
          <a:p>
            <a:pPr marL="914400" lvl="1" indent="-514350"/>
            <a:r>
              <a:rPr lang="en-US" sz="1400" dirty="0" smtClean="0"/>
              <a:t>If it completes successfully, then it clears all the flags identifying requested changes and it releases the lock on the database.</a:t>
            </a:r>
          </a:p>
          <a:p>
            <a:pPr marL="914400" lvl="1" indent="-514350"/>
            <a:r>
              <a:rPr lang="en-US" sz="1400" dirty="0" smtClean="0"/>
              <a:t>If, on the other hand, this operation fails, then it rolls back, that is, reverses, all the changes made back to the state the database was in just after completing the first phase.</a:t>
            </a:r>
          </a:p>
          <a:p>
            <a:r>
              <a:rPr lang="en-US" sz="1800" dirty="0" smtClean="0"/>
              <a:t>This two-phase commit protocol is a feature that a database can use to help achieve both integrity and availability.</a:t>
            </a:r>
            <a:endParaRPr lang="en-US" sz="1800" dirty="0"/>
          </a:p>
        </p:txBody>
      </p:sp>
      <p:sp>
        <p:nvSpPr>
          <p:cNvPr id="6" name="Slide Number Placeholder 5"/>
          <p:cNvSpPr>
            <a:spLocks noGrp="1"/>
          </p:cNvSpPr>
          <p:nvPr>
            <p:ph type="sldNum" sz="quarter" idx="12"/>
          </p:nvPr>
        </p:nvSpPr>
        <p:spPr/>
        <p:txBody>
          <a:bodyPr/>
          <a:lstStyle/>
          <a:p>
            <a:fld id="{94759074-FD2C-4344-8997-BA6EDF992768}"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Access Control</a:t>
            </a:r>
            <a:endParaRPr lang="en-US" dirty="0"/>
          </a:p>
        </p:txBody>
      </p:sp>
      <p:sp>
        <p:nvSpPr>
          <p:cNvPr id="3" name="Content Placeholder 2"/>
          <p:cNvSpPr>
            <a:spLocks noGrp="1"/>
          </p:cNvSpPr>
          <p:nvPr>
            <p:ph idx="1"/>
          </p:nvPr>
        </p:nvSpPr>
        <p:spPr/>
        <p:txBody>
          <a:bodyPr>
            <a:normAutofit fontScale="92500"/>
          </a:bodyPr>
          <a:lstStyle/>
          <a:p>
            <a:r>
              <a:rPr lang="en-US" dirty="0" smtClean="0"/>
              <a:t>A proper set of database access controls should implement a </a:t>
            </a:r>
            <a:r>
              <a:rPr lang="en-US" b="1" dirty="0" smtClean="0"/>
              <a:t>least-privilege principle</a:t>
            </a:r>
            <a:r>
              <a:rPr lang="en-US" dirty="0" smtClean="0"/>
              <a:t>, so that each user has the necessary rights to perform their required tasks, but no rights beyond that.</a:t>
            </a:r>
          </a:p>
          <a:p>
            <a:r>
              <a:rPr lang="en-US" dirty="0" smtClean="0"/>
              <a:t>A proper set of database access controls should also implement a </a:t>
            </a:r>
            <a:r>
              <a:rPr lang="en-US" b="1" dirty="0" smtClean="0"/>
              <a:t>separation of privilege principle</a:t>
            </a:r>
            <a:r>
              <a:rPr lang="en-US" dirty="0" smtClean="0"/>
              <a:t>, so that different users have different privileges, depending on the different tasks that they need to perform.</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Control Using SQL</a:t>
            </a:r>
            <a:endParaRPr lang="en-US" dirty="0"/>
          </a:p>
        </p:txBody>
      </p:sp>
      <p:sp>
        <p:nvSpPr>
          <p:cNvPr id="3" name="Content Placeholder 2"/>
          <p:cNvSpPr>
            <a:spLocks noGrp="1"/>
          </p:cNvSpPr>
          <p:nvPr>
            <p:ph idx="1"/>
          </p:nvPr>
        </p:nvSpPr>
        <p:spPr>
          <a:xfrm>
            <a:off x="457200" y="1600200"/>
            <a:ext cx="8229600" cy="4953000"/>
          </a:xfrm>
        </p:spPr>
        <p:txBody>
          <a:bodyPr>
            <a:normAutofit fontScale="70000" lnSpcReduction="20000"/>
          </a:bodyPr>
          <a:lstStyle/>
          <a:p>
            <a:r>
              <a:rPr lang="en-US" dirty="0" smtClean="0"/>
              <a:t>SQL defines an access control framework that is commonly used for defining database privileges. </a:t>
            </a:r>
          </a:p>
          <a:p>
            <a:r>
              <a:rPr lang="en-US" dirty="0" smtClean="0"/>
              <a:t>When a table is created, the owner of the table has the sole rights to perform operations on that table. </a:t>
            </a:r>
          </a:p>
          <a:p>
            <a:r>
              <a:rPr lang="en-US" dirty="0" smtClean="0"/>
              <a:t>The owner can then </a:t>
            </a:r>
            <a:r>
              <a:rPr lang="en-US" b="1" dirty="0" smtClean="0"/>
              <a:t>grant privileges </a:t>
            </a:r>
            <a:r>
              <a:rPr lang="en-US" dirty="0" smtClean="0"/>
              <a:t>to other users, which is known as </a:t>
            </a:r>
            <a:r>
              <a:rPr lang="en-US" b="1" dirty="0" smtClean="0"/>
              <a:t>privilege delegation.</a:t>
            </a:r>
          </a:p>
          <a:p>
            <a:r>
              <a:rPr lang="en-US" dirty="0" smtClean="0"/>
              <a:t>These privileges may be broad, such as the ability to do anything to a particular table, or fine-grained, such as the ability to perform only SELECT queries on certain columns. </a:t>
            </a:r>
          </a:p>
          <a:p>
            <a:r>
              <a:rPr lang="en-US" dirty="0" smtClean="0"/>
              <a:t>For example, the owner of a table may issue the following SQL command to give Alice the ability to search through table employees:</a:t>
            </a:r>
          </a:p>
          <a:p>
            <a:pPr>
              <a:buNone/>
            </a:pPr>
            <a:r>
              <a:rPr lang="en-US" dirty="0" smtClean="0"/>
              <a:t>		GRANT SELECT ON employees TO Alice;</a:t>
            </a:r>
          </a:p>
          <a:p>
            <a:r>
              <a:rPr lang="en-US" dirty="0" smtClean="0"/>
              <a:t>Other permissions that can be provided using the GRANT keyword include DELETE, INSERT, and UPDATE. In addition, to grant all available rights one can use the ALL keyword.</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Privilege Delegation</a:t>
            </a:r>
            <a:endParaRPr lang="en-US" dirty="0"/>
          </a:p>
        </p:txBody>
      </p:sp>
      <p:sp>
        <p:nvSpPr>
          <p:cNvPr id="3" name="Content Placeholder 2"/>
          <p:cNvSpPr>
            <a:spLocks noGrp="1"/>
          </p:cNvSpPr>
          <p:nvPr>
            <p:ph idx="1"/>
          </p:nvPr>
        </p:nvSpPr>
        <p:spPr>
          <a:xfrm>
            <a:off x="457200" y="1981200"/>
            <a:ext cx="8229600" cy="4495800"/>
          </a:xfrm>
        </p:spPr>
        <p:txBody>
          <a:bodyPr>
            <a:normAutofit fontScale="70000" lnSpcReduction="20000"/>
          </a:bodyPr>
          <a:lstStyle/>
          <a:p>
            <a:r>
              <a:rPr lang="en-US" dirty="0" smtClean="0"/>
              <a:t>In addition to being able to grant certain privileges to other users, table owners can also allow other users to grant privileges for those tables, which is known as </a:t>
            </a:r>
            <a:r>
              <a:rPr lang="en-US" b="1" dirty="0" smtClean="0"/>
              <a:t>policy authority delegation. </a:t>
            </a:r>
          </a:p>
          <a:p>
            <a:r>
              <a:rPr lang="en-US" dirty="0" smtClean="0"/>
              <a:t>Specifically, when granting a privilege to a user as in the above examples, the grantor can include the clause WITH GRANT OPTION to give the recipient the ability to further delegate that privilege. </a:t>
            </a:r>
          </a:p>
          <a:p>
            <a:r>
              <a:rPr lang="en-US" dirty="0" smtClean="0"/>
              <a:t>For example, an administrator might create a view for Alice and give her permission to delegate SELECT permissions on that view to other users as follows:</a:t>
            </a:r>
          </a:p>
          <a:p>
            <a:pPr lvl="1">
              <a:buNone/>
            </a:pPr>
            <a:r>
              <a:rPr lang="en-US" dirty="0" smtClean="0"/>
              <a:t>	CREATE VIEW </a:t>
            </a:r>
            <a:r>
              <a:rPr lang="en-US" dirty="0" err="1" smtClean="0"/>
              <a:t>employees_alice</a:t>
            </a:r>
            <a:r>
              <a:rPr lang="en-US" dirty="0" smtClean="0"/>
              <a:t> AS</a:t>
            </a:r>
          </a:p>
          <a:p>
            <a:pPr lvl="1">
              <a:buNone/>
            </a:pPr>
            <a:r>
              <a:rPr lang="en-US" dirty="0" smtClean="0"/>
              <a:t>	SELECT * FROM employees</a:t>
            </a:r>
          </a:p>
          <a:p>
            <a:pPr lvl="1">
              <a:buNone/>
            </a:pPr>
            <a:r>
              <a:rPr lang="en-US" dirty="0" smtClean="0"/>
              <a:t>	WHERE name = `Alice';</a:t>
            </a:r>
          </a:p>
          <a:p>
            <a:pPr lvl="1">
              <a:buNone/>
            </a:pPr>
            <a:r>
              <a:rPr lang="en-US" dirty="0" smtClean="0"/>
              <a:t>	GRANT SELECT ON </a:t>
            </a:r>
            <a:r>
              <a:rPr lang="en-US" dirty="0" err="1" smtClean="0"/>
              <a:t>employees_alice</a:t>
            </a:r>
            <a:r>
              <a:rPr lang="en-US" dirty="0" smtClean="0"/>
              <a:t> TO Alice WITH GRANT OPTION;</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Privilege Revocation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propagation of privileges in a database can be visualized using a diagram, where nodes represent users and directed edges represent granted privileges. </a:t>
            </a:r>
          </a:p>
          <a:p>
            <a:r>
              <a:rPr lang="en-US" dirty="0" smtClean="0"/>
              <a:t>If Alice grants a set of rights, A, to Bob, then we draw a directed edge labeled with A from Alice to Bob. </a:t>
            </a:r>
          </a:p>
          <a:p>
            <a:r>
              <a:rPr lang="en-US" dirty="0" smtClean="0"/>
              <a:t>A user, Alice, who has granted privileges to another, Bob, can opt to revoke those privileges at a later time, which would be visualized by deleting or relabeling the edge from Alice to Bob. </a:t>
            </a:r>
          </a:p>
          <a:p>
            <a:r>
              <a:rPr lang="en-US" dirty="0" smtClean="0"/>
              <a:t>A command that could perform such a revocation is as follows:</a:t>
            </a:r>
          </a:p>
          <a:p>
            <a:pPr>
              <a:buNone/>
            </a:pPr>
            <a:r>
              <a:rPr lang="en-US" dirty="0" smtClean="0"/>
              <a:t>		REVOKE SELECT ON employees FROM Bob;</a:t>
            </a:r>
          </a:p>
          <a:p>
            <a:r>
              <a:rPr lang="en-US" dirty="0" smtClean="0"/>
              <a:t>This command should result in the revocation of all SELECT privileges for Alice as well as all the people to which she had delegated this privilege.</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Privilege Revocation Example</a:t>
            </a:r>
            <a:endParaRPr lang="en-US" dirty="0"/>
          </a:p>
        </p:txBody>
      </p:sp>
      <p:sp>
        <p:nvSpPr>
          <p:cNvPr id="3" name="Content Placeholder 2"/>
          <p:cNvSpPr>
            <a:spLocks noGrp="1"/>
          </p:cNvSpPr>
          <p:nvPr>
            <p:ph idx="1"/>
          </p:nvPr>
        </p:nvSpPr>
        <p:spPr>
          <a:xfrm>
            <a:off x="457200" y="4724401"/>
            <a:ext cx="8229600" cy="2057400"/>
          </a:xfrm>
        </p:spPr>
        <p:txBody>
          <a:bodyPr>
            <a:normAutofit fontScale="70000" lnSpcReduction="20000"/>
          </a:bodyPr>
          <a:lstStyle/>
          <a:p>
            <a:pPr marL="514350" indent="-514350">
              <a:buAutoNum type="alphaLcParenBoth"/>
            </a:pPr>
            <a:r>
              <a:rPr lang="en-US" dirty="0" smtClean="0"/>
              <a:t>First, two administrators, Charles and Diane, each grant Alice two sets of privileges, C and D, after which Alice grants those privileges to Bob, giving him the set of rights in the union, C  U  D. </a:t>
            </a:r>
          </a:p>
          <a:p>
            <a:pPr marL="514350" indent="-514350">
              <a:buAutoNum type="alphaLcParenBoth"/>
            </a:pPr>
            <a:r>
              <a:rPr lang="en-US" dirty="0" smtClean="0"/>
              <a:t>If Charles subsequently revokes the set of privileges, C, he granted to Alice, then the privileges Bob inherited indirectly from Charles, through Alice, should also be revoked, leaving Bob with just the privileges in D.</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14</a:t>
            </a:fld>
            <a:endParaRPr lang="en-US"/>
          </a:p>
        </p:txBody>
      </p:sp>
      <p:pic>
        <p:nvPicPr>
          <p:cNvPr id="6146" name="Picture 2"/>
          <p:cNvPicPr>
            <a:picLocks noChangeAspect="1" noChangeArrowheads="1"/>
          </p:cNvPicPr>
          <p:nvPr/>
        </p:nvPicPr>
        <p:blipFill>
          <a:blip r:embed="rId2" cstate="print"/>
          <a:srcRect/>
          <a:stretch>
            <a:fillRect/>
          </a:stretch>
        </p:blipFill>
        <p:spPr bwMode="auto">
          <a:xfrm>
            <a:off x="2362200" y="1295400"/>
            <a:ext cx="5027279" cy="332359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Sensitive Data</a:t>
            </a:r>
            <a:endParaRPr lang="en-US" dirty="0"/>
          </a:p>
        </p:txBody>
      </p:sp>
      <p:sp>
        <p:nvSpPr>
          <p:cNvPr id="3" name="Content Placeholder 2"/>
          <p:cNvSpPr>
            <a:spLocks noGrp="1"/>
          </p:cNvSpPr>
          <p:nvPr>
            <p:ph idx="1"/>
          </p:nvPr>
        </p:nvSpPr>
        <p:spPr/>
        <p:txBody>
          <a:bodyPr>
            <a:normAutofit/>
          </a:bodyPr>
          <a:lstStyle/>
          <a:p>
            <a:r>
              <a:rPr lang="en-US" sz="2800" dirty="0" smtClean="0"/>
              <a:t>In addition to ensuring that databases have appropriate access-control measures in place, care must be taken to guarantee that sensitive data is stored in a way that protects the privacy of users and any confidentiality requirements for sensitive data.</a:t>
            </a:r>
            <a:endParaRPr lang="en-US" sz="2800"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15</a:t>
            </a:fld>
            <a:endParaRPr lang="en-US"/>
          </a:p>
        </p:txBody>
      </p:sp>
      <p:pic>
        <p:nvPicPr>
          <p:cNvPr id="7170" name="Picture 2" descr="C:\Documents and Settings\goodrich\Local Settings\Temporary Internet Files\Content.IE5\TAQOHR0Z\MC900358963[1].wmf"/>
          <p:cNvPicPr>
            <a:picLocks noChangeAspect="1" noChangeArrowheads="1"/>
          </p:cNvPicPr>
          <p:nvPr/>
        </p:nvPicPr>
        <p:blipFill>
          <a:blip r:embed="rId2" cstate="print"/>
          <a:srcRect/>
          <a:stretch>
            <a:fillRect/>
          </a:stretch>
        </p:blipFill>
        <p:spPr bwMode="auto">
          <a:xfrm>
            <a:off x="3200400" y="4038600"/>
            <a:ext cx="2590419" cy="259171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Cryptography</a:t>
            </a:r>
            <a:endParaRPr lang="en-US" dirty="0"/>
          </a:p>
        </p:txBody>
      </p:sp>
      <p:sp>
        <p:nvSpPr>
          <p:cNvPr id="3" name="Content Placeholder 2"/>
          <p:cNvSpPr>
            <a:spLocks noGrp="1"/>
          </p:cNvSpPr>
          <p:nvPr>
            <p:ph idx="1"/>
          </p:nvPr>
        </p:nvSpPr>
        <p:spPr/>
        <p:txBody>
          <a:bodyPr>
            <a:normAutofit fontScale="92500"/>
          </a:bodyPr>
          <a:lstStyle/>
          <a:p>
            <a:r>
              <a:rPr lang="en-US" dirty="0" smtClean="0"/>
              <a:t>If information being stored in a database has confidentiality requirements, then it should not be stored in plaintext, but should instead be stored as the output of a cryptographic function. </a:t>
            </a:r>
          </a:p>
          <a:p>
            <a:r>
              <a:rPr lang="en-US" dirty="0" smtClean="0"/>
              <a:t>Confidential information kept in a database should be stored in encrypted form, where the decryption key should be known by authorized users but not stored in the database itself.</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Privacy Protection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Besides measures designed to protect the confidentiality of sensitive user information, database owners should be careful to consider the privacy impacts of publishing or granting access to sensitive information. </a:t>
            </a:r>
          </a:p>
          <a:p>
            <a:r>
              <a:rPr lang="en-US" dirty="0" smtClean="0"/>
              <a:t>If a database is to be released to the public, say, to be used for research purposes, then all identifying information, such as names, addresses, Social Security numbers, employee numbers, and student numbers, should be removed or changed to </a:t>
            </a:r>
            <a:r>
              <a:rPr lang="en-US" b="1" dirty="0" smtClean="0"/>
              <a:t>masking values, </a:t>
            </a:r>
            <a:r>
              <a:rPr lang="en-US" dirty="0" smtClean="0"/>
              <a:t>which are nondescript values that lack all identifying information.</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Attacks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Even if identifying information is removed or masked out, it may still be possible to use the database in conjunction with additional information available to the attacker to learn more about the underlying data. </a:t>
            </a:r>
          </a:p>
          <a:p>
            <a:r>
              <a:rPr lang="en-US" dirty="0" smtClean="0"/>
              <a:t>This is referred to as an </a:t>
            </a:r>
            <a:r>
              <a:rPr lang="en-US" b="1" dirty="0" smtClean="0"/>
              <a:t>inference attack. </a:t>
            </a:r>
          </a:p>
          <a:p>
            <a:r>
              <a:rPr lang="en-US" dirty="0" smtClean="0"/>
              <a:t>As an example, consider a database of employee records, whose attributes are name, gender, ID number, and salary. </a:t>
            </a:r>
          </a:p>
          <a:p>
            <a:pPr lvl="1"/>
            <a:r>
              <a:rPr lang="en-US" dirty="0" smtClean="0"/>
              <a:t>Suppose a party is granted access to a sanitized version of the table, where the name attribute is removed, for the purpose of creating statistics on salary by gender. Another party may have a list of pairings associating ID numbers to names for a reporting task. </a:t>
            </a:r>
          </a:p>
          <a:p>
            <a:pPr lvl="1"/>
            <a:r>
              <a:rPr lang="en-US" dirty="0" smtClean="0"/>
              <a:t>If these two parties were to communicate, they could easily infer the salary of each employee, despite the intent of the database owner. In general, when granting access to modified versions of a database, administrators should consider whether collusion among grantees can allow them to gain unauthorized information.</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Protecting Against Inference Attacks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To protect a database from inference attacks, the following techniques can be used prior to making the database public.</a:t>
            </a:r>
          </a:p>
          <a:p>
            <a:r>
              <a:rPr lang="en-US" dirty="0" smtClean="0"/>
              <a:t> </a:t>
            </a:r>
            <a:r>
              <a:rPr lang="en-US" b="1" dirty="0" smtClean="0"/>
              <a:t>Cell suppression. </a:t>
            </a:r>
            <a:r>
              <a:rPr lang="en-US" dirty="0" smtClean="0"/>
              <a:t>In using this technique, some of the cells in a database are removed and left blank in the published version. </a:t>
            </a:r>
          </a:p>
          <a:p>
            <a:r>
              <a:rPr lang="en-US" b="1" dirty="0" smtClean="0"/>
              <a:t>Generalization. </a:t>
            </a:r>
            <a:r>
              <a:rPr lang="en-US" dirty="0" smtClean="0"/>
              <a:t>In using this technique, some values in a published database are replaced with more general values. </a:t>
            </a:r>
          </a:p>
          <a:p>
            <a:r>
              <a:rPr lang="en-US" b="1" dirty="0" smtClean="0"/>
              <a:t>Noise addition. </a:t>
            </a:r>
            <a:r>
              <a:rPr lang="en-US" dirty="0" smtClean="0"/>
              <a:t>In using this technique, values in a published database have random values added to them, so that the noise across all records for the same attribute averages out to zero. </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fld id="{94759074-FD2C-4344-8997-BA6EDF992768}" type="slidenum">
              <a:rPr lang="en-US" smtClean="0"/>
              <a:pPr/>
              <a:t>20</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990600" y="1447800"/>
            <a:ext cx="7243590" cy="5218906"/>
          </a:xfrm>
          <a:prstGeom prst="rect">
            <a:avLst/>
          </a:prstGeom>
          <a:noFill/>
          <a:ln w="9525">
            <a:noFill/>
            <a:miter lim="800000"/>
            <a:headEnd/>
            <a:tailEnd/>
          </a:ln>
        </p:spPr>
      </p:pic>
      <p:sp>
        <p:nvSpPr>
          <p:cNvPr id="6" name="Rectangle 5"/>
          <p:cNvSpPr/>
          <p:nvPr/>
        </p:nvSpPr>
        <p:spPr>
          <a:xfrm>
            <a:off x="990600" y="5562600"/>
            <a:ext cx="1066800" cy="30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ctrTitle"/>
          </p:nvPr>
        </p:nvSpPr>
        <p:spPr>
          <a:xfrm>
            <a:off x="685800" y="2480717"/>
            <a:ext cx="7772400" cy="769441"/>
          </a:xfrm>
        </p:spPr>
        <p:txBody>
          <a:bodyPr wrap="square">
            <a:sp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Spam and Cybercrime</a:t>
            </a:r>
          </a:p>
        </p:txBody>
      </p:sp>
      <p:sp>
        <p:nvSpPr>
          <p:cNvPr id="4098" name="Date Placeholder 2"/>
          <p:cNvSpPr>
            <a:spLocks noGrp="1"/>
          </p:cNvSpPr>
          <p:nvPr>
            <p:ph type="dt" sz="half" idx="10"/>
          </p:nvPr>
        </p:nvSpPr>
        <p:spPr>
          <a:noFill/>
        </p:spPr>
        <p:txBody>
          <a:bodyPr/>
          <a:lstStyle/>
          <a:p>
            <a:fld id="{FEDE7E17-8C41-4301-9B96-C3A3066B890B}" type="datetime1">
              <a:rPr lang="en-US" smtClean="0"/>
              <a:pPr/>
              <a:t>8/22/2017</a:t>
            </a:fld>
            <a:endParaRPr lang="en-GB"/>
          </a:p>
        </p:txBody>
      </p:sp>
      <p:sp>
        <p:nvSpPr>
          <p:cNvPr id="4099" name="Footer Placeholder 3"/>
          <p:cNvSpPr>
            <a:spLocks noGrp="1"/>
          </p:cNvSpPr>
          <p:nvPr>
            <p:ph type="ftr" sz="quarter" idx="11"/>
          </p:nvPr>
        </p:nvSpPr>
        <p:spPr>
          <a:noFill/>
        </p:spPr>
        <p:txBody>
          <a:bodyPr/>
          <a:lstStyle/>
          <a:p>
            <a:r>
              <a:rPr lang="en-GB" smtClean="0"/>
              <a:t>Spam and Cybercrime</a:t>
            </a:r>
            <a:endParaRPr lang="en-GB"/>
          </a:p>
        </p:txBody>
      </p:sp>
      <p:sp>
        <p:nvSpPr>
          <p:cNvPr id="4100" name="Slide Number Placeholder 4"/>
          <p:cNvSpPr>
            <a:spLocks noGrp="1"/>
          </p:cNvSpPr>
          <p:nvPr>
            <p:ph type="sldNum" sz="quarter" idx="12"/>
          </p:nvPr>
        </p:nvSpPr>
        <p:spPr>
          <a:noFill/>
        </p:spPr>
        <p:txBody>
          <a:bodyPr/>
          <a:lstStyle/>
          <a:p>
            <a:fld id="{BB56C873-AF7E-4F3C-B85F-951187DB828B}" type="slidenum">
              <a:rPr lang="en-GB" smtClean="0"/>
              <a:pPr/>
              <a:t>21</a:t>
            </a:fld>
            <a:endParaRPr lang="en-GB" smtClean="0"/>
          </a:p>
        </p:txBody>
      </p:sp>
    </p:spTree>
    <p:extLst>
      <p:ext uri="{BB962C8B-B14F-4D97-AF65-F5344CB8AC3E}">
        <p14:creationId xmlns:p14="http://schemas.microsoft.com/office/powerpoint/2010/main" val="28487378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SMTP</a:t>
            </a:r>
            <a:endParaRPr lang="en-US" dirty="0"/>
          </a:p>
        </p:txBody>
      </p:sp>
      <p:sp>
        <p:nvSpPr>
          <p:cNvPr id="7" name="Content Placeholder 6"/>
          <p:cNvSpPr>
            <a:spLocks noGrp="1"/>
          </p:cNvSpPr>
          <p:nvPr>
            <p:ph sz="half" idx="1"/>
          </p:nvPr>
        </p:nvSpPr>
        <p:spPr>
          <a:xfrm>
            <a:off x="457200" y="1447800"/>
            <a:ext cx="4191000" cy="4724400"/>
          </a:xfrm>
        </p:spPr>
        <p:txBody>
          <a:bodyPr numCol="1">
            <a:noAutofit/>
          </a:bodyPr>
          <a:lstStyle/>
          <a:p>
            <a:pPr>
              <a:lnSpc>
                <a:spcPct val="100000"/>
              </a:lnSpc>
            </a:pPr>
            <a:r>
              <a:rPr lang="en-US" sz="2000" dirty="0" smtClean="0"/>
              <a:t>Simple Mail Transfer Protocol</a:t>
            </a:r>
          </a:p>
          <a:p>
            <a:pPr lvl="1">
              <a:lnSpc>
                <a:spcPct val="100000"/>
              </a:lnSpc>
            </a:pPr>
            <a:r>
              <a:rPr lang="en-US" sz="1800" dirty="0" smtClean="0"/>
              <a:t>Client connects to server on TCP port 25</a:t>
            </a:r>
          </a:p>
          <a:p>
            <a:pPr lvl="1">
              <a:lnSpc>
                <a:spcPct val="100000"/>
              </a:lnSpc>
            </a:pPr>
            <a:r>
              <a:rPr lang="en-US" sz="1800" dirty="0" smtClean="0"/>
              <a:t>Client sends commands to server</a:t>
            </a:r>
          </a:p>
          <a:p>
            <a:pPr lvl="1">
              <a:lnSpc>
                <a:spcPct val="100000"/>
              </a:lnSpc>
            </a:pPr>
            <a:r>
              <a:rPr lang="en-US" sz="1800" dirty="0" smtClean="0"/>
              <a:t>Server </a:t>
            </a:r>
            <a:r>
              <a:rPr lang="en-US" sz="1800" dirty="0" err="1" smtClean="0"/>
              <a:t>acks</a:t>
            </a:r>
            <a:r>
              <a:rPr lang="en-US" sz="1800" dirty="0" smtClean="0"/>
              <a:t> or notifies of error</a:t>
            </a:r>
          </a:p>
          <a:p>
            <a:pPr>
              <a:lnSpc>
                <a:spcPct val="100000"/>
              </a:lnSpc>
            </a:pPr>
            <a:r>
              <a:rPr lang="en-US" sz="2000" dirty="0" smtClean="0"/>
              <a:t>Security issues</a:t>
            </a:r>
          </a:p>
          <a:p>
            <a:pPr lvl="1">
              <a:lnSpc>
                <a:spcPct val="100000"/>
              </a:lnSpc>
            </a:pPr>
            <a:r>
              <a:rPr lang="en-US" sz="1800" dirty="0" smtClean="0"/>
              <a:t>Sender not authenticated</a:t>
            </a:r>
          </a:p>
          <a:p>
            <a:pPr lvl="1">
              <a:lnSpc>
                <a:spcPct val="100000"/>
              </a:lnSpc>
            </a:pPr>
            <a:r>
              <a:rPr lang="en-US" sz="1800" dirty="0" smtClean="0"/>
              <a:t>Message and headers transmitted in plain text</a:t>
            </a:r>
          </a:p>
          <a:p>
            <a:pPr lvl="1">
              <a:lnSpc>
                <a:spcPct val="100000"/>
              </a:lnSpc>
            </a:pPr>
            <a:r>
              <a:rPr lang="en-US" sz="1800" dirty="0" smtClean="0"/>
              <a:t>Message and header integrity not protected</a:t>
            </a:r>
          </a:p>
          <a:p>
            <a:pPr lvl="1">
              <a:lnSpc>
                <a:spcPct val="100000"/>
              </a:lnSpc>
            </a:pPr>
            <a:r>
              <a:rPr lang="en-US" sz="1800" dirty="0" smtClean="0"/>
              <a:t>Spoofing trivial to accomplish</a:t>
            </a:r>
          </a:p>
        </p:txBody>
      </p:sp>
      <p:sp>
        <p:nvSpPr>
          <p:cNvPr id="8" name="Content Placeholder 7"/>
          <p:cNvSpPr>
            <a:spLocks noGrp="1"/>
          </p:cNvSpPr>
          <p:nvPr>
            <p:ph sz="half" idx="2"/>
          </p:nvPr>
        </p:nvSpPr>
        <p:spPr>
          <a:xfrm>
            <a:off x="4572000" y="1447800"/>
            <a:ext cx="4419599" cy="4800600"/>
          </a:xfrm>
        </p:spPr>
        <p:txBody>
          <a:bodyPr>
            <a:noAutofit/>
          </a:bodyPr>
          <a:lstStyle/>
          <a:p>
            <a:r>
              <a:rPr lang="en-US" sz="2400" dirty="0" smtClean="0"/>
              <a:t>Example SMTP session</a:t>
            </a:r>
          </a:p>
          <a:p>
            <a:pPr>
              <a:buNone/>
            </a:pPr>
            <a:r>
              <a:rPr lang="en-US" sz="1800" dirty="0" smtClean="0">
                <a:solidFill>
                  <a:schemeClr val="accent1"/>
                </a:solidFill>
              </a:rPr>
              <a:t>	</a:t>
            </a:r>
            <a:r>
              <a:rPr lang="en-US" sz="1800" dirty="0" smtClean="0">
                <a:solidFill>
                  <a:srgbClr val="FFFF00"/>
                </a:solidFill>
              </a:rPr>
              <a:t>HELO mail.university.edu</a:t>
            </a:r>
          </a:p>
          <a:p>
            <a:pPr>
              <a:buNone/>
            </a:pPr>
            <a:r>
              <a:rPr lang="en-US" sz="1800" dirty="0" smtClean="0">
                <a:solidFill>
                  <a:srgbClr val="FFFF00"/>
                </a:solidFill>
              </a:rPr>
              <a:t>	MAIL FROM: president@whitehouse.gov</a:t>
            </a:r>
          </a:p>
          <a:p>
            <a:pPr>
              <a:buNone/>
            </a:pPr>
            <a:r>
              <a:rPr lang="en-US" sz="1800" dirty="0" smtClean="0">
                <a:solidFill>
                  <a:srgbClr val="FFFF00"/>
                </a:solidFill>
              </a:rPr>
              <a:t>	RCPT TO: chancellor@university.edu</a:t>
            </a:r>
          </a:p>
          <a:p>
            <a:pPr>
              <a:buNone/>
            </a:pPr>
            <a:r>
              <a:rPr lang="en-US" sz="1800" dirty="0" smtClean="0">
                <a:solidFill>
                  <a:srgbClr val="FFFF00"/>
                </a:solidFill>
              </a:rPr>
              <a:t>	DATA</a:t>
            </a:r>
          </a:p>
          <a:p>
            <a:pPr>
              <a:buNone/>
            </a:pPr>
            <a:r>
              <a:rPr lang="en-US" sz="1800" i="1" dirty="0" smtClean="0">
                <a:solidFill>
                  <a:srgbClr val="FFFF00"/>
                </a:solidFill>
              </a:rPr>
              <a:t>	From: president@whitehouse.gov</a:t>
            </a:r>
          </a:p>
          <a:p>
            <a:pPr>
              <a:buNone/>
            </a:pPr>
            <a:r>
              <a:rPr lang="en-US" sz="1800" i="1" dirty="0" smtClean="0">
                <a:solidFill>
                  <a:srgbClr val="FFFF00"/>
                </a:solidFill>
              </a:rPr>
              <a:t>	To: chancellor@university.edu</a:t>
            </a:r>
          </a:p>
          <a:p>
            <a:pPr>
              <a:buNone/>
            </a:pPr>
            <a:r>
              <a:rPr lang="en-US" sz="1800" i="1" dirty="0" smtClean="0">
                <a:solidFill>
                  <a:srgbClr val="FFFF00"/>
                </a:solidFill>
              </a:rPr>
              <a:t>	Date: April 1, 2010</a:t>
            </a:r>
          </a:p>
          <a:p>
            <a:pPr>
              <a:buNone/>
            </a:pPr>
            <a:r>
              <a:rPr lang="en-US" sz="1800" i="1" dirty="0" smtClean="0">
                <a:solidFill>
                  <a:srgbClr val="FFFF00"/>
                </a:solidFill>
              </a:rPr>
              <a:t>	Subject: Executive order</a:t>
            </a:r>
          </a:p>
          <a:p>
            <a:pPr>
              <a:buNone/>
            </a:pPr>
            <a:r>
              <a:rPr lang="en-US" sz="1800" dirty="0" smtClean="0">
                <a:solidFill>
                  <a:srgbClr val="FFFF00"/>
                </a:solidFill>
              </a:rPr>
              <a:t>	</a:t>
            </a:r>
            <a:r>
              <a:rPr lang="en-US" sz="1800" i="1" dirty="0" smtClean="0">
                <a:solidFill>
                  <a:srgbClr val="FFFF00"/>
                </a:solidFill>
              </a:rPr>
              <a:t>You are hereby ordered to increase the stipend of all TAs by $10,000 per year.</a:t>
            </a:r>
          </a:p>
          <a:p>
            <a:pPr>
              <a:buNone/>
            </a:pPr>
            <a:r>
              <a:rPr lang="en-US" sz="1800" i="1" dirty="0" smtClean="0">
                <a:solidFill>
                  <a:srgbClr val="FFFF00"/>
                </a:solidFill>
              </a:rPr>
              <a:t>       Sincerely,</a:t>
            </a:r>
          </a:p>
          <a:p>
            <a:pPr>
              <a:buNone/>
            </a:pPr>
            <a:r>
              <a:rPr lang="en-US" sz="1800" i="1" dirty="0" smtClean="0">
                <a:solidFill>
                  <a:srgbClr val="FFFF00"/>
                </a:solidFill>
              </a:rPr>
              <a:t>	The President of the United States</a:t>
            </a:r>
          </a:p>
          <a:p>
            <a:pPr>
              <a:buNone/>
            </a:pPr>
            <a:r>
              <a:rPr lang="en-US" sz="1600" dirty="0" smtClean="0">
                <a:solidFill>
                  <a:srgbClr val="FFFF00"/>
                </a:solidFill>
              </a:rPr>
              <a:t>	</a:t>
            </a:r>
            <a:r>
              <a:rPr lang="en-US" sz="2400" b="1" dirty="0" smtClean="0">
                <a:solidFill>
                  <a:srgbClr val="FFFF00"/>
                </a:solidFill>
              </a:rPr>
              <a:t>.</a:t>
            </a:r>
            <a:endParaRPr lang="en-US" sz="1600" b="1" dirty="0" smtClean="0">
              <a:solidFill>
                <a:srgbClr val="FFFF00"/>
              </a:solidFill>
            </a:endParaRPr>
          </a:p>
        </p:txBody>
      </p:sp>
      <p:sp>
        <p:nvSpPr>
          <p:cNvPr id="3" name="Date Placeholder 2"/>
          <p:cNvSpPr>
            <a:spLocks noGrp="1"/>
          </p:cNvSpPr>
          <p:nvPr>
            <p:ph type="dt" sz="half" idx="10"/>
          </p:nvPr>
        </p:nvSpPr>
        <p:spPr/>
        <p:txBody>
          <a:bodyPr/>
          <a:lstStyle/>
          <a:p>
            <a:pPr>
              <a:defRPr/>
            </a:pPr>
            <a:fld id="{63723F79-97AF-4A0D-AE0E-29817301D26E}" type="datetime1">
              <a:rPr lang="en-US" smtClean="0"/>
              <a:pPr>
                <a:defRPr/>
              </a:pPr>
              <a:t>8/22/2017</a:t>
            </a:fld>
            <a:endParaRPr lang="en-GB" dirty="0"/>
          </a:p>
        </p:txBody>
      </p:sp>
      <p:sp>
        <p:nvSpPr>
          <p:cNvPr id="4" name="Footer Placeholder 3"/>
          <p:cNvSpPr>
            <a:spLocks noGrp="1"/>
          </p:cNvSpPr>
          <p:nvPr>
            <p:ph type="ftr" sz="quarter" idx="11"/>
          </p:nvPr>
        </p:nvSpPr>
        <p:spPr/>
        <p:txBody>
          <a:bodyPr/>
          <a:lstStyle/>
          <a:p>
            <a:pPr>
              <a:defRPr/>
            </a:pPr>
            <a:r>
              <a:rPr lang="en-GB" smtClean="0"/>
              <a:t>Spam and Cybercrime</a:t>
            </a:r>
            <a:endParaRPr lang="en-GB" dirty="0"/>
          </a:p>
        </p:txBody>
      </p:sp>
      <p:sp>
        <p:nvSpPr>
          <p:cNvPr id="5" name="Slide Number Placeholder 4"/>
          <p:cNvSpPr>
            <a:spLocks noGrp="1"/>
          </p:cNvSpPr>
          <p:nvPr>
            <p:ph type="sldNum" sz="quarter" idx="12"/>
          </p:nvPr>
        </p:nvSpPr>
        <p:spPr/>
        <p:txBody>
          <a:bodyPr/>
          <a:lstStyle/>
          <a:p>
            <a:pPr>
              <a:defRPr/>
            </a:pPr>
            <a:fld id="{15ED07B6-4F8B-4A75-8967-0B9D2C1D8C59}" type="slidenum">
              <a:rPr lang="en-GB" smtClean="0"/>
              <a:pPr>
                <a:defRPr/>
              </a:pPr>
              <a:t>22</a:t>
            </a:fld>
            <a:endParaRPr lang="en-GB" dirty="0"/>
          </a:p>
        </p:txBody>
      </p:sp>
    </p:spTree>
    <p:extLst>
      <p:ext uri="{BB962C8B-B14F-4D97-AF65-F5344CB8AC3E}">
        <p14:creationId xmlns:p14="http://schemas.microsoft.com/office/powerpoint/2010/main" val="257829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Email Spam?</a:t>
            </a:r>
            <a:endParaRPr lang="en-US" dirty="0"/>
          </a:p>
        </p:txBody>
      </p:sp>
      <p:sp>
        <p:nvSpPr>
          <p:cNvPr id="3" name="Content Placeholder 2"/>
          <p:cNvSpPr>
            <a:spLocks noGrp="1"/>
          </p:cNvSpPr>
          <p:nvPr>
            <p:ph idx="1"/>
          </p:nvPr>
        </p:nvSpPr>
        <p:spPr>
          <a:xfrm>
            <a:off x="457200" y="1371600"/>
            <a:ext cx="8228013" cy="4953000"/>
          </a:xfrm>
        </p:spPr>
        <p:txBody>
          <a:bodyPr>
            <a:normAutofit fontScale="70000" lnSpcReduction="20000"/>
          </a:bodyPr>
          <a:lstStyle/>
          <a:p>
            <a:pPr>
              <a:lnSpc>
                <a:spcPct val="120000"/>
              </a:lnSpc>
            </a:pPr>
            <a:r>
              <a:rPr lang="en-US" dirty="0" smtClean="0"/>
              <a:t>Email spam is often defined as </a:t>
            </a:r>
            <a:r>
              <a:rPr lang="en-US" dirty="0" smtClean="0">
                <a:solidFill>
                  <a:schemeClr val="accent6"/>
                </a:solidFill>
              </a:rPr>
              <a:t>unsolicited bulk email</a:t>
            </a:r>
          </a:p>
          <a:p>
            <a:pPr lvl="1">
              <a:lnSpc>
                <a:spcPct val="120000"/>
              </a:lnSpc>
            </a:pPr>
            <a:r>
              <a:rPr lang="en-US" dirty="0" smtClean="0">
                <a:solidFill>
                  <a:schemeClr val="tx1"/>
                </a:solidFill>
              </a:rPr>
              <a:t>Forbidden by all major ISPs</a:t>
            </a:r>
          </a:p>
          <a:p>
            <a:pPr lvl="1">
              <a:lnSpc>
                <a:spcPct val="120000"/>
              </a:lnSpc>
            </a:pPr>
            <a:r>
              <a:rPr lang="en-US" dirty="0" smtClean="0">
                <a:solidFill>
                  <a:schemeClr val="tx1"/>
                </a:solidFill>
              </a:rPr>
              <a:t>Considered “acceptable business practice” by US Direct Marketing Association (DMA)</a:t>
            </a:r>
          </a:p>
          <a:p>
            <a:pPr>
              <a:lnSpc>
                <a:spcPct val="120000"/>
              </a:lnSpc>
            </a:pPr>
            <a:r>
              <a:rPr lang="en-US" dirty="0" smtClean="0">
                <a:solidFill>
                  <a:schemeClr val="tx1"/>
                </a:solidFill>
              </a:rPr>
              <a:t>Unsolicited email and bulk email are individually acceptable practices for people, business, and organizations</a:t>
            </a:r>
          </a:p>
          <a:p>
            <a:pPr>
              <a:lnSpc>
                <a:spcPct val="120000"/>
              </a:lnSpc>
            </a:pPr>
            <a:r>
              <a:rPr lang="en-US" dirty="0" smtClean="0">
                <a:solidFill>
                  <a:schemeClr val="tx1"/>
                </a:solidFill>
              </a:rPr>
              <a:t>Spam arises from the combination of unsolicited and bulk</a:t>
            </a:r>
          </a:p>
          <a:p>
            <a:pPr>
              <a:lnSpc>
                <a:spcPct val="120000"/>
              </a:lnSpc>
            </a:pPr>
            <a:r>
              <a:rPr lang="en-US" dirty="0" smtClean="0">
                <a:solidFill>
                  <a:schemeClr val="tx1"/>
                </a:solidFill>
              </a:rPr>
              <a:t>In classifying email as spam, content does not matter</a:t>
            </a:r>
          </a:p>
          <a:p>
            <a:pPr>
              <a:lnSpc>
                <a:spcPct val="120000"/>
              </a:lnSpc>
            </a:pPr>
            <a:r>
              <a:rPr lang="en-US" dirty="0" smtClean="0">
                <a:solidFill>
                  <a:schemeClr val="tx1"/>
                </a:solidFill>
              </a:rPr>
              <a:t>The US CAN-SPAM act (2004) regrettably protects commercial spam provided some requirements are satisfied, including:</a:t>
            </a:r>
          </a:p>
          <a:p>
            <a:pPr lvl="1">
              <a:lnSpc>
                <a:spcPct val="120000"/>
              </a:lnSpc>
            </a:pPr>
            <a:r>
              <a:rPr lang="en-US" dirty="0" smtClean="0">
                <a:solidFill>
                  <a:schemeClr val="tx1"/>
                </a:solidFill>
              </a:rPr>
              <a:t>Opt-out mechanism</a:t>
            </a:r>
          </a:p>
          <a:p>
            <a:pPr lvl="1">
              <a:lnSpc>
                <a:spcPct val="120000"/>
              </a:lnSpc>
            </a:pPr>
            <a:r>
              <a:rPr lang="en-US" dirty="0" smtClean="0">
                <a:solidFill>
                  <a:schemeClr val="tx1"/>
                </a:solidFill>
              </a:rPr>
              <a:t>Sender clearly identified and subject line not deceptive</a:t>
            </a:r>
          </a:p>
          <a:p>
            <a:pPr lvl="1">
              <a:lnSpc>
                <a:spcPct val="120000"/>
              </a:lnSpc>
            </a:pPr>
            <a:r>
              <a:rPr lang="en-US" dirty="0" smtClean="0">
                <a:solidFill>
                  <a:schemeClr val="tx1"/>
                </a:solidFill>
              </a:rPr>
              <a:t>Adult material labeled in subject line</a:t>
            </a:r>
          </a:p>
        </p:txBody>
      </p:sp>
      <p:sp>
        <p:nvSpPr>
          <p:cNvPr id="4" name="Date Placeholder 3"/>
          <p:cNvSpPr>
            <a:spLocks noGrp="1"/>
          </p:cNvSpPr>
          <p:nvPr>
            <p:ph type="dt" sz="half" idx="10"/>
          </p:nvPr>
        </p:nvSpPr>
        <p:spPr/>
        <p:txBody>
          <a:bodyPr/>
          <a:lstStyle/>
          <a:p>
            <a:pPr>
              <a:defRPr/>
            </a:pPr>
            <a:fld id="{89DBBE2D-167B-4662-802F-418F6182D062}"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23</a:t>
            </a:fld>
            <a:endParaRPr lang="en-GB" dirty="0"/>
          </a:p>
        </p:txBody>
      </p:sp>
    </p:spTree>
    <p:extLst>
      <p:ext uri="{BB962C8B-B14F-4D97-AF65-F5344CB8AC3E}">
        <p14:creationId xmlns:p14="http://schemas.microsoft.com/office/powerpoint/2010/main" val="3232906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Who Responds to Spam anyhow?</a:t>
            </a:r>
            <a:endParaRPr lang="en-US" dirty="0"/>
          </a:p>
        </p:txBody>
      </p:sp>
      <p:sp>
        <p:nvSpPr>
          <p:cNvPr id="4" name="Date Placeholder 3"/>
          <p:cNvSpPr>
            <a:spLocks noGrp="1"/>
          </p:cNvSpPr>
          <p:nvPr>
            <p:ph type="dt" sz="half" idx="10"/>
          </p:nvPr>
        </p:nvSpPr>
        <p:spPr/>
        <p:txBody>
          <a:bodyPr/>
          <a:lstStyle/>
          <a:p>
            <a:pPr>
              <a:defRPr/>
            </a:pPr>
            <a:fld id="{619F35DB-293E-41C4-89B9-B50B65689D7F}"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dirty="0" smtClean="0"/>
              <a:t>Spam and Cybercrime</a:t>
            </a:r>
            <a:endParaRPr lang="en-GB" dirty="0"/>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24</a:t>
            </a:fld>
            <a:endParaRPr lang="en-GB" dirty="0"/>
          </a:p>
        </p:txBody>
      </p:sp>
      <p:sp>
        <p:nvSpPr>
          <p:cNvPr id="11" name="TextBox 10"/>
          <p:cNvSpPr txBox="1"/>
          <p:nvPr/>
        </p:nvSpPr>
        <p:spPr>
          <a:xfrm>
            <a:off x="3048000" y="5659803"/>
            <a:ext cx="3124200" cy="664797"/>
          </a:xfrm>
          <a:prstGeom prst="rect">
            <a:avLst/>
          </a:prstGeom>
          <a:noFill/>
        </p:spPr>
        <p:txBody>
          <a:bodyPr wrap="square" rtlCol="0">
            <a:spAutoFit/>
          </a:bodyPr>
          <a:lstStyle/>
          <a:p>
            <a:r>
              <a:rPr lang="en-US" sz="2000" dirty="0" smtClean="0">
                <a:solidFill>
                  <a:srgbClr val="FFFF00"/>
                </a:solidFill>
              </a:rPr>
              <a:t>A princess in Nigeria wants to send me money!</a:t>
            </a:r>
            <a:endParaRPr lang="en-US" sz="2000" dirty="0">
              <a:solidFill>
                <a:srgbClr val="FFFF00"/>
              </a:solidFill>
            </a:endParaRPr>
          </a:p>
        </p:txBody>
      </p:sp>
      <p:pic>
        <p:nvPicPr>
          <p:cNvPr id="12" name="Picture 11" descr="10-09c.tif"/>
          <p:cNvPicPr>
            <a:picLocks noChangeAspect="1"/>
          </p:cNvPicPr>
          <p:nvPr/>
        </p:nvPicPr>
        <p:blipFill>
          <a:blip r:embed="rId2" cstate="print"/>
          <a:stretch>
            <a:fillRect/>
          </a:stretch>
        </p:blipFill>
        <p:spPr>
          <a:xfrm>
            <a:off x="3008515" y="1597867"/>
            <a:ext cx="2876942" cy="3962400"/>
          </a:xfrm>
          <a:prstGeom prst="rect">
            <a:avLst/>
          </a:prstGeom>
          <a:ln w="28575">
            <a:solidFill>
              <a:srgbClr val="FFFF00"/>
            </a:solidFill>
          </a:ln>
        </p:spPr>
      </p:pic>
    </p:spTree>
    <p:extLst>
      <p:ext uri="{BB962C8B-B14F-4D97-AF65-F5344CB8AC3E}">
        <p14:creationId xmlns:p14="http://schemas.microsoft.com/office/powerpoint/2010/main" val="1818034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Spam Conversion</a:t>
            </a:r>
            <a:endParaRPr lang="en-US" dirty="0"/>
          </a:p>
        </p:txBody>
      </p:sp>
      <p:sp>
        <p:nvSpPr>
          <p:cNvPr id="3" name="Content Placeholder 2"/>
          <p:cNvSpPr>
            <a:spLocks noGrp="1"/>
          </p:cNvSpPr>
          <p:nvPr>
            <p:ph idx="1"/>
          </p:nvPr>
        </p:nvSpPr>
        <p:spPr>
          <a:xfrm>
            <a:off x="457201" y="1447800"/>
            <a:ext cx="5029199" cy="2971800"/>
          </a:xfrm>
        </p:spPr>
        <p:txBody>
          <a:bodyPr>
            <a:normAutofit fontScale="85000" lnSpcReduction="20000"/>
          </a:bodyPr>
          <a:lstStyle/>
          <a:p>
            <a:pPr>
              <a:lnSpc>
                <a:spcPct val="120000"/>
              </a:lnSpc>
            </a:pPr>
            <a:r>
              <a:rPr lang="en-US" dirty="0" smtClean="0"/>
              <a:t>Empirical study [</a:t>
            </a:r>
            <a:r>
              <a:rPr lang="en-US" dirty="0" err="1" smtClean="0">
                <a:hlinkClick r:id="rId2"/>
              </a:rPr>
              <a:t>Kanich</a:t>
            </a:r>
            <a:r>
              <a:rPr lang="en-US" dirty="0" smtClean="0">
                <a:hlinkClick r:id="rId2"/>
              </a:rPr>
              <a:t>+ 2008</a:t>
            </a:r>
            <a:r>
              <a:rPr lang="en-US" dirty="0" smtClean="0"/>
              <a:t>]</a:t>
            </a:r>
          </a:p>
          <a:p>
            <a:pPr lvl="1">
              <a:lnSpc>
                <a:spcPct val="120000"/>
              </a:lnSpc>
            </a:pPr>
            <a:r>
              <a:rPr lang="en-US" dirty="0" smtClean="0"/>
              <a:t>Parasitic infiltration into </a:t>
            </a:r>
            <a:r>
              <a:rPr lang="en-US" dirty="0" err="1" smtClean="0"/>
              <a:t>botnet</a:t>
            </a:r>
            <a:r>
              <a:rPr lang="en-US" dirty="0" smtClean="0"/>
              <a:t> launching spam campaign for “Canadian drugs”</a:t>
            </a:r>
          </a:p>
          <a:p>
            <a:pPr lvl="1">
              <a:lnSpc>
                <a:spcPct val="120000"/>
              </a:lnSpc>
            </a:pPr>
            <a:r>
              <a:rPr lang="en-US" dirty="0" smtClean="0"/>
              <a:t>28 conversions, yielding $3K, from 300M spam messages over 26 days</a:t>
            </a:r>
          </a:p>
        </p:txBody>
      </p:sp>
      <p:sp>
        <p:nvSpPr>
          <p:cNvPr id="4" name="Date Placeholder 3"/>
          <p:cNvSpPr>
            <a:spLocks noGrp="1"/>
          </p:cNvSpPr>
          <p:nvPr>
            <p:ph type="dt" sz="half" idx="10"/>
          </p:nvPr>
        </p:nvSpPr>
        <p:spPr/>
        <p:txBody>
          <a:bodyPr/>
          <a:lstStyle/>
          <a:p>
            <a:pPr>
              <a:defRPr/>
            </a:pPr>
            <a:fld id="{619F35DB-293E-41C4-89B9-B50B65689D7F}"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dirty="0" smtClean="0"/>
              <a:t>Spam and Cybercrime</a:t>
            </a:r>
            <a:endParaRPr lang="en-GB" dirty="0"/>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25</a:t>
            </a:fld>
            <a:endParaRPr lang="en-GB" dirty="0"/>
          </a:p>
        </p:txBody>
      </p:sp>
      <p:pic>
        <p:nvPicPr>
          <p:cNvPr id="22534" name="Picture 6"/>
          <p:cNvPicPr>
            <a:picLocks noChangeAspect="1" noChangeArrowheads="1"/>
          </p:cNvPicPr>
          <p:nvPr/>
        </p:nvPicPr>
        <p:blipFill>
          <a:blip r:embed="rId3" cstate="print"/>
          <a:srcRect/>
          <a:stretch>
            <a:fillRect/>
          </a:stretch>
        </p:blipFill>
        <p:spPr bwMode="auto">
          <a:xfrm>
            <a:off x="1066800" y="4495800"/>
            <a:ext cx="4133850" cy="1752889"/>
          </a:xfrm>
          <a:prstGeom prst="rect">
            <a:avLst/>
          </a:prstGeom>
          <a:noFill/>
          <a:ln w="9525">
            <a:noFill/>
            <a:miter lim="800000"/>
            <a:headEnd/>
            <a:tailEnd/>
          </a:ln>
          <a:effectLst/>
        </p:spPr>
      </p:pic>
      <p:sp>
        <p:nvSpPr>
          <p:cNvPr id="13" name="TextBox 12"/>
          <p:cNvSpPr txBox="1"/>
          <p:nvPr/>
        </p:nvSpPr>
        <p:spPr>
          <a:xfrm>
            <a:off x="6184809" y="6136316"/>
            <a:ext cx="2044791" cy="493084"/>
          </a:xfrm>
          <a:prstGeom prst="rect">
            <a:avLst/>
          </a:prstGeom>
          <a:noFill/>
        </p:spPr>
        <p:txBody>
          <a:bodyPr wrap="none" rtlCol="0">
            <a:spAutoFit/>
          </a:bodyPr>
          <a:lstStyle/>
          <a:p>
            <a:r>
              <a:rPr lang="en-US" sz="1400" dirty="0" smtClean="0">
                <a:solidFill>
                  <a:srgbClr val="FFFF00"/>
                </a:solidFill>
              </a:rPr>
              <a:t>Yes, Honey, you </a:t>
            </a:r>
            <a:r>
              <a:rPr lang="en-US" sz="1400" b="1" i="1" dirty="0" smtClean="0">
                <a:solidFill>
                  <a:srgbClr val="FFFF00"/>
                </a:solidFill>
              </a:rPr>
              <a:t>could </a:t>
            </a:r>
          </a:p>
          <a:p>
            <a:r>
              <a:rPr lang="en-US" sz="1400" dirty="0" smtClean="0">
                <a:solidFill>
                  <a:srgbClr val="FFFF00"/>
                </a:solidFill>
              </a:rPr>
              <a:t>benefit from that drug.</a:t>
            </a:r>
            <a:endParaRPr lang="en-US" sz="1400" dirty="0">
              <a:solidFill>
                <a:srgbClr val="FFFF00"/>
              </a:solidFill>
            </a:endParaRPr>
          </a:p>
        </p:txBody>
      </p:sp>
      <p:pic>
        <p:nvPicPr>
          <p:cNvPr id="14" name="Picture 13" descr="10-09b.tif"/>
          <p:cNvPicPr>
            <a:picLocks noChangeAspect="1"/>
          </p:cNvPicPr>
          <p:nvPr/>
        </p:nvPicPr>
        <p:blipFill>
          <a:blip r:embed="rId4" cstate="print"/>
          <a:stretch>
            <a:fillRect/>
          </a:stretch>
        </p:blipFill>
        <p:spPr>
          <a:xfrm>
            <a:off x="6226374" y="3598380"/>
            <a:ext cx="1883664" cy="2514600"/>
          </a:xfrm>
          <a:prstGeom prst="rect">
            <a:avLst/>
          </a:prstGeom>
          <a:ln w="28575">
            <a:solidFill>
              <a:srgbClr val="FFFF00"/>
            </a:solidFill>
          </a:ln>
        </p:spPr>
      </p:pic>
      <p:pic>
        <p:nvPicPr>
          <p:cNvPr id="15" name="Picture 5"/>
          <p:cNvPicPr>
            <a:picLocks noChangeAspect="1" noChangeArrowheads="1"/>
          </p:cNvPicPr>
          <p:nvPr/>
        </p:nvPicPr>
        <p:blipFill>
          <a:blip r:embed="rId5" cstate="print"/>
          <a:srcRect/>
          <a:stretch>
            <a:fillRect/>
          </a:stretch>
        </p:blipFill>
        <p:spPr bwMode="auto">
          <a:xfrm>
            <a:off x="5638800" y="762000"/>
            <a:ext cx="3171825" cy="2260464"/>
          </a:xfrm>
          <a:prstGeom prst="rect">
            <a:avLst/>
          </a:prstGeom>
          <a:noFill/>
          <a:ln w="9525">
            <a:noFill/>
            <a:miter lim="800000"/>
            <a:headEnd/>
            <a:tailEnd/>
          </a:ln>
          <a:effectLst/>
        </p:spPr>
      </p:pic>
    </p:spTree>
    <p:extLst>
      <p:ext uri="{BB962C8B-B14F-4D97-AF65-F5344CB8AC3E}">
        <p14:creationId xmlns:p14="http://schemas.microsoft.com/office/powerpoint/2010/main" val="2522047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Blacklisting</a:t>
            </a:r>
            <a:endParaRPr lang="en-US" dirty="0"/>
          </a:p>
        </p:txBody>
      </p:sp>
      <p:sp>
        <p:nvSpPr>
          <p:cNvPr id="3" name="Content Placeholder 2"/>
          <p:cNvSpPr>
            <a:spLocks noGrp="1"/>
          </p:cNvSpPr>
          <p:nvPr>
            <p:ph idx="1"/>
          </p:nvPr>
        </p:nvSpPr>
        <p:spPr>
          <a:xfrm>
            <a:off x="457200" y="1219200"/>
            <a:ext cx="8228013" cy="3124200"/>
          </a:xfrm>
        </p:spPr>
        <p:txBody>
          <a:bodyPr numCol="2">
            <a:normAutofit fontScale="70000" lnSpcReduction="20000"/>
          </a:bodyPr>
          <a:lstStyle/>
          <a:p>
            <a:pPr>
              <a:lnSpc>
                <a:spcPct val="110000"/>
              </a:lnSpc>
            </a:pPr>
            <a:r>
              <a:rPr lang="en-US" dirty="0" err="1" smtClean="0"/>
              <a:t>Spamhaus</a:t>
            </a:r>
            <a:r>
              <a:rPr lang="en-US" dirty="0" smtClean="0"/>
              <a:t> Black List (SBL)</a:t>
            </a:r>
          </a:p>
          <a:p>
            <a:pPr lvl="1">
              <a:lnSpc>
                <a:spcPct val="110000"/>
              </a:lnSpc>
            </a:pPr>
            <a:r>
              <a:rPr lang="en-US" dirty="0" smtClean="0"/>
              <a:t>Real-time database of IP addresses of verified spam sources</a:t>
            </a:r>
          </a:p>
          <a:p>
            <a:pPr lvl="1">
              <a:lnSpc>
                <a:spcPct val="110000"/>
              </a:lnSpc>
            </a:pPr>
            <a:r>
              <a:rPr lang="en-US" dirty="0" smtClean="0"/>
              <a:t>Eliminates about 10% of spam before transmission takes place</a:t>
            </a:r>
          </a:p>
          <a:p>
            <a:pPr lvl="1">
              <a:lnSpc>
                <a:spcPct val="110000"/>
              </a:lnSpc>
            </a:pPr>
            <a:r>
              <a:rPr lang="en-US" dirty="0" smtClean="0"/>
              <a:t>Formal listing and delisting procedures</a:t>
            </a:r>
          </a:p>
          <a:p>
            <a:pPr lvl="1">
              <a:lnSpc>
                <a:spcPct val="110000"/>
              </a:lnSpc>
            </a:pPr>
            <a:r>
              <a:rPr lang="en-US" dirty="0" smtClean="0"/>
              <a:t>More than 600M email users protected by SBL</a:t>
            </a:r>
          </a:p>
          <a:p>
            <a:pPr>
              <a:lnSpc>
                <a:spcPct val="110000"/>
              </a:lnSpc>
            </a:pPr>
            <a:r>
              <a:rPr lang="en-US" dirty="0" smtClean="0"/>
              <a:t>How to circumvent blacklisting</a:t>
            </a:r>
          </a:p>
          <a:p>
            <a:pPr lvl="1">
              <a:lnSpc>
                <a:spcPct val="110000"/>
              </a:lnSpc>
            </a:pPr>
            <a:r>
              <a:rPr lang="en-US" dirty="0" smtClean="0"/>
              <a:t>Powerful blacklisted spam server impersonates small unlisted zombie</a:t>
            </a:r>
          </a:p>
          <a:p>
            <a:pPr lvl="1">
              <a:lnSpc>
                <a:spcPct val="110000"/>
              </a:lnSpc>
            </a:pPr>
            <a:r>
              <a:rPr lang="en-US" dirty="0" smtClean="0"/>
              <a:t>Initiate TCP handshake from zombie</a:t>
            </a:r>
          </a:p>
          <a:p>
            <a:pPr lvl="1">
              <a:lnSpc>
                <a:spcPct val="110000"/>
              </a:lnSpc>
            </a:pPr>
            <a:r>
              <a:rPr lang="en-US" dirty="0" smtClean="0"/>
              <a:t>Send bulk email from spam server using spoofed source IP and TCP sequence numbers</a:t>
            </a:r>
            <a:endParaRPr lang="en-US" dirty="0"/>
          </a:p>
        </p:txBody>
      </p:sp>
      <p:sp>
        <p:nvSpPr>
          <p:cNvPr id="4" name="Date Placeholder 3"/>
          <p:cNvSpPr>
            <a:spLocks noGrp="1"/>
          </p:cNvSpPr>
          <p:nvPr>
            <p:ph type="dt" sz="half" idx="10"/>
          </p:nvPr>
        </p:nvSpPr>
        <p:spPr/>
        <p:txBody>
          <a:bodyPr/>
          <a:lstStyle/>
          <a:p>
            <a:pPr>
              <a:defRPr/>
            </a:pPr>
            <a:fld id="{52686A59-BE7B-4F91-8E32-7C724BEC51C8}" type="datetime1">
              <a:rPr lang="en-US" smtClean="0"/>
              <a:pPr>
                <a:defRPr/>
              </a:pPr>
              <a:t>8/22/2017</a:t>
            </a:fld>
            <a:endParaRPr lang="en-GB" dirty="0"/>
          </a:p>
        </p:txBody>
      </p:sp>
      <p:sp>
        <p:nvSpPr>
          <p:cNvPr id="5" name="Footer Placeholder 4"/>
          <p:cNvSpPr>
            <a:spLocks noGrp="1"/>
          </p:cNvSpPr>
          <p:nvPr>
            <p:ph type="ftr" sz="quarte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26</a:t>
            </a:fld>
            <a:endParaRPr lang="en-GB"/>
          </a:p>
        </p:txBody>
      </p:sp>
      <p:grpSp>
        <p:nvGrpSpPr>
          <p:cNvPr id="24" name="Group 23"/>
          <p:cNvGrpSpPr/>
          <p:nvPr/>
        </p:nvGrpSpPr>
        <p:grpSpPr>
          <a:xfrm>
            <a:off x="1066800" y="4343400"/>
            <a:ext cx="7543800" cy="1905000"/>
            <a:chOff x="304800" y="4343400"/>
            <a:chExt cx="7543800" cy="1905000"/>
          </a:xfrm>
        </p:grpSpPr>
        <p:sp>
          <p:nvSpPr>
            <p:cNvPr id="7" name="Rectangle 6"/>
            <p:cNvSpPr/>
            <p:nvPr/>
          </p:nvSpPr>
          <p:spPr bwMode="auto">
            <a:xfrm>
              <a:off x="1752600" y="4343400"/>
              <a:ext cx="1066800" cy="381000"/>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57200" rtl="0" eaLnBrk="0" fontAlgn="base" latinLnBrk="0" hangingPunct="0">
                <a:lnSpc>
                  <a:spcPct val="93000"/>
                </a:lnSpc>
                <a:spcBef>
                  <a:spcPct val="0"/>
                </a:spcBef>
                <a:spcAft>
                  <a:spcPct val="0"/>
                </a:spcAft>
                <a:buClr>
                  <a:srgbClr val="000000"/>
                </a:buClr>
                <a:buSzPct val="100000"/>
                <a:buFont typeface="Arial" charset="0"/>
                <a:buNone/>
                <a:tabLst/>
              </a:pPr>
              <a:r>
                <a:rPr kumimoji="0" lang="en-US" sz="2000" b="0" i="0" u="none" strike="noStrike" cap="none" normalizeH="0" baseline="0" dirty="0" smtClean="0">
                  <a:ln>
                    <a:noFill/>
                  </a:ln>
                  <a:solidFill>
                    <a:schemeClr val="bg1"/>
                  </a:solidFill>
                  <a:effectLst/>
                  <a:latin typeface="Arial" charset="0"/>
                </a:rPr>
                <a:t>zombie</a:t>
              </a:r>
            </a:p>
          </p:txBody>
        </p:sp>
        <p:sp>
          <p:nvSpPr>
            <p:cNvPr id="8" name="Rectangle 7"/>
            <p:cNvSpPr/>
            <p:nvPr/>
          </p:nvSpPr>
          <p:spPr bwMode="auto">
            <a:xfrm>
              <a:off x="1371600" y="5410200"/>
              <a:ext cx="1828800" cy="838200"/>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57200" rtl="0" eaLnBrk="0" fontAlgn="base" latinLnBrk="0" hangingPunct="0">
                <a:lnSpc>
                  <a:spcPct val="93000"/>
                </a:lnSpc>
                <a:spcBef>
                  <a:spcPct val="0"/>
                </a:spcBef>
                <a:spcAft>
                  <a:spcPct val="0"/>
                </a:spcAft>
                <a:buClr>
                  <a:srgbClr val="000000"/>
                </a:buClr>
                <a:buSzPct val="100000"/>
                <a:buFont typeface="Arial" charset="0"/>
                <a:buNone/>
                <a:tabLst/>
              </a:pPr>
              <a:r>
                <a:rPr kumimoji="0" lang="en-US" sz="2400" b="0" i="0" u="none" strike="noStrike" cap="none" normalizeH="0" baseline="0" dirty="0" smtClean="0">
                  <a:ln>
                    <a:noFill/>
                  </a:ln>
                  <a:solidFill>
                    <a:schemeClr val="bg1"/>
                  </a:solidFill>
                  <a:effectLst/>
                  <a:latin typeface="Arial" charset="0"/>
                </a:rPr>
                <a:t>spam server</a:t>
              </a:r>
            </a:p>
          </p:txBody>
        </p:sp>
        <p:sp>
          <p:nvSpPr>
            <p:cNvPr id="9" name="Rectangle 8"/>
            <p:cNvSpPr/>
            <p:nvPr/>
          </p:nvSpPr>
          <p:spPr bwMode="auto">
            <a:xfrm>
              <a:off x="6172200" y="4953000"/>
              <a:ext cx="1676400" cy="8382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57200" rtl="0" eaLnBrk="0" fontAlgn="base" latinLnBrk="0" hangingPunct="0">
                <a:lnSpc>
                  <a:spcPct val="93000"/>
                </a:lnSpc>
                <a:spcBef>
                  <a:spcPct val="0"/>
                </a:spcBef>
                <a:spcAft>
                  <a:spcPct val="0"/>
                </a:spcAft>
                <a:buClr>
                  <a:srgbClr val="000000"/>
                </a:buClr>
                <a:buSzPct val="100000"/>
                <a:buFont typeface="Arial" charset="0"/>
                <a:buNone/>
                <a:tabLst/>
              </a:pPr>
              <a:r>
                <a:rPr kumimoji="0" lang="en-US" sz="2400" b="0" i="0" u="none" strike="noStrike" cap="none" normalizeH="0" baseline="0" dirty="0" smtClean="0">
                  <a:ln>
                    <a:noFill/>
                  </a:ln>
                  <a:solidFill>
                    <a:schemeClr val="bg1"/>
                  </a:solidFill>
                  <a:effectLst/>
                  <a:latin typeface="Arial" charset="0"/>
                </a:rPr>
                <a:t>victim</a:t>
              </a:r>
            </a:p>
          </p:txBody>
        </p:sp>
        <p:cxnSp>
          <p:nvCxnSpPr>
            <p:cNvPr id="11" name="Straight Arrow Connector 10"/>
            <p:cNvCxnSpPr>
              <a:stCxn id="7" idx="3"/>
            </p:cNvCxnSpPr>
            <p:nvPr/>
          </p:nvCxnSpPr>
          <p:spPr bwMode="auto">
            <a:xfrm>
              <a:off x="2819400" y="4533900"/>
              <a:ext cx="3352800" cy="647700"/>
            </a:xfrm>
            <a:prstGeom prst="straightConnector1">
              <a:avLst/>
            </a:prstGeom>
            <a:solidFill>
              <a:srgbClr val="00B8FF"/>
            </a:solidFill>
            <a:ln w="19050" cap="flat" cmpd="sng" algn="ctr">
              <a:solidFill>
                <a:schemeClr val="tx1"/>
              </a:solidFill>
              <a:prstDash val="solid"/>
              <a:round/>
              <a:headEnd type="triangle" w="med" len="med"/>
              <a:tailEnd type="triangle" w="med" len="med"/>
            </a:ln>
            <a:effectLst/>
          </p:spPr>
        </p:cxnSp>
        <p:cxnSp>
          <p:nvCxnSpPr>
            <p:cNvPr id="13" name="Straight Arrow Connector 12"/>
            <p:cNvCxnSpPr>
              <a:stCxn id="7" idx="2"/>
              <a:endCxn id="8" idx="0"/>
            </p:cNvCxnSpPr>
            <p:nvPr/>
          </p:nvCxnSpPr>
          <p:spPr bwMode="auto">
            <a:xfrm rot="5400000">
              <a:off x="1943100" y="5067300"/>
              <a:ext cx="685800" cy="1588"/>
            </a:xfrm>
            <a:prstGeom prst="straightConnector1">
              <a:avLst/>
            </a:prstGeom>
            <a:solidFill>
              <a:srgbClr val="00B8FF"/>
            </a:solidFill>
            <a:ln w="19050" cap="flat" cmpd="sng" algn="ctr">
              <a:solidFill>
                <a:schemeClr val="tx1"/>
              </a:solidFill>
              <a:prstDash val="solid"/>
              <a:round/>
              <a:headEnd type="none" w="med" len="med"/>
              <a:tailEnd type="triangle" w="med" len="med"/>
            </a:ln>
            <a:effectLst/>
          </p:spPr>
        </p:cxnSp>
        <p:cxnSp>
          <p:nvCxnSpPr>
            <p:cNvPr id="15" name="Straight Arrow Connector 14"/>
            <p:cNvCxnSpPr>
              <a:stCxn id="8" idx="3"/>
            </p:cNvCxnSpPr>
            <p:nvPr/>
          </p:nvCxnSpPr>
          <p:spPr bwMode="auto">
            <a:xfrm flipV="1">
              <a:off x="3200400" y="5486400"/>
              <a:ext cx="2971800" cy="342900"/>
            </a:xfrm>
            <a:prstGeom prst="straightConnector1">
              <a:avLst/>
            </a:prstGeom>
            <a:solidFill>
              <a:srgbClr val="00B8FF"/>
            </a:solidFill>
            <a:ln w="76200" cap="flat" cmpd="sng" algn="ctr">
              <a:solidFill>
                <a:schemeClr val="tx1"/>
              </a:solidFill>
              <a:prstDash val="solid"/>
              <a:round/>
              <a:headEnd type="none" w="med" len="med"/>
              <a:tailEnd type="triangle" w="med" len="med"/>
            </a:ln>
            <a:effectLst/>
          </p:spPr>
        </p:cxnSp>
        <p:sp>
          <p:nvSpPr>
            <p:cNvPr id="18" name="TextBox 17"/>
            <p:cNvSpPr txBox="1"/>
            <p:nvPr/>
          </p:nvSpPr>
          <p:spPr>
            <a:xfrm>
              <a:off x="3962400" y="4419600"/>
              <a:ext cx="1834798" cy="349968"/>
            </a:xfrm>
            <a:prstGeom prst="rect">
              <a:avLst/>
            </a:prstGeom>
            <a:noFill/>
          </p:spPr>
          <p:txBody>
            <a:bodyPr wrap="none" rtlCol="0">
              <a:spAutoFit/>
            </a:bodyPr>
            <a:lstStyle/>
            <a:p>
              <a:r>
                <a:rPr lang="en-US" dirty="0" smtClean="0">
                  <a:solidFill>
                    <a:schemeClr val="tx1"/>
                  </a:solidFill>
                </a:rPr>
                <a:t>TCP handshake</a:t>
              </a:r>
              <a:endParaRPr lang="en-US" dirty="0">
                <a:solidFill>
                  <a:schemeClr val="tx1"/>
                </a:solidFill>
              </a:endParaRPr>
            </a:p>
          </p:txBody>
        </p:sp>
        <p:sp>
          <p:nvSpPr>
            <p:cNvPr id="19" name="TextBox 18"/>
            <p:cNvSpPr txBox="1"/>
            <p:nvPr/>
          </p:nvSpPr>
          <p:spPr>
            <a:xfrm>
              <a:off x="304800" y="4726398"/>
              <a:ext cx="1714743" cy="607602"/>
            </a:xfrm>
            <a:prstGeom prst="rect">
              <a:avLst/>
            </a:prstGeom>
            <a:noFill/>
          </p:spPr>
          <p:txBody>
            <a:bodyPr wrap="square" rtlCol="0">
              <a:spAutoFit/>
            </a:bodyPr>
            <a:lstStyle/>
            <a:p>
              <a:pPr algn="r"/>
              <a:r>
                <a:rPr lang="en-US" dirty="0" smtClean="0">
                  <a:solidFill>
                    <a:schemeClr val="tx1"/>
                  </a:solidFill>
                </a:rPr>
                <a:t>TCP sequence numbers</a:t>
              </a:r>
              <a:endParaRPr lang="en-US" dirty="0">
                <a:solidFill>
                  <a:schemeClr val="tx1"/>
                </a:solidFill>
              </a:endParaRPr>
            </a:p>
          </p:txBody>
        </p:sp>
        <p:sp>
          <p:nvSpPr>
            <p:cNvPr id="23" name="TextBox 22"/>
            <p:cNvSpPr txBox="1"/>
            <p:nvPr/>
          </p:nvSpPr>
          <p:spPr>
            <a:xfrm>
              <a:off x="3429000" y="5822232"/>
              <a:ext cx="2809423" cy="349968"/>
            </a:xfrm>
            <a:prstGeom prst="rect">
              <a:avLst/>
            </a:prstGeom>
            <a:noFill/>
          </p:spPr>
          <p:txBody>
            <a:bodyPr wrap="none" rtlCol="0">
              <a:spAutoFit/>
            </a:bodyPr>
            <a:lstStyle/>
            <a:p>
              <a:r>
                <a:rPr lang="en-US" dirty="0" smtClean="0">
                  <a:solidFill>
                    <a:schemeClr val="tx1"/>
                  </a:solidFill>
                </a:rPr>
                <a:t>SMTP spam transmission</a:t>
              </a:r>
              <a:endParaRPr lang="en-US" dirty="0">
                <a:solidFill>
                  <a:schemeClr val="tx1"/>
                </a:solidFill>
              </a:endParaRPr>
            </a:p>
          </p:txBody>
        </p:sp>
      </p:grpSp>
    </p:spTree>
    <p:extLst>
      <p:ext uri="{BB962C8B-B14F-4D97-AF65-F5344CB8AC3E}">
        <p14:creationId xmlns:p14="http://schemas.microsoft.com/office/powerpoint/2010/main" val="3230820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Graylisting</a:t>
            </a:r>
            <a:endParaRPr lang="en-US" dirty="0"/>
          </a:p>
        </p:txBody>
      </p:sp>
      <p:sp>
        <p:nvSpPr>
          <p:cNvPr id="3" name="Content Placeholder 2"/>
          <p:cNvSpPr>
            <a:spLocks noGrp="1"/>
          </p:cNvSpPr>
          <p:nvPr>
            <p:ph idx="1"/>
          </p:nvPr>
        </p:nvSpPr>
        <p:spPr/>
        <p:txBody>
          <a:bodyPr>
            <a:normAutofit fontScale="92500"/>
          </a:bodyPr>
          <a:lstStyle/>
          <a:p>
            <a:r>
              <a:rPr lang="en-US" dirty="0" smtClean="0"/>
              <a:t>Spam servers typically do not resend messages after transmission errors</a:t>
            </a:r>
          </a:p>
          <a:p>
            <a:r>
              <a:rPr lang="en-US" dirty="0" smtClean="0"/>
              <a:t>Maintain database of trusted servers</a:t>
            </a:r>
          </a:p>
          <a:p>
            <a:r>
              <a:rPr lang="en-US" dirty="0" smtClean="0"/>
              <a:t>Respond with “Busy, please retry” to SMPT connection requests from servers not in database</a:t>
            </a:r>
          </a:p>
          <a:p>
            <a:r>
              <a:rPr lang="en-US" dirty="0" smtClean="0"/>
              <a:t>Server added to database if reestablishes connection</a:t>
            </a:r>
          </a:p>
          <a:p>
            <a:r>
              <a:rPr lang="en-US" dirty="0" smtClean="0"/>
              <a:t>Currently effective although simple to circumvent</a:t>
            </a:r>
            <a:endParaRPr lang="en-US" dirty="0"/>
          </a:p>
        </p:txBody>
      </p:sp>
      <p:sp>
        <p:nvSpPr>
          <p:cNvPr id="4" name="Date Placeholder 3"/>
          <p:cNvSpPr>
            <a:spLocks noGrp="1"/>
          </p:cNvSpPr>
          <p:nvPr>
            <p:ph type="dt" sz="half" idx="10"/>
          </p:nvPr>
        </p:nvSpPr>
        <p:spPr/>
        <p:txBody>
          <a:bodyPr/>
          <a:lstStyle/>
          <a:p>
            <a:pPr>
              <a:defRPr/>
            </a:pPr>
            <a:fld id="{02C65AEB-396A-4409-BC0D-CB37B9EEB8B2}"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smtClean="0"/>
              <a:t>Spam and Cybercrime</a:t>
            </a:r>
            <a:endParaRPr lang="en-GB"/>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27</a:t>
            </a:fld>
            <a:endParaRPr lang="en-GB"/>
          </a:p>
        </p:txBody>
      </p:sp>
    </p:spTree>
    <p:extLst>
      <p:ext uri="{BB962C8B-B14F-4D97-AF65-F5344CB8AC3E}">
        <p14:creationId xmlns:p14="http://schemas.microsoft.com/office/powerpoint/2010/main" val="143207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1412"/>
          </a:xfrm>
        </p:spPr>
        <p:txBody>
          <a:bodyPr/>
          <a:lstStyle/>
          <a:p>
            <a:r>
              <a:rPr lang="en-US" sz="3400" dirty="0" smtClean="0"/>
              <a:t>Sender ID and Sender Policy Framework</a:t>
            </a:r>
            <a:endParaRPr lang="en-US" sz="3400" dirty="0"/>
          </a:p>
        </p:txBody>
      </p:sp>
      <p:sp>
        <p:nvSpPr>
          <p:cNvPr id="3" name="Content Placeholder 2"/>
          <p:cNvSpPr>
            <a:spLocks noGrp="1"/>
          </p:cNvSpPr>
          <p:nvPr>
            <p:ph idx="1"/>
          </p:nvPr>
        </p:nvSpPr>
        <p:spPr>
          <a:xfrm>
            <a:off x="457200" y="1447800"/>
            <a:ext cx="8228013" cy="1371600"/>
          </a:xfrm>
        </p:spPr>
        <p:txBody>
          <a:bodyPr numCol="2">
            <a:normAutofit fontScale="85000" lnSpcReduction="20000"/>
          </a:bodyPr>
          <a:lstStyle/>
          <a:p>
            <a:pPr>
              <a:lnSpc>
                <a:spcPct val="120000"/>
              </a:lnSpc>
            </a:pPr>
            <a:r>
              <a:rPr lang="en-US" dirty="0" smtClean="0"/>
              <a:t>Store DNS records about severs authorized to send mail for a given domain</a:t>
            </a:r>
          </a:p>
          <a:p>
            <a:pPr>
              <a:lnSpc>
                <a:spcPct val="120000"/>
              </a:lnSpc>
            </a:pPr>
            <a:r>
              <a:rPr lang="en-US" dirty="0" smtClean="0"/>
              <a:t>Look up domain in From header to find IP address of  authorized mail server</a:t>
            </a:r>
            <a:endParaRPr lang="en-US" dirty="0"/>
          </a:p>
        </p:txBody>
      </p:sp>
      <p:sp>
        <p:nvSpPr>
          <p:cNvPr id="4" name="Date Placeholder 3"/>
          <p:cNvSpPr>
            <a:spLocks noGrp="1"/>
          </p:cNvSpPr>
          <p:nvPr>
            <p:ph type="dt" sz="half" idx="10"/>
          </p:nvPr>
        </p:nvSpPr>
        <p:spPr/>
        <p:txBody>
          <a:bodyPr/>
          <a:lstStyle/>
          <a:p>
            <a:pPr>
              <a:defRPr/>
            </a:pPr>
            <a:fld id="{F90BDC32-E34D-41C3-A5E3-529712DD89FD}"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smtClean="0"/>
              <a:t>Spam and Cybercrime</a:t>
            </a:r>
            <a:endParaRPr lang="en-GB"/>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28</a:t>
            </a:fld>
            <a:endParaRPr lang="en-GB"/>
          </a:p>
        </p:txBody>
      </p:sp>
      <p:pic>
        <p:nvPicPr>
          <p:cNvPr id="23554" name="Picture 2"/>
          <p:cNvPicPr>
            <a:picLocks noChangeAspect="1" noChangeArrowheads="1"/>
          </p:cNvPicPr>
          <p:nvPr/>
        </p:nvPicPr>
        <p:blipFill>
          <a:blip r:embed="rId2" cstate="print"/>
          <a:srcRect/>
          <a:stretch>
            <a:fillRect/>
          </a:stretch>
        </p:blipFill>
        <p:spPr bwMode="auto">
          <a:xfrm>
            <a:off x="609599" y="2895600"/>
            <a:ext cx="6580909" cy="3429000"/>
          </a:xfrm>
          <a:prstGeom prst="rect">
            <a:avLst/>
          </a:prstGeom>
          <a:noFill/>
          <a:ln w="9525">
            <a:noFill/>
            <a:miter lim="800000"/>
            <a:headEnd/>
            <a:tailEnd/>
          </a:ln>
          <a:effectLst/>
        </p:spPr>
      </p:pic>
      <p:sp>
        <p:nvSpPr>
          <p:cNvPr id="8" name="TextBox 7"/>
          <p:cNvSpPr txBox="1"/>
          <p:nvPr/>
        </p:nvSpPr>
        <p:spPr>
          <a:xfrm>
            <a:off x="7239000" y="5716998"/>
            <a:ext cx="1676400" cy="607602"/>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smtClean="0">
                <a:solidFill>
                  <a:schemeClr val="bg1"/>
                </a:solidFill>
              </a:rPr>
              <a:t>Source: Microsoft </a:t>
            </a:r>
            <a:endParaRPr lang="en-US" dirty="0">
              <a:solidFill>
                <a:schemeClr val="bg1"/>
              </a:solidFill>
            </a:endParaRPr>
          </a:p>
        </p:txBody>
      </p:sp>
    </p:spTree>
    <p:extLst>
      <p:ext uri="{BB962C8B-B14F-4D97-AF65-F5344CB8AC3E}">
        <p14:creationId xmlns:p14="http://schemas.microsoft.com/office/powerpoint/2010/main" val="3468183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DomainKeys</a:t>
            </a:r>
            <a:r>
              <a:rPr lang="en-US" dirty="0" smtClean="0"/>
              <a:t> Identified Mail (DKIM)</a:t>
            </a:r>
            <a:endParaRPr lang="en-US" dirty="0"/>
          </a:p>
        </p:txBody>
      </p:sp>
      <p:sp>
        <p:nvSpPr>
          <p:cNvPr id="3" name="Content Placeholder 2"/>
          <p:cNvSpPr>
            <a:spLocks noGrp="1"/>
          </p:cNvSpPr>
          <p:nvPr>
            <p:ph idx="1"/>
          </p:nvPr>
        </p:nvSpPr>
        <p:spPr>
          <a:xfrm>
            <a:off x="457200" y="1295400"/>
            <a:ext cx="8228013" cy="1143000"/>
          </a:xfrm>
        </p:spPr>
        <p:txBody>
          <a:bodyPr>
            <a:normAutofit fontScale="70000" lnSpcReduction="20000"/>
          </a:bodyPr>
          <a:lstStyle/>
          <a:p>
            <a:pPr>
              <a:lnSpc>
                <a:spcPct val="120000"/>
              </a:lnSpc>
            </a:pPr>
            <a:r>
              <a:rPr lang="en-US" sz="2700" dirty="0" smtClean="0"/>
              <a:t>Sender’s mail server signs email to authenticate domain</a:t>
            </a:r>
          </a:p>
          <a:p>
            <a:pPr>
              <a:lnSpc>
                <a:spcPct val="120000"/>
              </a:lnSpc>
            </a:pPr>
            <a:r>
              <a:rPr lang="en-US" sz="2700" dirty="0" smtClean="0"/>
              <a:t>Public key of server available in DNS record</a:t>
            </a:r>
          </a:p>
          <a:p>
            <a:pPr>
              <a:lnSpc>
                <a:spcPct val="120000"/>
              </a:lnSpc>
            </a:pPr>
            <a:r>
              <a:rPr lang="en-US" sz="2700" dirty="0" smtClean="0"/>
              <a:t>To be used in conjunction with other spam filtering methods</a:t>
            </a:r>
            <a:endParaRPr lang="en-US" sz="2900" dirty="0" smtClean="0"/>
          </a:p>
        </p:txBody>
      </p:sp>
      <p:sp>
        <p:nvSpPr>
          <p:cNvPr id="4" name="Date Placeholder 3"/>
          <p:cNvSpPr>
            <a:spLocks noGrp="1"/>
          </p:cNvSpPr>
          <p:nvPr>
            <p:ph type="dt" sz="half" idx="10"/>
          </p:nvPr>
        </p:nvSpPr>
        <p:spPr/>
        <p:txBody>
          <a:bodyPr/>
          <a:lstStyle/>
          <a:p>
            <a:pPr>
              <a:defRPr/>
            </a:pPr>
            <a:fld id="{FF87840F-08C8-4A0F-A1DD-6CE0F4FF4202}" type="datetime1">
              <a:rPr lang="en-US" smtClean="0"/>
              <a:pPr>
                <a:defRPr/>
              </a:pPr>
              <a:t>8/22/2017</a:t>
            </a:fld>
            <a:endParaRPr lang="en-GB"/>
          </a:p>
        </p:txBody>
      </p:sp>
      <p:sp>
        <p:nvSpPr>
          <p:cNvPr id="5" name="Footer Placeholder 4"/>
          <p:cNvSpPr>
            <a:spLocks noGrp="1"/>
          </p:cNvSpPr>
          <p:nvPr>
            <p:ph type="ftr" sz="quarter" idx="11"/>
          </p:nvPr>
        </p:nvSpPr>
        <p:spPr/>
        <p:txBody>
          <a:bodyPr/>
          <a:lstStyle/>
          <a:p>
            <a:pPr>
              <a:defRPr/>
            </a:pPr>
            <a:r>
              <a:rPr lang="en-GB" smtClean="0"/>
              <a:t>Spam and Cybercrime</a:t>
            </a:r>
            <a:endParaRPr lang="en-GB"/>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29</a:t>
            </a:fld>
            <a:endParaRPr lang="en-GB" dirty="0"/>
          </a:p>
        </p:txBody>
      </p:sp>
      <p:sp>
        <p:nvSpPr>
          <p:cNvPr id="28" name="Rectangle 22"/>
          <p:cNvSpPr>
            <a:spLocks noChangeArrowheads="1"/>
          </p:cNvSpPr>
          <p:nvPr/>
        </p:nvSpPr>
        <p:spPr bwMode="auto">
          <a:xfrm>
            <a:off x="152400" y="5475287"/>
            <a:ext cx="4419600" cy="92551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nSpc>
                <a:spcPct val="100000"/>
              </a:lnSpc>
              <a:buClrTx/>
              <a:buSzTx/>
              <a:buFontTx/>
              <a:buNone/>
            </a:pPr>
            <a:r>
              <a:rPr lang="en-US" sz="1800" dirty="0" err="1">
                <a:solidFill>
                  <a:schemeClr val="accent3">
                    <a:lumMod val="75000"/>
                  </a:schemeClr>
                </a:solidFill>
              </a:rPr>
              <a:t>DomainKey</a:t>
            </a:r>
            <a:r>
              <a:rPr lang="en-US" sz="1800" dirty="0">
                <a:solidFill>
                  <a:schemeClr val="accent3">
                    <a:lumMod val="75000"/>
                  </a:schemeClr>
                </a:solidFill>
              </a:rPr>
              <a:t>-Signature:</a:t>
            </a:r>
            <a:r>
              <a:rPr lang="en-US" sz="1800" dirty="0">
                <a:solidFill>
                  <a:schemeClr val="tx1"/>
                </a:solidFill>
              </a:rPr>
              <a:t> </a:t>
            </a:r>
            <a:r>
              <a:rPr lang="en-US" sz="1800" dirty="0">
                <a:solidFill>
                  <a:schemeClr val="bg1"/>
                </a:solidFill>
              </a:rPr>
              <a:t>a=rsa-sha1; s=mail; 	d=example.net; c=simple; q=</a:t>
            </a:r>
            <a:r>
              <a:rPr lang="en-US" sz="1800" dirty="0" err="1">
                <a:solidFill>
                  <a:schemeClr val="bg1"/>
                </a:solidFill>
              </a:rPr>
              <a:t>dns</a:t>
            </a:r>
            <a:r>
              <a:rPr lang="en-US" sz="1800" dirty="0">
                <a:solidFill>
                  <a:schemeClr val="bg1"/>
                </a:solidFill>
              </a:rPr>
              <a:t>;</a:t>
            </a:r>
          </a:p>
          <a:p>
            <a:pPr>
              <a:lnSpc>
                <a:spcPct val="100000"/>
              </a:lnSpc>
              <a:buClrTx/>
              <a:buSzTx/>
              <a:buFontTx/>
              <a:buNone/>
            </a:pPr>
            <a:r>
              <a:rPr lang="en-US" sz="1800" dirty="0">
                <a:solidFill>
                  <a:schemeClr val="bg1"/>
                </a:solidFill>
              </a:rPr>
              <a:t>	b=</a:t>
            </a:r>
            <a:r>
              <a:rPr lang="en-US" sz="1800" dirty="0" err="1">
                <a:solidFill>
                  <a:schemeClr val="bg1"/>
                </a:solidFill>
              </a:rPr>
              <a:t>Fg</a:t>
            </a:r>
            <a:r>
              <a:rPr lang="en-US" sz="1800" dirty="0">
                <a:solidFill>
                  <a:schemeClr val="bg1"/>
                </a:solidFill>
              </a:rPr>
              <a:t>…5J</a:t>
            </a:r>
          </a:p>
        </p:txBody>
      </p:sp>
      <p:pic>
        <p:nvPicPr>
          <p:cNvPr id="31" name="Picture 3" descr="MCj01974380000[1]"/>
          <p:cNvPicPr>
            <a:picLocks noChangeAspect="1" noChangeArrowheads="1"/>
          </p:cNvPicPr>
          <p:nvPr/>
        </p:nvPicPr>
        <p:blipFill>
          <a:blip r:embed="rId2" cstate="print"/>
          <a:srcRect/>
          <a:stretch>
            <a:fillRect/>
          </a:stretch>
        </p:blipFill>
        <p:spPr bwMode="auto">
          <a:xfrm>
            <a:off x="1565275" y="3846512"/>
            <a:ext cx="865188" cy="1220788"/>
          </a:xfrm>
          <a:prstGeom prst="rect">
            <a:avLst/>
          </a:prstGeom>
          <a:noFill/>
        </p:spPr>
      </p:pic>
      <p:pic>
        <p:nvPicPr>
          <p:cNvPr id="32" name="Picture 5" descr="MCj04041590000[1]"/>
          <p:cNvPicPr>
            <a:picLocks noChangeAspect="1" noChangeArrowheads="1"/>
          </p:cNvPicPr>
          <p:nvPr/>
        </p:nvPicPr>
        <p:blipFill>
          <a:blip r:embed="rId3" cstate="print"/>
          <a:srcRect/>
          <a:stretch>
            <a:fillRect/>
          </a:stretch>
        </p:blipFill>
        <p:spPr bwMode="auto">
          <a:xfrm>
            <a:off x="2944813" y="2362200"/>
            <a:ext cx="865187" cy="866775"/>
          </a:xfrm>
          <a:prstGeom prst="rect">
            <a:avLst/>
          </a:prstGeom>
          <a:noFill/>
        </p:spPr>
      </p:pic>
      <p:sp>
        <p:nvSpPr>
          <p:cNvPr id="33" name="Text Box 6"/>
          <p:cNvSpPr txBox="1">
            <a:spLocks noChangeArrowheads="1"/>
          </p:cNvSpPr>
          <p:nvPr/>
        </p:nvSpPr>
        <p:spPr bwMode="auto">
          <a:xfrm>
            <a:off x="2895600" y="3124200"/>
            <a:ext cx="1544012" cy="646331"/>
          </a:xfrm>
          <a:prstGeom prst="rect">
            <a:avLst/>
          </a:prstGeom>
          <a:noFill/>
          <a:ln w="9525">
            <a:noFill/>
            <a:miter lim="800000"/>
            <a:headEnd/>
            <a:tailEnd/>
          </a:ln>
          <a:effectLst/>
        </p:spPr>
        <p:txBody>
          <a:bodyPr wrap="none">
            <a:spAutoFit/>
          </a:bodyPr>
          <a:lstStyle/>
          <a:p>
            <a:pPr algn="ctr">
              <a:lnSpc>
                <a:spcPct val="100000"/>
              </a:lnSpc>
              <a:buClrTx/>
              <a:buSzTx/>
              <a:buFontTx/>
              <a:buNone/>
            </a:pPr>
            <a:r>
              <a:rPr lang="en-US" sz="1800" dirty="0" smtClean="0">
                <a:solidFill>
                  <a:schemeClr val="tx2"/>
                </a:solidFill>
              </a:rPr>
              <a:t>example.net</a:t>
            </a:r>
            <a:br>
              <a:rPr lang="en-US" sz="1800" dirty="0" smtClean="0">
                <a:solidFill>
                  <a:schemeClr val="tx2"/>
                </a:solidFill>
              </a:rPr>
            </a:br>
            <a:r>
              <a:rPr lang="en-US" sz="1800" dirty="0" smtClean="0">
                <a:solidFill>
                  <a:schemeClr val="tx2"/>
                </a:solidFill>
              </a:rPr>
              <a:t>Name </a:t>
            </a:r>
            <a:r>
              <a:rPr lang="en-US" sz="1800" dirty="0">
                <a:solidFill>
                  <a:schemeClr val="tx2"/>
                </a:solidFill>
              </a:rPr>
              <a:t>Server</a:t>
            </a:r>
          </a:p>
        </p:txBody>
      </p:sp>
      <p:sp>
        <p:nvSpPr>
          <p:cNvPr id="34" name="Text Box 7"/>
          <p:cNvSpPr txBox="1">
            <a:spLocks noChangeArrowheads="1"/>
          </p:cNvSpPr>
          <p:nvPr/>
        </p:nvSpPr>
        <p:spPr bwMode="auto">
          <a:xfrm>
            <a:off x="862013" y="5013325"/>
            <a:ext cx="2141537" cy="396875"/>
          </a:xfrm>
          <a:prstGeom prst="rect">
            <a:avLst/>
          </a:prstGeom>
          <a:noFill/>
          <a:ln w="9525">
            <a:noFill/>
            <a:miter lim="800000"/>
            <a:headEnd/>
            <a:tailEnd/>
          </a:ln>
          <a:effectLst/>
        </p:spPr>
        <p:txBody>
          <a:bodyPr wrap="none">
            <a:spAutoFit/>
          </a:bodyPr>
          <a:lstStyle/>
          <a:p>
            <a:pPr>
              <a:lnSpc>
                <a:spcPct val="100000"/>
              </a:lnSpc>
              <a:buClrTx/>
              <a:buSzTx/>
              <a:buFontTx/>
              <a:buNone/>
            </a:pPr>
            <a:r>
              <a:rPr lang="en-US" sz="2000" dirty="0" smtClean="0">
                <a:solidFill>
                  <a:schemeClr val="tx2"/>
                </a:solidFill>
              </a:rPr>
              <a:t>example.net</a:t>
            </a:r>
            <a:r>
              <a:rPr lang="en-US" sz="1800" dirty="0" smtClean="0">
                <a:solidFill>
                  <a:schemeClr val="tx2"/>
                </a:solidFill>
              </a:rPr>
              <a:t> MTA</a:t>
            </a:r>
            <a:endParaRPr lang="en-US" sz="1800" dirty="0">
              <a:solidFill>
                <a:schemeClr val="tx2"/>
              </a:solidFill>
            </a:endParaRPr>
          </a:p>
        </p:txBody>
      </p:sp>
      <p:pic>
        <p:nvPicPr>
          <p:cNvPr id="35" name="Picture 9" descr="MCj01974380000[1]"/>
          <p:cNvPicPr>
            <a:picLocks noChangeAspect="1" noChangeArrowheads="1"/>
          </p:cNvPicPr>
          <p:nvPr/>
        </p:nvPicPr>
        <p:blipFill>
          <a:blip r:embed="rId2" cstate="print"/>
          <a:srcRect/>
          <a:stretch>
            <a:fillRect/>
          </a:stretch>
        </p:blipFill>
        <p:spPr bwMode="auto">
          <a:xfrm>
            <a:off x="6740525" y="3440112"/>
            <a:ext cx="865187" cy="1220788"/>
          </a:xfrm>
          <a:prstGeom prst="rect">
            <a:avLst/>
          </a:prstGeom>
          <a:noFill/>
        </p:spPr>
      </p:pic>
      <p:sp>
        <p:nvSpPr>
          <p:cNvPr id="36" name="Text Box 10"/>
          <p:cNvSpPr txBox="1">
            <a:spLocks noChangeArrowheads="1"/>
          </p:cNvSpPr>
          <p:nvPr/>
        </p:nvSpPr>
        <p:spPr bwMode="auto">
          <a:xfrm>
            <a:off x="6215063" y="4575175"/>
            <a:ext cx="2014537" cy="396875"/>
          </a:xfrm>
          <a:prstGeom prst="rect">
            <a:avLst/>
          </a:prstGeom>
          <a:noFill/>
          <a:ln w="9525">
            <a:noFill/>
            <a:miter lim="800000"/>
            <a:headEnd/>
            <a:tailEnd/>
          </a:ln>
          <a:effectLst/>
        </p:spPr>
        <p:txBody>
          <a:bodyPr wrap="none">
            <a:spAutoFit/>
          </a:bodyPr>
          <a:lstStyle/>
          <a:p>
            <a:pPr>
              <a:lnSpc>
                <a:spcPct val="100000"/>
              </a:lnSpc>
              <a:buClrTx/>
              <a:buSzTx/>
              <a:buFontTx/>
              <a:buNone/>
            </a:pPr>
            <a:r>
              <a:rPr lang="en-US" sz="2000" dirty="0" smtClean="0">
                <a:solidFill>
                  <a:schemeClr val="tx2"/>
                </a:solidFill>
              </a:rPr>
              <a:t>yahoo.com</a:t>
            </a:r>
            <a:r>
              <a:rPr lang="en-US" sz="1800" dirty="0" smtClean="0">
                <a:solidFill>
                  <a:schemeClr val="tx2"/>
                </a:solidFill>
              </a:rPr>
              <a:t> </a:t>
            </a:r>
            <a:r>
              <a:rPr lang="en-US" sz="1800" dirty="0">
                <a:solidFill>
                  <a:schemeClr val="tx2"/>
                </a:solidFill>
              </a:rPr>
              <a:t>MTA</a:t>
            </a:r>
          </a:p>
        </p:txBody>
      </p:sp>
      <p:sp>
        <p:nvSpPr>
          <p:cNvPr id="37" name="Rectangle 11"/>
          <p:cNvSpPr>
            <a:spLocks noChangeArrowheads="1"/>
          </p:cNvSpPr>
          <p:nvPr/>
        </p:nvSpPr>
        <p:spPr bwMode="auto">
          <a:xfrm>
            <a:off x="400050" y="4560887"/>
            <a:ext cx="1123950" cy="366713"/>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a:solidFill>
                  <a:schemeClr val="accent6"/>
                </a:solidFill>
              </a:rPr>
              <a:t>Sign mail</a:t>
            </a:r>
          </a:p>
        </p:txBody>
      </p:sp>
      <p:pic>
        <p:nvPicPr>
          <p:cNvPr id="38" name="Picture 12" descr="MCj02337890000[1]"/>
          <p:cNvPicPr>
            <a:picLocks noChangeAspect="1" noChangeArrowheads="1"/>
          </p:cNvPicPr>
          <p:nvPr/>
        </p:nvPicPr>
        <p:blipFill>
          <a:blip r:embed="rId4" cstate="print"/>
          <a:srcRect/>
          <a:stretch>
            <a:fillRect/>
          </a:stretch>
        </p:blipFill>
        <p:spPr bwMode="auto">
          <a:xfrm>
            <a:off x="852488" y="4138612"/>
            <a:ext cx="219075" cy="449263"/>
          </a:xfrm>
          <a:prstGeom prst="rect">
            <a:avLst/>
          </a:prstGeom>
          <a:noFill/>
        </p:spPr>
      </p:pic>
      <p:sp>
        <p:nvSpPr>
          <p:cNvPr id="39" name="Text Box 13"/>
          <p:cNvSpPr txBox="1">
            <a:spLocks noChangeArrowheads="1"/>
          </p:cNvSpPr>
          <p:nvPr/>
        </p:nvSpPr>
        <p:spPr bwMode="auto">
          <a:xfrm>
            <a:off x="304800" y="3827462"/>
            <a:ext cx="1314450" cy="366713"/>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dirty="0">
                <a:solidFill>
                  <a:schemeClr val="tx1"/>
                </a:solidFill>
              </a:rPr>
              <a:t>Private key</a:t>
            </a:r>
          </a:p>
        </p:txBody>
      </p:sp>
      <p:pic>
        <p:nvPicPr>
          <p:cNvPr id="40" name="Picture 14" descr="MCj04040070000[1]"/>
          <p:cNvPicPr>
            <a:picLocks noChangeAspect="1" noChangeArrowheads="1"/>
          </p:cNvPicPr>
          <p:nvPr/>
        </p:nvPicPr>
        <p:blipFill>
          <a:blip r:embed="rId5" cstate="print"/>
          <a:srcRect/>
          <a:stretch>
            <a:fillRect/>
          </a:stretch>
        </p:blipFill>
        <p:spPr bwMode="auto">
          <a:xfrm>
            <a:off x="2209800" y="2631856"/>
            <a:ext cx="382588" cy="384175"/>
          </a:xfrm>
          <a:prstGeom prst="rect">
            <a:avLst/>
          </a:prstGeom>
          <a:noFill/>
        </p:spPr>
      </p:pic>
      <p:sp>
        <p:nvSpPr>
          <p:cNvPr id="41" name="Text Box 15"/>
          <p:cNvSpPr txBox="1">
            <a:spLocks noChangeArrowheads="1"/>
          </p:cNvSpPr>
          <p:nvPr/>
        </p:nvSpPr>
        <p:spPr bwMode="auto">
          <a:xfrm>
            <a:off x="1822450" y="2323881"/>
            <a:ext cx="1225550" cy="366713"/>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dirty="0">
                <a:solidFill>
                  <a:schemeClr val="tx1"/>
                </a:solidFill>
              </a:rPr>
              <a:t>Public key</a:t>
            </a:r>
          </a:p>
        </p:txBody>
      </p:sp>
      <p:sp>
        <p:nvSpPr>
          <p:cNvPr id="42" name="Line 17"/>
          <p:cNvSpPr>
            <a:spLocks noChangeShapeType="1"/>
          </p:cNvSpPr>
          <p:nvPr/>
        </p:nvSpPr>
        <p:spPr bwMode="auto">
          <a:xfrm flipH="1" flipV="1">
            <a:off x="3730625" y="2928937"/>
            <a:ext cx="2698750" cy="952500"/>
          </a:xfrm>
          <a:prstGeom prst="line">
            <a:avLst/>
          </a:prstGeom>
          <a:noFill/>
          <a:ln w="9525">
            <a:solidFill>
              <a:schemeClr val="tx1"/>
            </a:solidFill>
            <a:round/>
            <a:headEnd/>
            <a:tailEnd type="triangle" w="med" len="med"/>
          </a:ln>
          <a:effectLst/>
        </p:spPr>
        <p:txBody>
          <a:bodyPr/>
          <a:lstStyle/>
          <a:p>
            <a:endParaRPr lang="en-US"/>
          </a:p>
        </p:txBody>
      </p:sp>
      <p:sp>
        <p:nvSpPr>
          <p:cNvPr id="43" name="Rectangle 18"/>
          <p:cNvSpPr>
            <a:spLocks noChangeArrowheads="1"/>
          </p:cNvSpPr>
          <p:nvPr/>
        </p:nvSpPr>
        <p:spPr bwMode="auto">
          <a:xfrm rot="1181227">
            <a:off x="4014787" y="3079750"/>
            <a:ext cx="2265363" cy="366712"/>
          </a:xfrm>
          <a:prstGeom prst="rect">
            <a:avLst/>
          </a:prstGeom>
          <a:noFill/>
          <a:ln w="9525">
            <a:noFill/>
            <a:miter lim="800000"/>
            <a:headEnd/>
            <a:tailEnd/>
          </a:ln>
          <a:effectLst/>
        </p:spPr>
        <p:txBody>
          <a:bodyPr>
            <a:spAutoFit/>
          </a:bodyPr>
          <a:lstStyle/>
          <a:p>
            <a:pPr>
              <a:lnSpc>
                <a:spcPct val="100000"/>
              </a:lnSpc>
              <a:buClrTx/>
              <a:buSzTx/>
              <a:buFontTx/>
              <a:buNone/>
            </a:pPr>
            <a:r>
              <a:rPr lang="en-US" sz="1800" dirty="0">
                <a:solidFill>
                  <a:schemeClr val="accent6"/>
                </a:solidFill>
              </a:rPr>
              <a:t>Query for public key</a:t>
            </a:r>
          </a:p>
        </p:txBody>
      </p:sp>
      <p:sp>
        <p:nvSpPr>
          <p:cNvPr id="44" name="Rectangle 19"/>
          <p:cNvSpPr>
            <a:spLocks noChangeArrowheads="1"/>
          </p:cNvSpPr>
          <p:nvPr/>
        </p:nvSpPr>
        <p:spPr bwMode="auto">
          <a:xfrm>
            <a:off x="7637462" y="3760787"/>
            <a:ext cx="1125538" cy="641350"/>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a:solidFill>
                  <a:schemeClr val="accent6"/>
                </a:solidFill>
              </a:rPr>
              <a:t>Verify </a:t>
            </a:r>
          </a:p>
          <a:p>
            <a:pPr>
              <a:lnSpc>
                <a:spcPct val="100000"/>
              </a:lnSpc>
              <a:buClrTx/>
              <a:buSzTx/>
              <a:buFontTx/>
              <a:buNone/>
            </a:pPr>
            <a:r>
              <a:rPr lang="en-US" sz="1800">
                <a:solidFill>
                  <a:schemeClr val="accent6"/>
                </a:solidFill>
              </a:rPr>
              <a:t>signature</a:t>
            </a:r>
          </a:p>
        </p:txBody>
      </p:sp>
      <p:sp>
        <p:nvSpPr>
          <p:cNvPr id="45" name="Line 28"/>
          <p:cNvSpPr>
            <a:spLocks noChangeShapeType="1"/>
          </p:cNvSpPr>
          <p:nvPr/>
        </p:nvSpPr>
        <p:spPr bwMode="auto">
          <a:xfrm flipV="1">
            <a:off x="2590800" y="4073525"/>
            <a:ext cx="3838575" cy="422275"/>
          </a:xfrm>
          <a:prstGeom prst="line">
            <a:avLst/>
          </a:prstGeom>
          <a:noFill/>
          <a:ln w="9525">
            <a:solidFill>
              <a:schemeClr val="tx1"/>
            </a:solidFill>
            <a:round/>
            <a:headEnd/>
            <a:tailEnd type="triangle" w="med" len="med"/>
          </a:ln>
          <a:effectLst/>
        </p:spPr>
        <p:txBody>
          <a:bodyPr/>
          <a:lstStyle/>
          <a:p>
            <a:endParaRPr lang="en-US"/>
          </a:p>
        </p:txBody>
      </p:sp>
      <p:grpSp>
        <p:nvGrpSpPr>
          <p:cNvPr id="30" name="Group 29"/>
          <p:cNvGrpSpPr/>
          <p:nvPr/>
        </p:nvGrpSpPr>
        <p:grpSpPr>
          <a:xfrm rot="193856">
            <a:off x="3702283" y="3977506"/>
            <a:ext cx="579438" cy="284162"/>
            <a:chOff x="4500562" y="4010025"/>
            <a:chExt cx="579438" cy="284162"/>
          </a:xfrm>
        </p:grpSpPr>
        <p:pic>
          <p:nvPicPr>
            <p:cNvPr id="46" name="Picture 29" descr="BD18216_"/>
            <p:cNvPicPr>
              <a:picLocks noChangeAspect="1" noChangeArrowheads="1"/>
            </p:cNvPicPr>
            <p:nvPr/>
          </p:nvPicPr>
          <p:blipFill>
            <a:blip r:embed="rId6" cstate="print"/>
            <a:srcRect/>
            <a:stretch>
              <a:fillRect/>
            </a:stretch>
          </p:blipFill>
          <p:spPr bwMode="auto">
            <a:xfrm>
              <a:off x="4500562" y="4010025"/>
              <a:ext cx="579438" cy="260350"/>
            </a:xfrm>
            <a:prstGeom prst="rect">
              <a:avLst/>
            </a:prstGeom>
            <a:noFill/>
          </p:spPr>
        </p:pic>
        <p:pic>
          <p:nvPicPr>
            <p:cNvPr id="47" name="Picture 30" descr="MCj04058880000[1]"/>
            <p:cNvPicPr>
              <a:picLocks noChangeAspect="1" noChangeArrowheads="1"/>
            </p:cNvPicPr>
            <p:nvPr/>
          </p:nvPicPr>
          <p:blipFill>
            <a:blip r:embed="rId7" cstate="print"/>
            <a:srcRect/>
            <a:stretch>
              <a:fillRect/>
            </a:stretch>
          </p:blipFill>
          <p:spPr bwMode="auto">
            <a:xfrm>
              <a:off x="4500562" y="4040187"/>
              <a:ext cx="342900" cy="254000"/>
            </a:xfrm>
            <a:prstGeom prst="rect">
              <a:avLst/>
            </a:prstGeom>
            <a:noFill/>
          </p:spPr>
        </p:pic>
      </p:grpSp>
      <p:sp>
        <p:nvSpPr>
          <p:cNvPr id="48" name="Rectangle 31"/>
          <p:cNvSpPr>
            <a:spLocks noChangeArrowheads="1"/>
          </p:cNvSpPr>
          <p:nvPr/>
        </p:nvSpPr>
        <p:spPr bwMode="auto">
          <a:xfrm rot="21225032">
            <a:off x="3064108" y="4266431"/>
            <a:ext cx="2063750" cy="366712"/>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dirty="0">
                <a:solidFill>
                  <a:schemeClr val="accent6"/>
                </a:solidFill>
              </a:rPr>
              <a:t>Send signed email</a:t>
            </a:r>
          </a:p>
        </p:txBody>
      </p:sp>
      <p:pic>
        <p:nvPicPr>
          <p:cNvPr id="49" name="Picture 33" descr="MCj04040070000[1]"/>
          <p:cNvPicPr>
            <a:picLocks noChangeAspect="1" noChangeArrowheads="1"/>
          </p:cNvPicPr>
          <p:nvPr/>
        </p:nvPicPr>
        <p:blipFill>
          <a:blip r:embed="rId5" cstate="print"/>
          <a:srcRect/>
          <a:stretch>
            <a:fillRect/>
          </a:stretch>
        </p:blipFill>
        <p:spPr bwMode="auto">
          <a:xfrm>
            <a:off x="7815262" y="3367087"/>
            <a:ext cx="382588" cy="382588"/>
          </a:xfrm>
          <a:prstGeom prst="rect">
            <a:avLst/>
          </a:prstGeom>
          <a:noFill/>
        </p:spPr>
      </p:pic>
      <p:sp>
        <p:nvSpPr>
          <p:cNvPr id="50" name="Rectangle 37"/>
          <p:cNvSpPr>
            <a:spLocks noChangeArrowheads="1"/>
          </p:cNvSpPr>
          <p:nvPr/>
        </p:nvSpPr>
        <p:spPr bwMode="auto">
          <a:xfrm>
            <a:off x="1761212" y="2935069"/>
            <a:ext cx="1210588" cy="646331"/>
          </a:xfrm>
          <a:prstGeom prst="rect">
            <a:avLst/>
          </a:prstGeom>
          <a:noFill/>
          <a:ln w="9525">
            <a:noFill/>
            <a:miter lim="800000"/>
            <a:headEnd/>
            <a:tailEnd/>
          </a:ln>
          <a:effectLst/>
        </p:spPr>
        <p:txBody>
          <a:bodyPr wrap="none">
            <a:spAutoFit/>
          </a:bodyPr>
          <a:lstStyle/>
          <a:p>
            <a:pPr>
              <a:lnSpc>
                <a:spcPct val="100000"/>
              </a:lnSpc>
              <a:buClrTx/>
              <a:buSzTx/>
              <a:buFontTx/>
              <a:buNone/>
            </a:pPr>
            <a:r>
              <a:rPr lang="en-US" sz="1800" dirty="0" smtClean="0">
                <a:solidFill>
                  <a:schemeClr val="accent6"/>
                </a:solidFill>
              </a:rPr>
              <a:t>Provide</a:t>
            </a:r>
            <a:br>
              <a:rPr lang="en-US" sz="1800" dirty="0" smtClean="0">
                <a:solidFill>
                  <a:schemeClr val="accent6"/>
                </a:solidFill>
              </a:rPr>
            </a:br>
            <a:r>
              <a:rPr lang="en-US" sz="1800" dirty="0" smtClean="0">
                <a:solidFill>
                  <a:schemeClr val="accent6"/>
                </a:solidFill>
              </a:rPr>
              <a:t>public </a:t>
            </a:r>
            <a:r>
              <a:rPr lang="en-US" sz="1800" dirty="0">
                <a:solidFill>
                  <a:schemeClr val="accent6"/>
                </a:solidFill>
              </a:rPr>
              <a:t>key</a:t>
            </a:r>
          </a:p>
        </p:txBody>
      </p:sp>
      <p:sp>
        <p:nvSpPr>
          <p:cNvPr id="51" name="Rectangle 25"/>
          <p:cNvSpPr>
            <a:spLocks noChangeArrowheads="1"/>
          </p:cNvSpPr>
          <p:nvPr/>
        </p:nvSpPr>
        <p:spPr bwMode="auto">
          <a:xfrm>
            <a:off x="4800600" y="5475287"/>
            <a:ext cx="4114800" cy="9255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nSpc>
                <a:spcPct val="100000"/>
              </a:lnSpc>
              <a:buClrTx/>
              <a:buSzTx/>
              <a:buFontTx/>
              <a:buNone/>
            </a:pPr>
            <a:r>
              <a:rPr lang="en-US" sz="1800" dirty="0">
                <a:solidFill>
                  <a:schemeClr val="accent3">
                    <a:lumMod val="75000"/>
                  </a:schemeClr>
                </a:solidFill>
              </a:rPr>
              <a:t>Authentication-Results: </a:t>
            </a:r>
            <a:r>
              <a:rPr lang="en-US" sz="1800" dirty="0">
                <a:solidFill>
                  <a:schemeClr val="bg1"/>
                </a:solidFill>
              </a:rPr>
              <a:t>example.net 	from=bob@example.net; 	</a:t>
            </a:r>
            <a:r>
              <a:rPr lang="en-US" sz="1800" dirty="0" err="1">
                <a:solidFill>
                  <a:schemeClr val="bg1"/>
                </a:solidFill>
              </a:rPr>
              <a:t>domainkeys</a:t>
            </a:r>
            <a:r>
              <a:rPr lang="en-US" sz="1800" dirty="0">
                <a:solidFill>
                  <a:schemeClr val="bg1"/>
                </a:solidFill>
              </a:rPr>
              <a:t>=pass; </a:t>
            </a:r>
          </a:p>
        </p:txBody>
      </p:sp>
    </p:spTree>
    <p:extLst>
      <p:ext uri="{BB962C8B-B14F-4D97-AF65-F5344CB8AC3E}">
        <p14:creationId xmlns:p14="http://schemas.microsoft.com/office/powerpoint/2010/main" val="1531344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SenderID</a:t>
            </a:r>
            <a:r>
              <a:rPr lang="en-US" dirty="0" smtClean="0"/>
              <a:t> vs. DKIM</a:t>
            </a:r>
            <a:endParaRPr lang="en-US" dirty="0"/>
          </a:p>
        </p:txBody>
      </p:sp>
      <p:sp>
        <p:nvSpPr>
          <p:cNvPr id="7" name="Text Placeholder 6"/>
          <p:cNvSpPr>
            <a:spLocks noGrp="1"/>
          </p:cNvSpPr>
          <p:nvPr>
            <p:ph type="body" idx="1"/>
          </p:nvPr>
        </p:nvSpPr>
        <p:spPr>
          <a:xfrm>
            <a:off x="457200" y="1219200"/>
            <a:ext cx="4040188" cy="639762"/>
          </a:xfrm>
        </p:spPr>
        <p:txBody>
          <a:bodyPr/>
          <a:lstStyle/>
          <a:p>
            <a:r>
              <a:rPr lang="en-US" sz="2800" dirty="0" err="1" smtClean="0">
                <a:solidFill>
                  <a:schemeClr val="accent6"/>
                </a:solidFill>
              </a:rPr>
              <a:t>SenderID</a:t>
            </a:r>
            <a:endParaRPr lang="en-US" sz="2800" dirty="0">
              <a:solidFill>
                <a:schemeClr val="accent6"/>
              </a:solidFill>
            </a:endParaRPr>
          </a:p>
        </p:txBody>
      </p:sp>
      <p:sp>
        <p:nvSpPr>
          <p:cNvPr id="8" name="Content Placeholder 7"/>
          <p:cNvSpPr>
            <a:spLocks noGrp="1"/>
          </p:cNvSpPr>
          <p:nvPr>
            <p:ph sz="half" idx="2"/>
          </p:nvPr>
        </p:nvSpPr>
        <p:spPr>
          <a:xfrm>
            <a:off x="457200" y="1951037"/>
            <a:ext cx="4040188" cy="4449763"/>
          </a:xfrm>
        </p:spPr>
        <p:txBody>
          <a:bodyPr>
            <a:normAutofit lnSpcReduction="10000"/>
          </a:bodyPr>
          <a:lstStyle/>
          <a:p>
            <a:r>
              <a:rPr lang="en-US" dirty="0" smtClean="0"/>
              <a:t>Sending MTA authentication</a:t>
            </a:r>
          </a:p>
          <a:p>
            <a:r>
              <a:rPr lang="en-US" dirty="0" smtClean="0"/>
              <a:t>Channel based</a:t>
            </a:r>
          </a:p>
          <a:p>
            <a:r>
              <a:rPr lang="en-US" dirty="0" smtClean="0"/>
              <a:t>Simple implementation</a:t>
            </a:r>
          </a:p>
          <a:p>
            <a:r>
              <a:rPr lang="en-US" dirty="0" smtClean="0"/>
              <a:t>Message integrity not protected</a:t>
            </a:r>
          </a:p>
          <a:p>
            <a:r>
              <a:rPr lang="en-US" dirty="0" smtClean="0"/>
              <a:t>Mail forwarding not supported</a:t>
            </a:r>
          </a:p>
          <a:p>
            <a:r>
              <a:rPr lang="en-US" dirty="0" smtClean="0"/>
              <a:t>Vulnerable to DNS cache poisoning</a:t>
            </a:r>
          </a:p>
          <a:p>
            <a:r>
              <a:rPr lang="en-US" dirty="0" smtClean="0"/>
              <a:t>Vulnerable to IP source spoofing</a:t>
            </a:r>
          </a:p>
        </p:txBody>
      </p:sp>
      <p:sp>
        <p:nvSpPr>
          <p:cNvPr id="9" name="Text Placeholder 8"/>
          <p:cNvSpPr>
            <a:spLocks noGrp="1"/>
          </p:cNvSpPr>
          <p:nvPr>
            <p:ph type="body" sz="quarter" idx="3"/>
          </p:nvPr>
        </p:nvSpPr>
        <p:spPr>
          <a:xfrm>
            <a:off x="4645025" y="1219200"/>
            <a:ext cx="4041775" cy="639762"/>
          </a:xfrm>
        </p:spPr>
        <p:txBody>
          <a:bodyPr>
            <a:normAutofit/>
          </a:bodyPr>
          <a:lstStyle/>
          <a:p>
            <a:r>
              <a:rPr lang="en-US" sz="2800" dirty="0" smtClean="0">
                <a:solidFill>
                  <a:schemeClr val="accent6"/>
                </a:solidFill>
              </a:rPr>
              <a:t>DKIM</a:t>
            </a:r>
            <a:endParaRPr lang="en-US" sz="2800" dirty="0">
              <a:solidFill>
                <a:schemeClr val="accent6"/>
              </a:solidFill>
            </a:endParaRPr>
          </a:p>
        </p:txBody>
      </p:sp>
      <p:sp>
        <p:nvSpPr>
          <p:cNvPr id="10" name="Content Placeholder 9"/>
          <p:cNvSpPr>
            <a:spLocks noGrp="1"/>
          </p:cNvSpPr>
          <p:nvPr>
            <p:ph sz="quarter" idx="4"/>
          </p:nvPr>
        </p:nvSpPr>
        <p:spPr>
          <a:xfrm>
            <a:off x="4645025" y="1951037"/>
            <a:ext cx="4041775" cy="4449763"/>
          </a:xfrm>
        </p:spPr>
        <p:txBody>
          <a:bodyPr/>
          <a:lstStyle/>
          <a:p>
            <a:r>
              <a:rPr lang="en-US" dirty="0" smtClean="0"/>
              <a:t>Sending MTA authentication</a:t>
            </a:r>
          </a:p>
          <a:p>
            <a:r>
              <a:rPr lang="en-US" dirty="0" smtClean="0"/>
              <a:t>Object based</a:t>
            </a:r>
          </a:p>
          <a:p>
            <a:r>
              <a:rPr lang="en-US" dirty="0" smtClean="0"/>
              <a:t>Cryptographic assurance</a:t>
            </a:r>
          </a:p>
          <a:p>
            <a:r>
              <a:rPr lang="en-US" dirty="0" smtClean="0"/>
              <a:t>Protection of message integrity</a:t>
            </a:r>
          </a:p>
          <a:p>
            <a:r>
              <a:rPr lang="en-US" dirty="0" smtClean="0"/>
              <a:t>Supports mail forwarding</a:t>
            </a:r>
          </a:p>
          <a:p>
            <a:r>
              <a:rPr lang="en-US" dirty="0" smtClean="0"/>
              <a:t>Vulnerable to DNS cache poisoning</a:t>
            </a:r>
          </a:p>
        </p:txBody>
      </p:sp>
      <p:sp>
        <p:nvSpPr>
          <p:cNvPr id="4" name="Date Placeholder 3"/>
          <p:cNvSpPr>
            <a:spLocks noGrp="1"/>
          </p:cNvSpPr>
          <p:nvPr>
            <p:ph type="dt" sz="half" idx="10"/>
          </p:nvPr>
        </p:nvSpPr>
        <p:spPr/>
        <p:txBody>
          <a:bodyPr/>
          <a:lstStyle/>
          <a:p>
            <a:pPr>
              <a:defRPr/>
            </a:pPr>
            <a:fld id="{28BF1129-6397-4998-AF4E-0A2ED21DB3DF}" type="datetime1">
              <a:rPr lang="en-US" smtClean="0"/>
              <a:pPr>
                <a:defRPr/>
              </a:pPr>
              <a:t>8/22/2017</a:t>
            </a:fld>
            <a:endParaRPr lang="en-GB" dirty="0"/>
          </a:p>
        </p:txBody>
      </p:sp>
      <p:sp>
        <p:nvSpPr>
          <p:cNvPr id="5" name="Footer Placeholder 4"/>
          <p:cNvSpPr>
            <a:spLocks noGrp="1"/>
          </p:cNvSpPr>
          <p:nvPr>
            <p:ph type="ftr" sz="quarter" idx="11"/>
          </p:nvPr>
        </p:nvSpPr>
        <p:spPr/>
        <p:txBody>
          <a:bodyPr/>
          <a:lstStyle/>
          <a:p>
            <a:pPr>
              <a:defRPr/>
            </a:pPr>
            <a:r>
              <a:rPr lang="en-GB" smtClean="0"/>
              <a:t>Spam and Cybercrime</a:t>
            </a:r>
            <a:endParaRPr lang="en-GB"/>
          </a:p>
        </p:txBody>
      </p:sp>
      <p:sp>
        <p:nvSpPr>
          <p:cNvPr id="6" name="Slide Number Placeholder 5"/>
          <p:cNvSpPr>
            <a:spLocks noGrp="1"/>
          </p:cNvSpPr>
          <p:nvPr>
            <p:ph type="sldNum" sz="quarter" idx="12"/>
          </p:nvPr>
        </p:nvSpPr>
        <p:spPr/>
        <p:txBody>
          <a:bodyPr/>
          <a:lstStyle/>
          <a:p>
            <a:pPr>
              <a:defRPr/>
            </a:pPr>
            <a:fld id="{C3261D9E-C143-464A-BEEB-8E77ED214114}" type="slidenum">
              <a:rPr lang="en-GB" smtClean="0"/>
              <a:pPr>
                <a:defRPr/>
              </a:pPr>
              <a:t>30</a:t>
            </a:fld>
            <a:endParaRPr lang="en-GB"/>
          </a:p>
        </p:txBody>
      </p:sp>
    </p:spTree>
    <p:extLst>
      <p:ext uri="{BB962C8B-B14F-4D97-AF65-F5344CB8AC3E}">
        <p14:creationId xmlns:p14="http://schemas.microsoft.com/office/powerpoint/2010/main" val="88120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Cybercrime</a:t>
            </a:r>
            <a:endParaRPr lang="en-US" dirty="0"/>
          </a:p>
        </p:txBody>
      </p:sp>
      <p:sp>
        <p:nvSpPr>
          <p:cNvPr id="7" name="Content Placeholder 6"/>
          <p:cNvSpPr>
            <a:spLocks noGrp="1"/>
          </p:cNvSpPr>
          <p:nvPr>
            <p:ph idx="1"/>
          </p:nvPr>
        </p:nvSpPr>
        <p:spPr/>
        <p:txBody>
          <a:bodyPr numCol="1">
            <a:normAutofit fontScale="85000" lnSpcReduction="20000"/>
          </a:bodyPr>
          <a:lstStyle/>
          <a:p>
            <a:pPr>
              <a:lnSpc>
                <a:spcPct val="120000"/>
              </a:lnSpc>
            </a:pPr>
            <a:r>
              <a:rPr lang="en-US" dirty="0" smtClean="0">
                <a:solidFill>
                  <a:schemeClr val="tx1"/>
                </a:solidFill>
              </a:rPr>
              <a:t>Symantec’s definition:</a:t>
            </a:r>
          </a:p>
          <a:p>
            <a:pPr lvl="1">
              <a:lnSpc>
                <a:spcPct val="120000"/>
              </a:lnSpc>
            </a:pPr>
            <a:r>
              <a:rPr lang="en-US" dirty="0" smtClean="0">
                <a:solidFill>
                  <a:schemeClr val="accent6"/>
                </a:solidFill>
              </a:rPr>
              <a:t>Cybercrime is any crime that is committed using a computer, network, or hardware device. The computer or device may be the agent of the crime, the facilitator of the crime, or the target of the crime. The crime may take place on the computer alone or in addition to other locations.</a:t>
            </a:r>
          </a:p>
          <a:p>
            <a:pPr>
              <a:lnSpc>
                <a:spcPct val="120000"/>
              </a:lnSpc>
            </a:pPr>
            <a:r>
              <a:rPr lang="en-US" dirty="0" smtClean="0">
                <a:solidFill>
                  <a:schemeClr val="tx1"/>
                </a:solidFill>
              </a:rPr>
              <a:t>Enablers of cybercrime</a:t>
            </a:r>
          </a:p>
          <a:p>
            <a:pPr lvl="1">
              <a:lnSpc>
                <a:spcPct val="120000"/>
              </a:lnSpc>
            </a:pPr>
            <a:r>
              <a:rPr lang="en-US" dirty="0" smtClean="0">
                <a:solidFill>
                  <a:schemeClr val="tx1"/>
                </a:solidFill>
              </a:rPr>
              <a:t>Software vulnerabilities</a:t>
            </a:r>
          </a:p>
          <a:p>
            <a:pPr lvl="1">
              <a:lnSpc>
                <a:spcPct val="120000"/>
              </a:lnSpc>
            </a:pPr>
            <a:r>
              <a:rPr lang="en-US" dirty="0" smtClean="0">
                <a:solidFill>
                  <a:schemeClr val="tx1"/>
                </a:solidFill>
              </a:rPr>
              <a:t>Online shopping and access to financial accounts</a:t>
            </a:r>
          </a:p>
          <a:p>
            <a:pPr lvl="1">
              <a:lnSpc>
                <a:spcPct val="120000"/>
              </a:lnSpc>
            </a:pPr>
            <a:r>
              <a:rPr lang="en-US" dirty="0" smtClean="0">
                <a:solidFill>
                  <a:schemeClr val="tx1"/>
                </a:solidFill>
              </a:rPr>
              <a:t>Countries with lax or corrupt law enforcement</a:t>
            </a:r>
          </a:p>
          <a:p>
            <a:pPr>
              <a:lnSpc>
                <a:spcPct val="120000"/>
              </a:lnSpc>
              <a:buNone/>
            </a:pPr>
            <a:endParaRPr lang="en-US" dirty="0" smtClean="0">
              <a:solidFill>
                <a:schemeClr val="tx1"/>
              </a:solidFill>
            </a:endParaRPr>
          </a:p>
        </p:txBody>
      </p:sp>
      <p:sp>
        <p:nvSpPr>
          <p:cNvPr id="3" name="Date Placeholder 2"/>
          <p:cNvSpPr>
            <a:spLocks noGrp="1"/>
          </p:cNvSpPr>
          <p:nvPr>
            <p:ph type="dt" idx="10"/>
          </p:nvPr>
        </p:nvSpPr>
        <p:spPr/>
        <p:txBody>
          <a:bodyPr/>
          <a:lstStyle/>
          <a:p>
            <a:pPr>
              <a:defRPr/>
            </a:pPr>
            <a:fld id="{2F49B527-5773-4657-AEA7-8BF88B153AA0}" type="datetime1">
              <a:rPr lang="en-US" smtClean="0"/>
              <a:pPr>
                <a:defRPr/>
              </a:pPr>
              <a:t>8/22/2017</a:t>
            </a:fld>
            <a:endParaRPr lang="en-GB" dirty="0"/>
          </a:p>
        </p:txBody>
      </p:sp>
      <p:sp>
        <p:nvSpPr>
          <p:cNvPr id="4" name="Footer Placeholder 3"/>
          <p:cNvSpPr>
            <a:spLocks noGrp="1"/>
          </p:cNvSpPr>
          <p:nvPr>
            <p:ph type="ftr" idx="11"/>
          </p:nvPr>
        </p:nvSpPr>
        <p:spPr/>
        <p:txBody>
          <a:bodyPr/>
          <a:lstStyle/>
          <a:p>
            <a:pPr>
              <a:defRPr/>
            </a:pPr>
            <a:r>
              <a:rPr lang="en-GB" smtClean="0"/>
              <a:t>Spam and Cybercrime</a:t>
            </a:r>
            <a:endParaRPr lang="en-GB" dirty="0"/>
          </a:p>
        </p:txBody>
      </p:sp>
      <p:sp>
        <p:nvSpPr>
          <p:cNvPr id="5" name="Slide Number Placeholder 4"/>
          <p:cNvSpPr>
            <a:spLocks noGrp="1"/>
          </p:cNvSpPr>
          <p:nvPr>
            <p:ph type="sldNum" idx="12"/>
          </p:nvPr>
        </p:nvSpPr>
        <p:spPr/>
        <p:txBody>
          <a:bodyPr/>
          <a:lstStyle/>
          <a:p>
            <a:pPr>
              <a:defRPr/>
            </a:pPr>
            <a:fld id="{15ED07B6-4F8B-4A75-8967-0B9D2C1D8C59}" type="slidenum">
              <a:rPr lang="en-GB" smtClean="0"/>
              <a:pPr>
                <a:defRPr/>
              </a:pPr>
              <a:t>31</a:t>
            </a:fld>
            <a:endParaRPr lang="en-GB" dirty="0"/>
          </a:p>
        </p:txBody>
      </p:sp>
    </p:spTree>
    <p:extLst>
      <p:ext uri="{BB962C8B-B14F-4D97-AF65-F5344CB8AC3E}">
        <p14:creationId xmlns:p14="http://schemas.microsoft.com/office/powerpoint/2010/main" val="4512786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Credit Cards</a:t>
            </a:r>
            <a:endParaRPr lang="en-US" dirty="0"/>
          </a:p>
        </p:txBody>
      </p:sp>
      <p:sp>
        <p:nvSpPr>
          <p:cNvPr id="3" name="Content Placeholder 2"/>
          <p:cNvSpPr>
            <a:spLocks noGrp="1"/>
          </p:cNvSpPr>
          <p:nvPr>
            <p:ph idx="1"/>
          </p:nvPr>
        </p:nvSpPr>
        <p:spPr>
          <a:xfrm>
            <a:off x="457200" y="1143000"/>
            <a:ext cx="8228013" cy="5257800"/>
          </a:xfrm>
        </p:spPr>
        <p:txBody>
          <a:bodyPr>
            <a:normAutofit fontScale="70000" lnSpcReduction="20000"/>
          </a:bodyPr>
          <a:lstStyle/>
          <a:p>
            <a:pPr>
              <a:lnSpc>
                <a:spcPct val="120000"/>
              </a:lnSpc>
            </a:pPr>
            <a:r>
              <a:rPr lang="en-US" dirty="0" smtClean="0"/>
              <a:t>Credit card information</a:t>
            </a:r>
          </a:p>
          <a:p>
            <a:pPr lvl="1">
              <a:lnSpc>
                <a:spcPct val="120000"/>
              </a:lnSpc>
            </a:pPr>
            <a:r>
              <a:rPr lang="en-US" dirty="0" smtClean="0"/>
              <a:t>Supposed to be kept secret</a:t>
            </a:r>
          </a:p>
          <a:p>
            <a:pPr lvl="1">
              <a:lnSpc>
                <a:spcPct val="120000"/>
              </a:lnSpc>
            </a:pPr>
            <a:r>
              <a:rPr lang="en-US" dirty="0" smtClean="0"/>
              <a:t>Shared with multiple merchants</a:t>
            </a:r>
          </a:p>
          <a:p>
            <a:pPr lvl="1">
              <a:lnSpc>
                <a:spcPct val="120000"/>
              </a:lnSpc>
            </a:pPr>
            <a:r>
              <a:rPr lang="en-US" dirty="0" smtClean="0"/>
              <a:t>Transmitted often insecurely</a:t>
            </a:r>
          </a:p>
          <a:p>
            <a:pPr lvl="1">
              <a:lnSpc>
                <a:spcPct val="120000"/>
              </a:lnSpc>
            </a:pPr>
            <a:r>
              <a:rPr lang="en-US" dirty="0" smtClean="0"/>
              <a:t>Low entropy of the credit card number (first four digits denote financial institution)</a:t>
            </a:r>
          </a:p>
          <a:p>
            <a:pPr>
              <a:lnSpc>
                <a:spcPct val="120000"/>
              </a:lnSpc>
            </a:pPr>
            <a:r>
              <a:rPr lang="en-US" dirty="0" smtClean="0"/>
              <a:t>Advantage</a:t>
            </a:r>
          </a:p>
          <a:p>
            <a:pPr lvl="1">
              <a:lnSpc>
                <a:spcPct val="120000"/>
              </a:lnSpc>
            </a:pPr>
            <a:r>
              <a:rPr lang="en-US" dirty="0" smtClean="0"/>
              <a:t>Simple scheme for users, banks, and merchants</a:t>
            </a:r>
          </a:p>
          <a:p>
            <a:pPr>
              <a:lnSpc>
                <a:spcPct val="120000"/>
              </a:lnSpc>
            </a:pPr>
            <a:r>
              <a:rPr lang="en-US" dirty="0" smtClean="0"/>
              <a:t>Disadvantage</a:t>
            </a:r>
          </a:p>
          <a:p>
            <a:pPr lvl="1">
              <a:lnSpc>
                <a:spcPct val="120000"/>
              </a:lnSpc>
            </a:pPr>
            <a:r>
              <a:rPr lang="en-US" dirty="0" smtClean="0"/>
              <a:t>Fraud easy to commit</a:t>
            </a:r>
          </a:p>
          <a:p>
            <a:pPr>
              <a:lnSpc>
                <a:spcPct val="120000"/>
              </a:lnSpc>
            </a:pPr>
            <a:r>
              <a:rPr lang="en-US" dirty="0" smtClean="0"/>
              <a:t>Tradeoff</a:t>
            </a:r>
          </a:p>
          <a:p>
            <a:pPr lvl="1">
              <a:lnSpc>
                <a:spcPct val="120000"/>
              </a:lnSpc>
            </a:pPr>
            <a:r>
              <a:rPr lang="en-US" dirty="0" smtClean="0"/>
              <a:t>No security measures to facilitate use</a:t>
            </a:r>
          </a:p>
          <a:p>
            <a:pPr lvl="1">
              <a:lnSpc>
                <a:spcPct val="120000"/>
              </a:lnSpc>
            </a:pPr>
            <a:r>
              <a:rPr lang="en-US" dirty="0" smtClean="0"/>
              <a:t>Private customers and merchants held harmless</a:t>
            </a:r>
          </a:p>
          <a:p>
            <a:pPr lvl="1">
              <a:lnSpc>
                <a:spcPct val="120000"/>
              </a:lnSpc>
            </a:pPr>
            <a:r>
              <a:rPr lang="en-US" dirty="0" smtClean="0"/>
              <a:t>Transaction fee covers bank fraud losses</a:t>
            </a:r>
          </a:p>
        </p:txBody>
      </p:sp>
      <p:sp>
        <p:nvSpPr>
          <p:cNvPr id="4" name="Date Placeholder 3"/>
          <p:cNvSpPr>
            <a:spLocks noGrp="1"/>
          </p:cNvSpPr>
          <p:nvPr>
            <p:ph type="dt" idx="10"/>
          </p:nvPr>
        </p:nvSpPr>
        <p:spPr/>
        <p:txBody>
          <a:bodyPr/>
          <a:lstStyle/>
          <a:p>
            <a:pPr>
              <a:defRPr/>
            </a:pPr>
            <a:fld id="{92E70610-3CD1-44F8-A03B-EC490F797E30}"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32</a:t>
            </a:fld>
            <a:endParaRPr lang="en-GB"/>
          </a:p>
        </p:txBody>
      </p:sp>
    </p:spTree>
    <p:extLst>
      <p:ext uri="{BB962C8B-B14F-4D97-AF65-F5344CB8AC3E}">
        <p14:creationId xmlns:p14="http://schemas.microsoft.com/office/powerpoint/2010/main" val="4538713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Credit Card Frauds</a:t>
            </a:r>
            <a:endParaRPr lang="en-US" dirty="0"/>
          </a:p>
        </p:txBody>
      </p:sp>
      <p:sp>
        <p:nvSpPr>
          <p:cNvPr id="3" name="Content Placeholder 2"/>
          <p:cNvSpPr>
            <a:spLocks noGrp="1"/>
          </p:cNvSpPr>
          <p:nvPr>
            <p:ph idx="1"/>
          </p:nvPr>
        </p:nvSpPr>
        <p:spPr>
          <a:xfrm>
            <a:off x="457200" y="1447800"/>
            <a:ext cx="8229600" cy="4953000"/>
          </a:xfrm>
        </p:spPr>
        <p:txBody>
          <a:bodyPr>
            <a:normAutofit fontScale="70000" lnSpcReduction="20000"/>
          </a:bodyPr>
          <a:lstStyle/>
          <a:p>
            <a:pPr>
              <a:lnSpc>
                <a:spcPct val="120000"/>
              </a:lnSpc>
            </a:pPr>
            <a:r>
              <a:rPr lang="en-US" dirty="0" smtClean="0"/>
              <a:t>Buy popular goods and resell them</a:t>
            </a:r>
          </a:p>
          <a:p>
            <a:pPr lvl="1">
              <a:lnSpc>
                <a:spcPct val="120000"/>
              </a:lnSpc>
            </a:pPr>
            <a:r>
              <a:rPr lang="en-US" dirty="0" smtClean="0"/>
              <a:t>Needs package delivery address</a:t>
            </a:r>
          </a:p>
          <a:p>
            <a:pPr lvl="1">
              <a:lnSpc>
                <a:spcPct val="120000"/>
              </a:lnSpc>
            </a:pPr>
            <a:r>
              <a:rPr lang="en-US" dirty="0" smtClean="0"/>
              <a:t>Requires resale business</a:t>
            </a:r>
          </a:p>
          <a:p>
            <a:pPr lvl="1">
              <a:lnSpc>
                <a:spcPct val="120000"/>
              </a:lnSpc>
            </a:pPr>
            <a:r>
              <a:rPr lang="en-US" dirty="0" smtClean="0"/>
              <a:t>Often goods reshipped abroad</a:t>
            </a:r>
          </a:p>
          <a:p>
            <a:pPr>
              <a:lnSpc>
                <a:spcPct val="120000"/>
              </a:lnSpc>
            </a:pPr>
            <a:r>
              <a:rPr lang="en-US" dirty="0" smtClean="0"/>
              <a:t>Buy financial instruments</a:t>
            </a:r>
          </a:p>
          <a:p>
            <a:pPr lvl="1">
              <a:lnSpc>
                <a:spcPct val="120000"/>
              </a:lnSpc>
            </a:pPr>
            <a:r>
              <a:rPr lang="en-US" dirty="0" smtClean="0"/>
              <a:t>Traveler’s checks</a:t>
            </a:r>
          </a:p>
          <a:p>
            <a:pPr lvl="1">
              <a:lnSpc>
                <a:spcPct val="120000"/>
              </a:lnSpc>
            </a:pPr>
            <a:r>
              <a:rPr lang="en-US" dirty="0" smtClean="0"/>
              <a:t>Gift cards</a:t>
            </a:r>
          </a:p>
          <a:p>
            <a:pPr lvl="1">
              <a:lnSpc>
                <a:spcPct val="120000"/>
              </a:lnSpc>
            </a:pPr>
            <a:r>
              <a:rPr lang="en-US" dirty="0" smtClean="0"/>
              <a:t>E-gold</a:t>
            </a:r>
          </a:p>
          <a:p>
            <a:pPr lvl="1">
              <a:lnSpc>
                <a:spcPct val="120000"/>
              </a:lnSpc>
            </a:pPr>
            <a:r>
              <a:rPr lang="en-US" dirty="0" smtClean="0"/>
              <a:t>Additional conversion needed to avoid revocation</a:t>
            </a:r>
          </a:p>
          <a:p>
            <a:pPr>
              <a:lnSpc>
                <a:spcPct val="120000"/>
              </a:lnSpc>
            </a:pPr>
            <a:r>
              <a:rPr lang="en-US" dirty="0" smtClean="0"/>
              <a:t>Buy cash equivalents</a:t>
            </a:r>
          </a:p>
          <a:p>
            <a:pPr lvl="1">
              <a:lnSpc>
                <a:spcPct val="120000"/>
              </a:lnSpc>
            </a:pPr>
            <a:r>
              <a:rPr lang="en-US" dirty="0" smtClean="0"/>
              <a:t>Western Union money transfers</a:t>
            </a:r>
          </a:p>
          <a:p>
            <a:pPr lvl="1">
              <a:lnSpc>
                <a:spcPct val="120000"/>
              </a:lnSpc>
            </a:pPr>
            <a:r>
              <a:rPr lang="en-US" dirty="0" smtClean="0"/>
              <a:t>Foreign currency</a:t>
            </a:r>
          </a:p>
        </p:txBody>
      </p:sp>
      <p:sp>
        <p:nvSpPr>
          <p:cNvPr id="4" name="Date Placeholder 3"/>
          <p:cNvSpPr>
            <a:spLocks noGrp="1"/>
          </p:cNvSpPr>
          <p:nvPr>
            <p:ph type="dt" idx="10"/>
          </p:nvPr>
        </p:nvSpPr>
        <p:spPr/>
        <p:txBody>
          <a:bodyPr/>
          <a:lstStyle/>
          <a:p>
            <a:pPr>
              <a:defRPr/>
            </a:pPr>
            <a:fld id="{5EC0CCE3-4B36-4860-A396-1DBFF8761CA8}"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33</a:t>
            </a:fld>
            <a:endParaRPr lang="en-GB"/>
          </a:p>
        </p:txBody>
      </p:sp>
    </p:spTree>
    <p:extLst>
      <p:ext uri="{BB962C8B-B14F-4D97-AF65-F5344CB8AC3E}">
        <p14:creationId xmlns:p14="http://schemas.microsoft.com/office/powerpoint/2010/main" val="381694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Defending Against Credit Card Fraud</a:t>
            </a:r>
            <a:endParaRPr lang="en-US" dirty="0"/>
          </a:p>
        </p:txBody>
      </p:sp>
      <p:sp>
        <p:nvSpPr>
          <p:cNvPr id="3" name="Content Placeholder 2"/>
          <p:cNvSpPr>
            <a:spLocks noGrp="1"/>
          </p:cNvSpPr>
          <p:nvPr>
            <p:ph idx="1"/>
          </p:nvPr>
        </p:nvSpPr>
        <p:spPr>
          <a:xfrm>
            <a:off x="457200" y="1371600"/>
            <a:ext cx="8228013" cy="4953000"/>
          </a:xfrm>
        </p:spPr>
        <p:txBody>
          <a:bodyPr>
            <a:normAutofit fontScale="70000" lnSpcReduction="20000"/>
          </a:bodyPr>
          <a:lstStyle/>
          <a:p>
            <a:pPr>
              <a:lnSpc>
                <a:spcPct val="120000"/>
              </a:lnSpc>
            </a:pPr>
            <a:r>
              <a:rPr lang="en-US" dirty="0" smtClean="0"/>
              <a:t>One-time credit card numbers</a:t>
            </a:r>
          </a:p>
          <a:p>
            <a:pPr lvl="1">
              <a:lnSpc>
                <a:spcPct val="120000"/>
              </a:lnSpc>
            </a:pPr>
            <a:r>
              <a:rPr lang="en-US" dirty="0" smtClean="0"/>
              <a:t>Available from several issuers (e.g., </a:t>
            </a:r>
            <a:r>
              <a:rPr lang="en-US" dirty="0" err="1" smtClean="0"/>
              <a:t>AmEx</a:t>
            </a:r>
            <a:r>
              <a:rPr lang="en-US" dirty="0" smtClean="0"/>
              <a:t>, Citibank)</a:t>
            </a:r>
          </a:p>
          <a:p>
            <a:pPr lvl="1">
              <a:lnSpc>
                <a:spcPct val="120000"/>
              </a:lnSpc>
            </a:pPr>
            <a:r>
              <a:rPr lang="en-US" dirty="0" smtClean="0"/>
              <a:t>Does not work for subscription plans</a:t>
            </a:r>
          </a:p>
          <a:p>
            <a:pPr lvl="1">
              <a:lnSpc>
                <a:spcPct val="120000"/>
              </a:lnSpc>
            </a:pPr>
            <a:r>
              <a:rPr lang="en-US" dirty="0" smtClean="0"/>
              <a:t>Time consuming for users</a:t>
            </a:r>
          </a:p>
          <a:p>
            <a:pPr lvl="1">
              <a:lnSpc>
                <a:spcPct val="120000"/>
              </a:lnSpc>
            </a:pPr>
            <a:r>
              <a:rPr lang="en-US" dirty="0" smtClean="0"/>
              <a:t>Cumbersome to obtain refunds</a:t>
            </a:r>
          </a:p>
          <a:p>
            <a:pPr lvl="1">
              <a:lnSpc>
                <a:spcPct val="120000"/>
              </a:lnSpc>
            </a:pPr>
            <a:r>
              <a:rPr lang="en-US" dirty="0" smtClean="0"/>
              <a:t>Worthwhile for high-value transactions or untrusted merchants</a:t>
            </a:r>
          </a:p>
          <a:p>
            <a:pPr>
              <a:lnSpc>
                <a:spcPct val="120000"/>
              </a:lnSpc>
            </a:pPr>
            <a:r>
              <a:rPr lang="en-US" dirty="0" smtClean="0"/>
              <a:t>Monitoring transactions</a:t>
            </a:r>
          </a:p>
          <a:p>
            <a:pPr lvl="1">
              <a:lnSpc>
                <a:spcPct val="120000"/>
              </a:lnSpc>
            </a:pPr>
            <a:r>
              <a:rPr lang="en-US" dirty="0" smtClean="0"/>
              <a:t>Email or text message for each transaction</a:t>
            </a:r>
          </a:p>
          <a:p>
            <a:pPr lvl="1">
              <a:lnSpc>
                <a:spcPct val="120000"/>
              </a:lnSpc>
            </a:pPr>
            <a:r>
              <a:rPr lang="en-US" dirty="0" smtClean="0"/>
              <a:t>Continuous annoyance to catch a rare event</a:t>
            </a:r>
          </a:p>
          <a:p>
            <a:pPr>
              <a:lnSpc>
                <a:spcPct val="120000"/>
              </a:lnSpc>
            </a:pPr>
            <a:r>
              <a:rPr lang="en-US" dirty="0" smtClean="0"/>
              <a:t>Password enabled transactions</a:t>
            </a:r>
          </a:p>
          <a:p>
            <a:pPr lvl="1">
              <a:lnSpc>
                <a:spcPct val="120000"/>
              </a:lnSpc>
            </a:pPr>
            <a:r>
              <a:rPr lang="en-US" dirty="0" smtClean="0"/>
              <a:t>Similar to PIN for ATM cards</a:t>
            </a:r>
          </a:p>
          <a:p>
            <a:pPr lvl="1">
              <a:lnSpc>
                <a:spcPct val="120000"/>
              </a:lnSpc>
            </a:pPr>
            <a:r>
              <a:rPr lang="en-US" dirty="0" smtClean="0"/>
              <a:t>Difficult to share password only with the bank and communicate verification outcome to merchant (three-party protocol)</a:t>
            </a:r>
          </a:p>
        </p:txBody>
      </p:sp>
      <p:sp>
        <p:nvSpPr>
          <p:cNvPr id="4" name="Date Placeholder 3"/>
          <p:cNvSpPr>
            <a:spLocks noGrp="1"/>
          </p:cNvSpPr>
          <p:nvPr>
            <p:ph type="dt" idx="10"/>
          </p:nvPr>
        </p:nvSpPr>
        <p:spPr/>
        <p:txBody>
          <a:bodyPr/>
          <a:lstStyle/>
          <a:p>
            <a:pPr>
              <a:defRPr/>
            </a:pPr>
            <a:fld id="{A7723C94-F5BA-4862-8086-BB5DB6DB77B3}"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34</a:t>
            </a:fld>
            <a:endParaRPr lang="en-GB"/>
          </a:p>
        </p:txBody>
      </p:sp>
    </p:spTree>
    <p:extLst>
      <p:ext uri="{BB962C8B-B14F-4D97-AF65-F5344CB8AC3E}">
        <p14:creationId xmlns:p14="http://schemas.microsoft.com/office/powerpoint/2010/main" val="30714839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Bank Accounts</a:t>
            </a:r>
            <a:endParaRPr lang="en-US" dirty="0"/>
          </a:p>
        </p:txBody>
      </p:sp>
      <p:sp>
        <p:nvSpPr>
          <p:cNvPr id="3" name="Content Placeholder 2"/>
          <p:cNvSpPr>
            <a:spLocks noGrp="1"/>
          </p:cNvSpPr>
          <p:nvPr>
            <p:ph idx="1"/>
          </p:nvPr>
        </p:nvSpPr>
        <p:spPr>
          <a:xfrm>
            <a:off x="457200" y="1371600"/>
            <a:ext cx="8228013" cy="5029200"/>
          </a:xfrm>
        </p:spPr>
        <p:txBody>
          <a:bodyPr numCol="2">
            <a:normAutofit fontScale="85000" lnSpcReduction="10000"/>
          </a:bodyPr>
          <a:lstStyle/>
          <a:p>
            <a:pPr>
              <a:lnSpc>
                <a:spcPct val="110000"/>
              </a:lnSpc>
            </a:pPr>
            <a:r>
              <a:rPr lang="en-US" dirty="0" smtClean="0"/>
              <a:t>Account information</a:t>
            </a:r>
          </a:p>
          <a:p>
            <a:pPr lvl="1">
              <a:lnSpc>
                <a:spcPct val="110000"/>
              </a:lnSpc>
            </a:pPr>
            <a:r>
              <a:rPr lang="en-US" sz="2400" dirty="0" smtClean="0"/>
              <a:t>Supposed to be kept secret</a:t>
            </a:r>
          </a:p>
          <a:p>
            <a:pPr lvl="1">
              <a:lnSpc>
                <a:spcPct val="110000"/>
              </a:lnSpc>
            </a:pPr>
            <a:r>
              <a:rPr lang="en-US" sz="2400" dirty="0" smtClean="0"/>
              <a:t>Shared with merchants, customers and friends</a:t>
            </a:r>
          </a:p>
          <a:p>
            <a:pPr lvl="1">
              <a:lnSpc>
                <a:spcPct val="110000"/>
              </a:lnSpc>
            </a:pPr>
            <a:r>
              <a:rPr lang="en-US" sz="2400" dirty="0" smtClean="0"/>
              <a:t>Same account number for deposits and withdrawals</a:t>
            </a:r>
          </a:p>
          <a:p>
            <a:pPr>
              <a:lnSpc>
                <a:spcPct val="110000"/>
              </a:lnSpc>
            </a:pPr>
            <a:r>
              <a:rPr lang="en-US" dirty="0" smtClean="0"/>
              <a:t>Typical bank transactions</a:t>
            </a:r>
          </a:p>
          <a:p>
            <a:pPr lvl="1">
              <a:lnSpc>
                <a:spcPct val="110000"/>
              </a:lnSpc>
            </a:pPr>
            <a:r>
              <a:rPr lang="en-US" sz="2400" dirty="0" smtClean="0"/>
              <a:t>Check</a:t>
            </a:r>
          </a:p>
          <a:p>
            <a:pPr lvl="1">
              <a:lnSpc>
                <a:spcPct val="110000"/>
              </a:lnSpc>
            </a:pPr>
            <a:r>
              <a:rPr lang="en-US" sz="2400" dirty="0" smtClean="0"/>
              <a:t>ATM</a:t>
            </a:r>
          </a:p>
          <a:p>
            <a:pPr lvl="1">
              <a:lnSpc>
                <a:spcPct val="110000"/>
              </a:lnSpc>
            </a:pPr>
            <a:r>
              <a:rPr lang="en-US" sz="2400" dirty="0" smtClean="0"/>
              <a:t>Wire transfer</a:t>
            </a:r>
          </a:p>
          <a:p>
            <a:pPr>
              <a:lnSpc>
                <a:spcPct val="110000"/>
              </a:lnSpc>
              <a:spcBef>
                <a:spcPts val="600"/>
              </a:spcBef>
            </a:pPr>
            <a:r>
              <a:rPr lang="en-US" dirty="0" smtClean="0"/>
              <a:t>Banking in the US</a:t>
            </a:r>
          </a:p>
          <a:p>
            <a:pPr lvl="1">
              <a:lnSpc>
                <a:spcPct val="110000"/>
              </a:lnSpc>
            </a:pPr>
            <a:r>
              <a:rPr lang="en-US" sz="2400" dirty="0" smtClean="0"/>
              <a:t>Account title</a:t>
            </a:r>
          </a:p>
          <a:p>
            <a:pPr lvl="1">
              <a:lnSpc>
                <a:spcPct val="110000"/>
              </a:lnSpc>
            </a:pPr>
            <a:r>
              <a:rPr lang="en-US" sz="2400" dirty="0" smtClean="0"/>
              <a:t>Taxpayer ID Number (TIN)</a:t>
            </a:r>
          </a:p>
          <a:p>
            <a:pPr lvl="1">
              <a:lnSpc>
                <a:spcPct val="110000"/>
              </a:lnSpc>
            </a:pPr>
            <a:r>
              <a:rPr lang="en-US" sz="2400" dirty="0" smtClean="0"/>
              <a:t>Checks can be generated by customers or third parties</a:t>
            </a:r>
          </a:p>
          <a:p>
            <a:pPr lvl="1">
              <a:lnSpc>
                <a:spcPct val="110000"/>
              </a:lnSpc>
            </a:pPr>
            <a:r>
              <a:rPr lang="en-US" sz="2400" dirty="0" smtClean="0"/>
              <a:t>Signature not verified in practice for amounts below $30K</a:t>
            </a:r>
          </a:p>
          <a:p>
            <a:pPr lvl="1">
              <a:lnSpc>
                <a:spcPct val="110000"/>
              </a:lnSpc>
            </a:pPr>
            <a:r>
              <a:rPr lang="en-US" sz="2400" dirty="0" smtClean="0"/>
              <a:t>Automated Clearing House (ACH), regulated by Federal Reserve, supports interbank transfers, direct deposits and direct debits</a:t>
            </a:r>
          </a:p>
          <a:p>
            <a:pPr lvl="1">
              <a:lnSpc>
                <a:spcPct val="110000"/>
              </a:lnSpc>
            </a:pPr>
            <a:r>
              <a:rPr lang="en-US" sz="2400" dirty="0" smtClean="0"/>
              <a:t>ACH allows one to initiate from account A an inbound transfer into A from any account B with same TIN as A</a:t>
            </a:r>
            <a:endParaRPr lang="en-US" sz="3200" dirty="0"/>
          </a:p>
        </p:txBody>
      </p:sp>
      <p:sp>
        <p:nvSpPr>
          <p:cNvPr id="4" name="Date Placeholder 3"/>
          <p:cNvSpPr>
            <a:spLocks noGrp="1"/>
          </p:cNvSpPr>
          <p:nvPr>
            <p:ph type="dt" idx="10"/>
          </p:nvPr>
        </p:nvSpPr>
        <p:spPr/>
        <p:txBody>
          <a:bodyPr/>
          <a:lstStyle/>
          <a:p>
            <a:pPr>
              <a:defRPr/>
            </a:pPr>
            <a:fld id="{258BB1F6-2A65-44E7-B419-272598D86757}"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35</a:t>
            </a:fld>
            <a:endParaRPr lang="en-GB" dirty="0"/>
          </a:p>
        </p:txBody>
      </p:sp>
    </p:spTree>
    <p:extLst>
      <p:ext uri="{BB962C8B-B14F-4D97-AF65-F5344CB8AC3E}">
        <p14:creationId xmlns:p14="http://schemas.microsoft.com/office/powerpoint/2010/main" val="28001549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Bank Frauds</a:t>
            </a:r>
            <a:endParaRPr lang="en-US"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lnSpc>
                <a:spcPct val="120000"/>
              </a:lnSpc>
            </a:pPr>
            <a:r>
              <a:rPr lang="en-US" dirty="0" smtClean="0"/>
              <a:t>Forged checks</a:t>
            </a:r>
          </a:p>
          <a:p>
            <a:pPr lvl="1">
              <a:lnSpc>
                <a:spcPct val="120000"/>
              </a:lnSpc>
            </a:pPr>
            <a:r>
              <a:rPr lang="en-US" dirty="0" smtClean="0"/>
              <a:t>Create checks with magnetic ink printers</a:t>
            </a:r>
          </a:p>
          <a:p>
            <a:pPr lvl="1">
              <a:lnSpc>
                <a:spcPct val="120000"/>
              </a:lnSpc>
            </a:pPr>
            <a:r>
              <a:rPr lang="en-US" dirty="0" smtClean="0"/>
              <a:t>Cash with fake ID</a:t>
            </a:r>
          </a:p>
          <a:p>
            <a:pPr lvl="1">
              <a:lnSpc>
                <a:spcPct val="120000"/>
              </a:lnSpc>
            </a:pPr>
            <a:r>
              <a:rPr lang="en-US" dirty="0" smtClean="0"/>
              <a:t>Low amounts typically not scrutinized</a:t>
            </a:r>
          </a:p>
          <a:p>
            <a:pPr>
              <a:lnSpc>
                <a:spcPct val="120000"/>
              </a:lnSpc>
            </a:pPr>
            <a:r>
              <a:rPr lang="en-US" dirty="0" smtClean="0"/>
              <a:t>Wire transfer</a:t>
            </a:r>
          </a:p>
          <a:p>
            <a:pPr lvl="1">
              <a:lnSpc>
                <a:spcPct val="120000"/>
              </a:lnSpc>
            </a:pPr>
            <a:r>
              <a:rPr lang="en-US" dirty="0" smtClean="0"/>
              <a:t>Send fax to bank to order wire transfer</a:t>
            </a:r>
          </a:p>
          <a:p>
            <a:pPr lvl="1">
              <a:lnSpc>
                <a:spcPct val="120000"/>
              </a:lnSpc>
            </a:pPr>
            <a:r>
              <a:rPr lang="en-US" dirty="0" smtClean="0"/>
              <a:t>Most effective if money wired abroad</a:t>
            </a:r>
          </a:p>
          <a:p>
            <a:pPr>
              <a:lnSpc>
                <a:spcPct val="120000"/>
              </a:lnSpc>
            </a:pPr>
            <a:r>
              <a:rPr lang="en-US" dirty="0" smtClean="0"/>
              <a:t>Account creation</a:t>
            </a:r>
          </a:p>
          <a:p>
            <a:pPr lvl="1">
              <a:lnSpc>
                <a:spcPct val="120000"/>
              </a:lnSpc>
            </a:pPr>
            <a:r>
              <a:rPr lang="en-US" dirty="0" smtClean="0"/>
              <a:t>Create account A impersonating owner of account B</a:t>
            </a:r>
          </a:p>
          <a:p>
            <a:pPr lvl="1">
              <a:lnSpc>
                <a:spcPct val="120000"/>
              </a:lnSpc>
            </a:pPr>
            <a:r>
              <a:rPr lang="en-US" dirty="0" smtClean="0"/>
              <a:t>ACH transfer from B to A</a:t>
            </a:r>
          </a:p>
          <a:p>
            <a:pPr lvl="1">
              <a:lnSpc>
                <a:spcPct val="120000"/>
              </a:lnSpc>
            </a:pPr>
            <a:r>
              <a:rPr lang="en-US" dirty="0" smtClean="0"/>
              <a:t>Cash with ATM or wire transfer </a:t>
            </a:r>
            <a:endParaRPr lang="en-US" dirty="0"/>
          </a:p>
        </p:txBody>
      </p:sp>
      <p:sp>
        <p:nvSpPr>
          <p:cNvPr id="4" name="Date Placeholder 3"/>
          <p:cNvSpPr>
            <a:spLocks noGrp="1"/>
          </p:cNvSpPr>
          <p:nvPr>
            <p:ph type="dt" idx="10"/>
          </p:nvPr>
        </p:nvSpPr>
        <p:spPr/>
        <p:txBody>
          <a:bodyPr/>
          <a:lstStyle/>
          <a:p>
            <a:pPr>
              <a:defRPr/>
            </a:pPr>
            <a:fld id="{93564EF9-7065-4F92-933F-31C5DB9E6DE0}"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36</a:t>
            </a:fld>
            <a:endParaRPr lang="en-GB"/>
          </a:p>
        </p:txBody>
      </p:sp>
    </p:spTree>
    <p:extLst>
      <p:ext uri="{BB962C8B-B14F-4D97-AF65-F5344CB8AC3E}">
        <p14:creationId xmlns:p14="http://schemas.microsoft.com/office/powerpoint/2010/main" val="30806840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Defending Against Bank Fraud</a:t>
            </a:r>
            <a:endParaRPr lang="en-US" dirty="0"/>
          </a:p>
        </p:txBody>
      </p:sp>
      <p:sp>
        <p:nvSpPr>
          <p:cNvPr id="3" name="Content Placeholder 2"/>
          <p:cNvSpPr>
            <a:spLocks noGrp="1"/>
          </p:cNvSpPr>
          <p:nvPr>
            <p:ph idx="1"/>
          </p:nvPr>
        </p:nvSpPr>
        <p:spPr>
          <a:xfrm>
            <a:off x="533400" y="1219200"/>
            <a:ext cx="8228013" cy="5257800"/>
          </a:xfrm>
        </p:spPr>
        <p:txBody>
          <a:bodyPr>
            <a:normAutofit fontScale="70000" lnSpcReduction="20000"/>
          </a:bodyPr>
          <a:lstStyle/>
          <a:p>
            <a:pPr>
              <a:lnSpc>
                <a:spcPct val="120000"/>
              </a:lnSpc>
            </a:pPr>
            <a:r>
              <a:rPr lang="en-US" dirty="0" smtClean="0"/>
              <a:t>Multi-factor authentication</a:t>
            </a:r>
          </a:p>
          <a:p>
            <a:pPr lvl="1">
              <a:lnSpc>
                <a:spcPct val="120000"/>
              </a:lnSpc>
            </a:pPr>
            <a:r>
              <a:rPr lang="en-US" dirty="0" smtClean="0"/>
              <a:t>Hardware token generating one-time codes</a:t>
            </a:r>
          </a:p>
          <a:p>
            <a:pPr lvl="1">
              <a:lnSpc>
                <a:spcPct val="120000"/>
              </a:lnSpc>
            </a:pPr>
            <a:r>
              <a:rPr lang="en-US" dirty="0" smtClean="0"/>
              <a:t>Personal images and sentences to defend against phishing</a:t>
            </a:r>
          </a:p>
          <a:p>
            <a:pPr lvl="1">
              <a:lnSpc>
                <a:spcPct val="120000"/>
              </a:lnSpc>
            </a:pPr>
            <a:r>
              <a:rPr lang="en-US" dirty="0" smtClean="0"/>
              <a:t>Code sent by email/</a:t>
            </a:r>
            <a:r>
              <a:rPr lang="en-US" dirty="0" err="1" smtClean="0"/>
              <a:t>sms</a:t>
            </a:r>
            <a:r>
              <a:rPr lang="en-US" dirty="0" smtClean="0"/>
              <a:t> to registered address to authorize debit transactions</a:t>
            </a:r>
          </a:p>
          <a:p>
            <a:pPr>
              <a:lnSpc>
                <a:spcPct val="120000"/>
              </a:lnSpc>
            </a:pPr>
            <a:r>
              <a:rPr lang="en-US" dirty="0" smtClean="0"/>
              <a:t>Account ownership verification</a:t>
            </a:r>
          </a:p>
          <a:p>
            <a:pPr lvl="1">
              <a:lnSpc>
                <a:spcPct val="120000"/>
              </a:lnSpc>
            </a:pPr>
            <a:r>
              <a:rPr lang="en-US" dirty="0" smtClean="0"/>
              <a:t>Linking accounts for ACH transfers requires knowledge of to small deposits to the account</a:t>
            </a:r>
          </a:p>
          <a:p>
            <a:pPr>
              <a:lnSpc>
                <a:spcPct val="120000"/>
              </a:lnSpc>
            </a:pPr>
            <a:r>
              <a:rPr lang="en-US" dirty="0" smtClean="0"/>
              <a:t>Restrictions on accounts</a:t>
            </a:r>
          </a:p>
          <a:p>
            <a:pPr lvl="1">
              <a:lnSpc>
                <a:spcPct val="120000"/>
              </a:lnSpc>
            </a:pPr>
            <a:r>
              <a:rPr lang="en-US" dirty="0" smtClean="0"/>
              <a:t>E.g., only credit transaction accepted</a:t>
            </a:r>
          </a:p>
          <a:p>
            <a:pPr>
              <a:lnSpc>
                <a:spcPct val="120000"/>
              </a:lnSpc>
            </a:pPr>
            <a:r>
              <a:rPr lang="en-US" dirty="0" smtClean="0"/>
              <a:t>Monitoring bank transactions</a:t>
            </a:r>
          </a:p>
          <a:p>
            <a:pPr lvl="1">
              <a:lnSpc>
                <a:spcPct val="120000"/>
              </a:lnSpc>
            </a:pPr>
            <a:r>
              <a:rPr lang="en-US" dirty="0" smtClean="0"/>
              <a:t>Email/text message after each transactions</a:t>
            </a:r>
          </a:p>
          <a:p>
            <a:pPr>
              <a:lnSpc>
                <a:spcPct val="120000"/>
              </a:lnSpc>
            </a:pPr>
            <a:r>
              <a:rPr lang="en-US" dirty="0" smtClean="0"/>
              <a:t>No online banking</a:t>
            </a:r>
          </a:p>
          <a:p>
            <a:pPr lvl="1">
              <a:lnSpc>
                <a:spcPct val="120000"/>
              </a:lnSpc>
            </a:pPr>
            <a:r>
              <a:rPr lang="en-US" dirty="0" smtClean="0"/>
              <a:t>Limited bank liability for online frauds</a:t>
            </a:r>
          </a:p>
        </p:txBody>
      </p:sp>
      <p:sp>
        <p:nvSpPr>
          <p:cNvPr id="4" name="Date Placeholder 3"/>
          <p:cNvSpPr>
            <a:spLocks noGrp="1"/>
          </p:cNvSpPr>
          <p:nvPr>
            <p:ph type="dt" idx="10"/>
          </p:nvPr>
        </p:nvSpPr>
        <p:spPr/>
        <p:txBody>
          <a:bodyPr/>
          <a:lstStyle/>
          <a:p>
            <a:pPr>
              <a:defRPr/>
            </a:pPr>
            <a:fld id="{7F41DEE6-C7BD-4AAD-A5B9-482FBB93FE59}" type="datetime1">
              <a:rPr lang="en-US" smtClean="0"/>
              <a:pPr>
                <a:defRPr/>
              </a:pPr>
              <a:t>8/22/2017</a:t>
            </a:fld>
            <a:endParaRPr lang="en-GB"/>
          </a:p>
        </p:txBody>
      </p:sp>
      <p:sp>
        <p:nvSpPr>
          <p:cNvPr id="5" name="Footer Placeholder 4"/>
          <p:cNvSpPr>
            <a:spLocks noGrp="1"/>
          </p:cNvSpPr>
          <p:nvPr>
            <p:ph type="ftr" idx="11"/>
          </p:nvPr>
        </p:nvSpPr>
        <p:spPr/>
        <p:txBody>
          <a:bodyPr/>
          <a:lstStyle/>
          <a:p>
            <a:pPr>
              <a:defRPr/>
            </a:pPr>
            <a:r>
              <a:rPr lang="en-GB" smtClean="0"/>
              <a:t>Spam and Cybercrime</a:t>
            </a:r>
            <a:endParaRPr lang="en-GB" dirty="0"/>
          </a:p>
        </p:txBody>
      </p:sp>
      <p:sp>
        <p:nvSpPr>
          <p:cNvPr id="6" name="Slide Number Placeholder 5"/>
          <p:cNvSpPr>
            <a:spLocks noGrp="1"/>
          </p:cNvSpPr>
          <p:nvPr>
            <p:ph type="sldNum" idx="12"/>
          </p:nvPr>
        </p:nvSpPr>
        <p:spPr/>
        <p:txBody>
          <a:bodyPr/>
          <a:lstStyle/>
          <a:p>
            <a:pPr>
              <a:defRPr/>
            </a:pPr>
            <a:fld id="{C3261D9E-C143-464A-BEEB-8E77ED214114}" type="slidenum">
              <a:rPr lang="en-GB" smtClean="0"/>
              <a:pPr>
                <a:defRPr/>
              </a:pPr>
              <a:t>37</a:t>
            </a:fld>
            <a:endParaRPr lang="en-GB" dirty="0"/>
          </a:p>
        </p:txBody>
      </p:sp>
    </p:spTree>
    <p:extLst>
      <p:ext uri="{BB962C8B-B14F-4D97-AF65-F5344CB8AC3E}">
        <p14:creationId xmlns:p14="http://schemas.microsoft.com/office/powerpoint/2010/main" val="10952034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itle 1"/>
          <p:cNvSpPr>
            <a:spLocks noGrp="1"/>
          </p:cNvSpPr>
          <p:nvPr>
            <p:ph type="ctrTitle"/>
          </p:nvPr>
        </p:nvSpPr>
        <p:spPr/>
        <p:txBody>
          <a:bodyPr/>
          <a:lstStyle/>
          <a:p>
            <a:pPr eaLnBrk="1" hangingPunct="1"/>
            <a:r>
              <a:rPr lang="en-US" dirty="0" smtClean="0"/>
              <a:t>Payment Systems</a:t>
            </a:r>
          </a:p>
        </p:txBody>
      </p:sp>
      <p:sp>
        <p:nvSpPr>
          <p:cNvPr id="4100" name="Slide Number Placeholder 4"/>
          <p:cNvSpPr>
            <a:spLocks noGrp="1"/>
          </p:cNvSpPr>
          <p:nvPr>
            <p:ph type="sldNum" sz="quarter" idx="12"/>
          </p:nvPr>
        </p:nvSpPr>
        <p:spPr>
          <a:noFill/>
        </p:spPr>
        <p:txBody>
          <a:bodyPr/>
          <a:lstStyle/>
          <a:p>
            <a:fld id="{B1C7730A-A9D3-4CEF-B157-ED231D7308DC}" type="slidenum">
              <a:rPr lang="en-US" smtClean="0"/>
              <a:pPr/>
              <a:t>38</a:t>
            </a:fld>
            <a:endParaRPr lang="en-US" smtClean="0"/>
          </a:p>
        </p:txBody>
      </p:sp>
    </p:spTree>
    <p:extLst>
      <p:ext uri="{BB962C8B-B14F-4D97-AF65-F5344CB8AC3E}">
        <p14:creationId xmlns:p14="http://schemas.microsoft.com/office/powerpoint/2010/main" val="976840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t>Electronic Payment Schemes</a:t>
            </a:r>
          </a:p>
        </p:txBody>
      </p:sp>
      <p:sp>
        <p:nvSpPr>
          <p:cNvPr id="5123" name="Content Placeholder 2"/>
          <p:cNvSpPr>
            <a:spLocks noGrp="1"/>
          </p:cNvSpPr>
          <p:nvPr>
            <p:ph idx="1"/>
          </p:nvPr>
        </p:nvSpPr>
        <p:spPr/>
        <p:txBody>
          <a:bodyPr/>
          <a:lstStyle/>
          <a:p>
            <a:pPr eaLnBrk="1" hangingPunct="1"/>
            <a:r>
              <a:rPr lang="en-US" sz="2800" dirty="0" smtClean="0"/>
              <a:t>Schemes for electronic payment are </a:t>
            </a:r>
            <a:r>
              <a:rPr lang="en-US" sz="2800" dirty="0" smtClean="0">
                <a:solidFill>
                  <a:schemeClr val="accent6"/>
                </a:solidFill>
              </a:rPr>
              <a:t>multi-party protocols</a:t>
            </a:r>
          </a:p>
          <a:p>
            <a:pPr eaLnBrk="1" hangingPunct="1"/>
            <a:r>
              <a:rPr lang="en-US" sz="2800" dirty="0" smtClean="0"/>
              <a:t>Payment instrument modeled by </a:t>
            </a:r>
            <a:r>
              <a:rPr lang="en-US" sz="2800" dirty="0" smtClean="0">
                <a:solidFill>
                  <a:schemeClr val="accent6"/>
                </a:solidFill>
              </a:rPr>
              <a:t>electronic coin</a:t>
            </a:r>
            <a:r>
              <a:rPr lang="en-US" sz="2800" dirty="0" smtClean="0"/>
              <a:t> that has a fixed value and can be exchanged with a traditional monetary instrument</a:t>
            </a:r>
          </a:p>
          <a:p>
            <a:pPr eaLnBrk="1" hangingPunct="1"/>
            <a:r>
              <a:rPr lang="en-US" sz="2800" dirty="0" smtClean="0"/>
              <a:t>Parties include:</a:t>
            </a:r>
          </a:p>
          <a:p>
            <a:pPr lvl="1" eaLnBrk="1" hangingPunct="1"/>
            <a:r>
              <a:rPr lang="en-US" sz="2400" dirty="0" smtClean="0"/>
              <a:t>Payer (customer)</a:t>
            </a:r>
          </a:p>
          <a:p>
            <a:pPr lvl="1" eaLnBrk="1" hangingPunct="1"/>
            <a:r>
              <a:rPr lang="en-US" sz="2400" dirty="0" smtClean="0"/>
              <a:t>Payee (merchant)</a:t>
            </a:r>
          </a:p>
          <a:p>
            <a:pPr lvl="1" eaLnBrk="1" hangingPunct="1"/>
            <a:r>
              <a:rPr lang="en-US" sz="2400" dirty="0" smtClean="0"/>
              <a:t>Bank</a:t>
            </a:r>
          </a:p>
        </p:txBody>
      </p:sp>
      <p:sp>
        <p:nvSpPr>
          <p:cNvPr id="5126" name="Slide Number Placeholder 4"/>
          <p:cNvSpPr>
            <a:spLocks noGrp="1"/>
          </p:cNvSpPr>
          <p:nvPr>
            <p:ph type="sldNum" sz="quarter" idx="12"/>
          </p:nvPr>
        </p:nvSpPr>
        <p:spPr>
          <a:xfrm>
            <a:off x="6553200" y="6492875"/>
            <a:ext cx="2133600" cy="365125"/>
          </a:xfrm>
          <a:noFill/>
        </p:spPr>
        <p:txBody>
          <a:bodyPr/>
          <a:lstStyle/>
          <a:p>
            <a:fld id="{6D2F361D-2BA8-436B-AB82-CECDE183E31F}" type="slidenum">
              <a:rPr lang="en-US" smtClean="0"/>
              <a:pPr/>
              <a:t>39</a:t>
            </a:fld>
            <a:endParaRPr lang="en-US" smtClean="0"/>
          </a:p>
        </p:txBody>
      </p:sp>
      <p:sp>
        <p:nvSpPr>
          <p:cNvPr id="7" name="Rectangle 6"/>
          <p:cNvSpPr/>
          <p:nvPr/>
        </p:nvSpPr>
        <p:spPr>
          <a:xfrm>
            <a:off x="4267200" y="3962400"/>
            <a:ext cx="1143000" cy="762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Customer</a:t>
            </a:r>
            <a:endParaRPr lang="en-US" dirty="0"/>
          </a:p>
        </p:txBody>
      </p:sp>
      <p:sp>
        <p:nvSpPr>
          <p:cNvPr id="8" name="Rectangle 7"/>
          <p:cNvSpPr/>
          <p:nvPr/>
        </p:nvSpPr>
        <p:spPr>
          <a:xfrm>
            <a:off x="7620000" y="3962400"/>
            <a:ext cx="1143000" cy="76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Merchant</a:t>
            </a:r>
            <a:endParaRPr lang="en-US" dirty="0"/>
          </a:p>
        </p:txBody>
      </p:sp>
      <p:cxnSp>
        <p:nvCxnSpPr>
          <p:cNvPr id="11" name="Straight Arrow Connector 10"/>
          <p:cNvCxnSpPr>
            <a:stCxn id="5130" idx="1"/>
            <a:endCxn id="7" idx="2"/>
          </p:cNvCxnSpPr>
          <p:nvPr/>
        </p:nvCxnSpPr>
        <p:spPr>
          <a:xfrm rot="10800000">
            <a:off x="4838700" y="4724401"/>
            <a:ext cx="1025390" cy="1342823"/>
          </a:xfrm>
          <a:prstGeom prst="straightConnector1">
            <a:avLst/>
          </a:prstGeom>
          <a:ln>
            <a:solidFill>
              <a:schemeClr val="tx1"/>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2" name="Straight Arrow Connector 11"/>
          <p:cNvCxnSpPr>
            <a:stCxn id="8" idx="2"/>
            <a:endCxn id="5130" idx="3"/>
          </p:cNvCxnSpPr>
          <p:nvPr/>
        </p:nvCxnSpPr>
        <p:spPr>
          <a:xfrm rot="5400000">
            <a:off x="6980272" y="4855994"/>
            <a:ext cx="1342823" cy="1079635"/>
          </a:xfrm>
          <a:prstGeom prst="straightConnector1">
            <a:avLst/>
          </a:prstGeom>
          <a:ln>
            <a:solidFill>
              <a:schemeClr val="tx1"/>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 name="Straight Arrow Connector 14"/>
          <p:cNvCxnSpPr>
            <a:stCxn id="7" idx="3"/>
            <a:endCxn id="8" idx="1"/>
          </p:cNvCxnSpPr>
          <p:nvPr/>
        </p:nvCxnSpPr>
        <p:spPr>
          <a:xfrm>
            <a:off x="5410200" y="4343400"/>
            <a:ext cx="2209800" cy="1588"/>
          </a:xfrm>
          <a:prstGeom prst="straightConnector1">
            <a:avLst/>
          </a:prstGeom>
          <a:ln>
            <a:solidFill>
              <a:schemeClr val="tx1"/>
            </a:solidFill>
            <a:headEnd type="none" w="med" len="med"/>
            <a:tailEnd type="none" w="med" len="med"/>
          </a:ln>
        </p:spPr>
        <p:style>
          <a:lnRef idx="3">
            <a:schemeClr val="dk1"/>
          </a:lnRef>
          <a:fillRef idx="0">
            <a:schemeClr val="dk1"/>
          </a:fillRef>
          <a:effectRef idx="2">
            <a:schemeClr val="dk1"/>
          </a:effectRef>
          <a:fontRef idx="minor">
            <a:schemeClr val="tx1"/>
          </a:fontRef>
        </p:style>
      </p:cxnSp>
      <p:pic>
        <p:nvPicPr>
          <p:cNvPr id="5130" name="Picture 10" descr="C:\Users\rt\AppData\Local\Microsoft\Windows\Temporary Internet Files\Content.IE5\ED8LK8UX\MCj04403800000[1].png"/>
          <p:cNvPicPr>
            <a:picLocks noChangeAspect="1" noChangeArrowheads="1"/>
          </p:cNvPicPr>
          <p:nvPr/>
        </p:nvPicPr>
        <p:blipFill>
          <a:blip r:embed="rId3" cstate="print"/>
          <a:srcRect/>
          <a:stretch>
            <a:fillRect/>
          </a:stretch>
        </p:blipFill>
        <p:spPr bwMode="auto">
          <a:xfrm>
            <a:off x="5891213" y="5443335"/>
            <a:ext cx="1247775" cy="1247775"/>
          </a:xfrm>
          <a:prstGeom prst="rect">
            <a:avLst/>
          </a:prstGeom>
          <a:noFill/>
        </p:spPr>
      </p:pic>
    </p:spTree>
    <p:extLst>
      <p:ext uri="{BB962C8B-B14F-4D97-AF65-F5344CB8AC3E}">
        <p14:creationId xmlns:p14="http://schemas.microsoft.com/office/powerpoint/2010/main" val="1496716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t>Transactions</a:t>
            </a:r>
          </a:p>
        </p:txBody>
      </p:sp>
      <p:sp>
        <p:nvSpPr>
          <p:cNvPr id="6147" name="Content Placeholder 2"/>
          <p:cNvSpPr>
            <a:spLocks noGrp="1"/>
          </p:cNvSpPr>
          <p:nvPr>
            <p:ph idx="1"/>
          </p:nvPr>
        </p:nvSpPr>
        <p:spPr>
          <a:xfrm>
            <a:off x="381000" y="1524000"/>
            <a:ext cx="8305800" cy="4953000"/>
          </a:xfrm>
        </p:spPr>
        <p:txBody>
          <a:bodyPr>
            <a:normAutofit lnSpcReduction="10000"/>
          </a:bodyPr>
          <a:lstStyle/>
          <a:p>
            <a:pPr eaLnBrk="1" hangingPunct="1"/>
            <a:r>
              <a:rPr lang="en-US" sz="2800" dirty="0" smtClean="0"/>
              <a:t>Transactions in an electronic payment scheme typically include:</a:t>
            </a:r>
          </a:p>
          <a:p>
            <a:pPr lvl="1" eaLnBrk="1" hangingPunct="1"/>
            <a:r>
              <a:rPr lang="en-US" sz="2400" dirty="0" smtClean="0">
                <a:solidFill>
                  <a:schemeClr val="accent6"/>
                </a:solidFill>
              </a:rPr>
              <a:t>Withdrawal</a:t>
            </a:r>
            <a:r>
              <a:rPr lang="en-US" sz="2400" dirty="0" smtClean="0"/>
              <a:t> of coins by </a:t>
            </a:r>
            <a:br>
              <a:rPr lang="en-US" sz="2400" dirty="0" smtClean="0"/>
            </a:br>
            <a:r>
              <a:rPr lang="en-US" sz="2400" dirty="0" smtClean="0"/>
              <a:t>customer from the bank</a:t>
            </a:r>
          </a:p>
          <a:p>
            <a:pPr lvl="1" eaLnBrk="1" hangingPunct="1"/>
            <a:r>
              <a:rPr lang="en-US" sz="2400" dirty="0" smtClean="0">
                <a:solidFill>
                  <a:schemeClr val="accent6"/>
                </a:solidFill>
              </a:rPr>
              <a:t>Payment</a:t>
            </a:r>
            <a:r>
              <a:rPr lang="en-US" sz="2400" dirty="0" smtClean="0"/>
              <a:t> of coins by </a:t>
            </a:r>
            <a:br>
              <a:rPr lang="en-US" sz="2400" dirty="0" smtClean="0"/>
            </a:br>
            <a:r>
              <a:rPr lang="en-US" sz="2400" dirty="0" smtClean="0"/>
              <a:t>customer to merchant</a:t>
            </a:r>
          </a:p>
          <a:p>
            <a:pPr lvl="1" eaLnBrk="1" hangingPunct="1"/>
            <a:r>
              <a:rPr lang="en-US" sz="2400" dirty="0" smtClean="0">
                <a:solidFill>
                  <a:schemeClr val="accent6"/>
                </a:solidFill>
              </a:rPr>
              <a:t>Deposit</a:t>
            </a:r>
            <a:r>
              <a:rPr lang="en-US" sz="2400" dirty="0" smtClean="0"/>
              <a:t> of coins by </a:t>
            </a:r>
            <a:br>
              <a:rPr lang="en-US" sz="2400" dirty="0" smtClean="0"/>
            </a:br>
            <a:r>
              <a:rPr lang="en-US" sz="2400" dirty="0" smtClean="0"/>
              <a:t>merchant into bank</a:t>
            </a:r>
          </a:p>
          <a:p>
            <a:pPr eaLnBrk="1" hangingPunct="1"/>
            <a:r>
              <a:rPr lang="en-US" sz="2800" dirty="0" smtClean="0"/>
              <a:t>Online scheme:</a:t>
            </a:r>
          </a:p>
          <a:p>
            <a:pPr lvl="1" eaLnBrk="1" hangingPunct="1"/>
            <a:r>
              <a:rPr lang="en-US" sz="2400" dirty="0" smtClean="0"/>
              <a:t>The bank participates in the payment transaction</a:t>
            </a:r>
          </a:p>
          <a:p>
            <a:pPr eaLnBrk="1" hangingPunct="1"/>
            <a:r>
              <a:rPr lang="en-US" sz="2800" dirty="0" smtClean="0"/>
              <a:t>Offline scheme</a:t>
            </a:r>
          </a:p>
          <a:p>
            <a:pPr lvl="1" eaLnBrk="1" hangingPunct="1"/>
            <a:r>
              <a:rPr lang="en-US" sz="2400" dirty="0" smtClean="0"/>
              <a:t>The  bank does not participate in the payment transaction</a:t>
            </a:r>
          </a:p>
        </p:txBody>
      </p:sp>
      <p:sp>
        <p:nvSpPr>
          <p:cNvPr id="6150" name="Slide Number Placeholder 4"/>
          <p:cNvSpPr>
            <a:spLocks noGrp="1"/>
          </p:cNvSpPr>
          <p:nvPr>
            <p:ph type="sldNum" sz="quarter" idx="12"/>
          </p:nvPr>
        </p:nvSpPr>
        <p:spPr>
          <a:noFill/>
        </p:spPr>
        <p:txBody>
          <a:bodyPr/>
          <a:lstStyle/>
          <a:p>
            <a:fld id="{F1E87F76-37AC-4E1D-8825-EAFC2F019FC7}" type="slidenum">
              <a:rPr lang="en-US" smtClean="0"/>
              <a:pPr/>
              <a:t>40</a:t>
            </a:fld>
            <a:endParaRPr lang="en-US" smtClean="0"/>
          </a:p>
        </p:txBody>
      </p:sp>
      <p:grpSp>
        <p:nvGrpSpPr>
          <p:cNvPr id="7" name="Group 6"/>
          <p:cNvGrpSpPr/>
          <p:nvPr/>
        </p:nvGrpSpPr>
        <p:grpSpPr>
          <a:xfrm>
            <a:off x="4419600" y="2209800"/>
            <a:ext cx="4495800" cy="2804910"/>
            <a:chOff x="4191000" y="3810000"/>
            <a:chExt cx="4495800" cy="2804910"/>
          </a:xfrm>
        </p:grpSpPr>
        <p:sp>
          <p:nvSpPr>
            <p:cNvPr id="8" name="Rectangle 7"/>
            <p:cNvSpPr/>
            <p:nvPr/>
          </p:nvSpPr>
          <p:spPr>
            <a:xfrm>
              <a:off x="4191000" y="3886200"/>
              <a:ext cx="1143000" cy="762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Customer</a:t>
              </a:r>
              <a:endParaRPr lang="en-US" dirty="0"/>
            </a:p>
          </p:txBody>
        </p:sp>
        <p:sp>
          <p:nvSpPr>
            <p:cNvPr id="9" name="Rectangle 8"/>
            <p:cNvSpPr/>
            <p:nvPr/>
          </p:nvSpPr>
          <p:spPr>
            <a:xfrm>
              <a:off x="7543800" y="3886200"/>
              <a:ext cx="1143000" cy="76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Merchant</a:t>
              </a:r>
              <a:endParaRPr lang="en-US" dirty="0"/>
            </a:p>
          </p:txBody>
        </p:sp>
        <p:cxnSp>
          <p:nvCxnSpPr>
            <p:cNvPr id="10" name="Straight Arrow Connector 9"/>
            <p:cNvCxnSpPr>
              <a:endCxn id="8" idx="2"/>
            </p:cNvCxnSpPr>
            <p:nvPr/>
          </p:nvCxnSpPr>
          <p:spPr>
            <a:xfrm rot="10800000">
              <a:off x="4762500" y="4648200"/>
              <a:ext cx="1104900" cy="1295400"/>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9" idx="2"/>
            </p:cNvCxnSpPr>
            <p:nvPr/>
          </p:nvCxnSpPr>
          <p:spPr>
            <a:xfrm rot="5400000">
              <a:off x="6915150" y="4743450"/>
              <a:ext cx="1295400" cy="1104900"/>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cxnSp>
          <p:nvCxnSpPr>
            <p:cNvPr id="12" name="Straight Arrow Connector 11"/>
            <p:cNvCxnSpPr>
              <a:stCxn id="8" idx="3"/>
              <a:endCxn id="9" idx="1"/>
            </p:cNvCxnSpPr>
            <p:nvPr/>
          </p:nvCxnSpPr>
          <p:spPr>
            <a:xfrm>
              <a:off x="5334000" y="4267200"/>
              <a:ext cx="2209800" cy="1588"/>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sp>
          <p:nvSpPr>
            <p:cNvPr id="13" name="Oval 12"/>
            <p:cNvSpPr/>
            <p:nvPr/>
          </p:nvSpPr>
          <p:spPr>
            <a:xfrm>
              <a:off x="4937098" y="5326049"/>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4" name="Oval 13"/>
            <p:cNvSpPr/>
            <p:nvPr/>
          </p:nvSpPr>
          <p:spPr>
            <a:xfrm>
              <a:off x="6221277" y="3810000"/>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5" name="Oval 14"/>
            <p:cNvSpPr/>
            <p:nvPr/>
          </p:nvSpPr>
          <p:spPr>
            <a:xfrm>
              <a:off x="7604098" y="5326049"/>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6" name="TextBox 15"/>
            <p:cNvSpPr txBox="1"/>
            <p:nvPr/>
          </p:nvSpPr>
          <p:spPr>
            <a:xfrm rot="2972862">
              <a:off x="4901217" y="5000032"/>
              <a:ext cx="1095172" cy="369332"/>
            </a:xfrm>
            <a:prstGeom prst="rect">
              <a:avLst/>
            </a:prstGeom>
            <a:noFill/>
          </p:spPr>
          <p:txBody>
            <a:bodyPr wrap="none" rtlCol="0">
              <a:spAutoFit/>
            </a:bodyPr>
            <a:lstStyle/>
            <a:p>
              <a:pPr algn="ctr"/>
              <a:r>
                <a:rPr lang="en-US" dirty="0" smtClean="0"/>
                <a:t>withdraw</a:t>
              </a:r>
              <a:endParaRPr lang="en-US" dirty="0"/>
            </a:p>
          </p:txBody>
        </p:sp>
        <p:sp>
          <p:nvSpPr>
            <p:cNvPr id="17" name="TextBox 16"/>
            <p:cNvSpPr txBox="1"/>
            <p:nvPr/>
          </p:nvSpPr>
          <p:spPr>
            <a:xfrm>
              <a:off x="6133496" y="4262966"/>
              <a:ext cx="556563" cy="369332"/>
            </a:xfrm>
            <a:prstGeom prst="rect">
              <a:avLst/>
            </a:prstGeom>
            <a:noFill/>
          </p:spPr>
          <p:txBody>
            <a:bodyPr wrap="none" rtlCol="0">
              <a:spAutoFit/>
            </a:bodyPr>
            <a:lstStyle/>
            <a:p>
              <a:pPr algn="ctr"/>
              <a:r>
                <a:rPr lang="en-US" dirty="0" smtClean="0"/>
                <a:t>pay</a:t>
              </a:r>
              <a:endParaRPr lang="en-US" dirty="0"/>
            </a:p>
          </p:txBody>
        </p:sp>
        <p:sp>
          <p:nvSpPr>
            <p:cNvPr id="18" name="TextBox 17"/>
            <p:cNvSpPr txBox="1"/>
            <p:nvPr/>
          </p:nvSpPr>
          <p:spPr>
            <a:xfrm rot="18761420">
              <a:off x="6933870" y="5006167"/>
              <a:ext cx="928460" cy="369332"/>
            </a:xfrm>
            <a:prstGeom prst="rect">
              <a:avLst/>
            </a:prstGeom>
            <a:noFill/>
          </p:spPr>
          <p:txBody>
            <a:bodyPr wrap="none" rtlCol="0">
              <a:spAutoFit/>
            </a:bodyPr>
            <a:lstStyle/>
            <a:p>
              <a:pPr algn="ctr"/>
              <a:r>
                <a:rPr lang="en-US" dirty="0" smtClean="0"/>
                <a:t>deposit</a:t>
              </a:r>
              <a:endParaRPr lang="en-US" dirty="0"/>
            </a:p>
          </p:txBody>
        </p:sp>
        <p:pic>
          <p:nvPicPr>
            <p:cNvPr id="19" name="Picture 10" descr="C:\Users\rt\AppData\Local\Microsoft\Windows\Temporary Internet Files\Content.IE5\ED8LK8UX\MCj04403800000[1].png"/>
            <p:cNvPicPr>
              <a:picLocks noChangeAspect="1" noChangeArrowheads="1"/>
            </p:cNvPicPr>
            <p:nvPr/>
          </p:nvPicPr>
          <p:blipFill>
            <a:blip r:embed="rId2" cstate="print"/>
            <a:srcRect/>
            <a:stretch>
              <a:fillRect/>
            </a:stretch>
          </p:blipFill>
          <p:spPr bwMode="auto">
            <a:xfrm>
              <a:off x="5787890" y="5367135"/>
              <a:ext cx="1247775" cy="1247775"/>
            </a:xfrm>
            <a:prstGeom prst="rect">
              <a:avLst/>
            </a:prstGeom>
            <a:noFill/>
          </p:spPr>
        </p:pic>
      </p:grpSp>
    </p:spTree>
    <p:extLst>
      <p:ext uri="{BB962C8B-B14F-4D97-AF65-F5344CB8AC3E}">
        <p14:creationId xmlns:p14="http://schemas.microsoft.com/office/powerpoint/2010/main" val="2079291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Goals</a:t>
            </a:r>
          </a:p>
        </p:txBody>
      </p:sp>
      <p:sp>
        <p:nvSpPr>
          <p:cNvPr id="3" name="Content Placeholder 2"/>
          <p:cNvSpPr>
            <a:spLocks noGrp="1"/>
          </p:cNvSpPr>
          <p:nvPr>
            <p:ph idx="1"/>
          </p:nvPr>
        </p:nvSpPr>
        <p:spPr>
          <a:xfrm>
            <a:off x="457200" y="1371600"/>
            <a:ext cx="8229600" cy="5029200"/>
          </a:xfrm>
        </p:spPr>
        <p:txBody>
          <a:bodyPr rtlCol="0">
            <a:normAutofit fontScale="85000" lnSpcReduction="20000"/>
          </a:bodyPr>
          <a:lstStyle/>
          <a:p>
            <a:pPr eaLnBrk="1" fontAlgn="auto" hangingPunct="1">
              <a:lnSpc>
                <a:spcPct val="120000"/>
              </a:lnSpc>
              <a:spcAft>
                <a:spcPts val="0"/>
              </a:spcAft>
              <a:defRPr/>
            </a:pPr>
            <a:r>
              <a:rPr lang="en-US" dirty="0" smtClean="0"/>
              <a:t>Integrity</a:t>
            </a:r>
          </a:p>
          <a:p>
            <a:pPr lvl="1" eaLnBrk="1" fontAlgn="auto" hangingPunct="1">
              <a:lnSpc>
                <a:spcPct val="120000"/>
              </a:lnSpc>
              <a:spcAft>
                <a:spcPts val="0"/>
              </a:spcAft>
              <a:defRPr/>
            </a:pPr>
            <a:r>
              <a:rPr lang="en-US" dirty="0" smtClean="0"/>
              <a:t>Coins cannot be forged</a:t>
            </a:r>
          </a:p>
          <a:p>
            <a:pPr lvl="1" eaLnBrk="1" fontAlgn="auto" hangingPunct="1">
              <a:lnSpc>
                <a:spcPct val="120000"/>
              </a:lnSpc>
              <a:spcAft>
                <a:spcPts val="0"/>
              </a:spcAft>
              <a:defRPr/>
            </a:pPr>
            <a:r>
              <a:rPr lang="en-US" dirty="0" smtClean="0"/>
              <a:t>Legitimate transactions are honored</a:t>
            </a:r>
          </a:p>
          <a:p>
            <a:pPr eaLnBrk="1" fontAlgn="auto" hangingPunct="1">
              <a:lnSpc>
                <a:spcPct val="120000"/>
              </a:lnSpc>
              <a:spcAft>
                <a:spcPts val="0"/>
              </a:spcAft>
              <a:defRPr/>
            </a:pPr>
            <a:r>
              <a:rPr lang="en-US" dirty="0" smtClean="0"/>
              <a:t>Accountability</a:t>
            </a:r>
          </a:p>
          <a:p>
            <a:pPr lvl="1" eaLnBrk="1" fontAlgn="auto" hangingPunct="1">
              <a:lnSpc>
                <a:spcPct val="120000"/>
              </a:lnSpc>
              <a:spcAft>
                <a:spcPts val="0"/>
              </a:spcAft>
              <a:defRPr/>
            </a:pPr>
            <a:r>
              <a:rPr lang="en-US" dirty="0" smtClean="0"/>
              <a:t>Transactions cannot be later denied</a:t>
            </a:r>
          </a:p>
          <a:p>
            <a:pPr lvl="1" eaLnBrk="1" fontAlgn="auto" hangingPunct="1">
              <a:lnSpc>
                <a:spcPct val="120000"/>
              </a:lnSpc>
              <a:spcAft>
                <a:spcPts val="0"/>
              </a:spcAft>
              <a:defRPr/>
            </a:pPr>
            <a:r>
              <a:rPr lang="en-US" dirty="0" smtClean="0"/>
              <a:t>Disputes can be efficiently settled</a:t>
            </a:r>
          </a:p>
          <a:p>
            <a:pPr eaLnBrk="1" fontAlgn="auto" hangingPunct="1">
              <a:lnSpc>
                <a:spcPct val="120000"/>
              </a:lnSpc>
              <a:spcAft>
                <a:spcPts val="0"/>
              </a:spcAft>
              <a:defRPr/>
            </a:pPr>
            <a:r>
              <a:rPr lang="en-US" dirty="0" smtClean="0"/>
              <a:t>Privacy</a:t>
            </a:r>
          </a:p>
          <a:p>
            <a:pPr lvl="1" eaLnBrk="1" fontAlgn="auto" hangingPunct="1">
              <a:lnSpc>
                <a:spcPct val="120000"/>
              </a:lnSpc>
              <a:spcAft>
                <a:spcPts val="0"/>
              </a:spcAft>
              <a:defRPr/>
            </a:pPr>
            <a:r>
              <a:rPr lang="en-US" dirty="0" smtClean="0"/>
              <a:t>The identity of some parties is not revealed to other parties</a:t>
            </a:r>
          </a:p>
          <a:p>
            <a:pPr lvl="1" eaLnBrk="1" fontAlgn="auto" hangingPunct="1">
              <a:lnSpc>
                <a:spcPct val="120000"/>
              </a:lnSpc>
              <a:spcAft>
                <a:spcPts val="0"/>
              </a:spcAft>
              <a:defRPr/>
            </a:pPr>
            <a:r>
              <a:rPr lang="en-US" dirty="0" smtClean="0"/>
              <a:t>Coins cannot be traced to the payer and/or payee (digital cash)</a:t>
            </a:r>
          </a:p>
        </p:txBody>
      </p:sp>
      <p:sp>
        <p:nvSpPr>
          <p:cNvPr id="7174" name="Slide Number Placeholder 4"/>
          <p:cNvSpPr>
            <a:spLocks noGrp="1"/>
          </p:cNvSpPr>
          <p:nvPr>
            <p:ph type="sldNum" sz="quarter" idx="12"/>
          </p:nvPr>
        </p:nvSpPr>
        <p:spPr>
          <a:noFill/>
        </p:spPr>
        <p:txBody>
          <a:bodyPr/>
          <a:lstStyle/>
          <a:p>
            <a:fld id="{5F32E81F-8B47-4F28-BBCC-7F56EA1FA204}" type="slidenum">
              <a:rPr lang="en-US" smtClean="0"/>
              <a:pPr/>
              <a:t>41</a:t>
            </a:fld>
            <a:endParaRPr lang="en-US" smtClean="0"/>
          </a:p>
        </p:txBody>
      </p:sp>
    </p:spTree>
    <p:extLst>
      <p:ext uri="{BB962C8B-B14F-4D97-AF65-F5344CB8AC3E}">
        <p14:creationId xmlns:p14="http://schemas.microsoft.com/office/powerpoint/2010/main" val="1079085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Payment with Digital Signatures</a:t>
            </a:r>
          </a:p>
        </p:txBody>
      </p:sp>
      <p:sp>
        <p:nvSpPr>
          <p:cNvPr id="3" name="Content Placeholder 2"/>
          <p:cNvSpPr>
            <a:spLocks noGrp="1"/>
          </p:cNvSpPr>
          <p:nvPr>
            <p:ph idx="1"/>
          </p:nvPr>
        </p:nvSpPr>
        <p:spPr>
          <a:xfrm>
            <a:off x="457200" y="1295400"/>
            <a:ext cx="8229600" cy="2514600"/>
          </a:xfrm>
        </p:spPr>
        <p:txBody>
          <a:bodyPr rtlCol="0">
            <a:normAutofit fontScale="70000" lnSpcReduction="20000"/>
          </a:bodyPr>
          <a:lstStyle/>
          <a:p>
            <a:pPr eaLnBrk="1" fontAlgn="auto" hangingPunct="1">
              <a:lnSpc>
                <a:spcPct val="110000"/>
              </a:lnSpc>
              <a:spcAft>
                <a:spcPts val="0"/>
              </a:spcAft>
              <a:defRPr/>
            </a:pPr>
            <a:r>
              <a:rPr lang="en-US" dirty="0" smtClean="0"/>
              <a:t>Coins are random identifiers digitally signed by the bank at the time of withdrawal</a:t>
            </a:r>
          </a:p>
          <a:p>
            <a:pPr eaLnBrk="1" fontAlgn="auto" hangingPunct="1">
              <a:lnSpc>
                <a:spcPct val="110000"/>
              </a:lnSpc>
              <a:spcAft>
                <a:spcPts val="0"/>
              </a:spcAft>
              <a:defRPr/>
            </a:pPr>
            <a:r>
              <a:rPr lang="en-US" dirty="0" smtClean="0"/>
              <a:t>The merchant verifies the signature by the bank</a:t>
            </a:r>
          </a:p>
          <a:p>
            <a:pPr eaLnBrk="1" fontAlgn="auto" hangingPunct="1">
              <a:lnSpc>
                <a:spcPct val="110000"/>
              </a:lnSpc>
              <a:spcAft>
                <a:spcPts val="0"/>
              </a:spcAft>
              <a:defRPr/>
            </a:pPr>
            <a:r>
              <a:rPr lang="en-US" dirty="0" smtClean="0"/>
              <a:t>The bank honors deposit of valid coins</a:t>
            </a:r>
          </a:p>
          <a:p>
            <a:pPr eaLnBrk="1" fontAlgn="auto" hangingPunct="1">
              <a:lnSpc>
                <a:spcPct val="110000"/>
              </a:lnSpc>
              <a:spcAft>
                <a:spcPts val="0"/>
              </a:spcAft>
              <a:defRPr/>
            </a:pPr>
            <a:r>
              <a:rPr lang="en-US" dirty="0" smtClean="0"/>
              <a:t>Security and privacy issues:</a:t>
            </a:r>
          </a:p>
          <a:p>
            <a:pPr lvl="1" eaLnBrk="1" fontAlgn="auto" hangingPunct="1">
              <a:lnSpc>
                <a:spcPct val="110000"/>
              </a:lnSpc>
              <a:spcAft>
                <a:spcPts val="0"/>
              </a:spcAft>
              <a:defRPr/>
            </a:pPr>
            <a:r>
              <a:rPr lang="en-US" dirty="0" smtClean="0"/>
              <a:t>Customer can copy coin and </a:t>
            </a:r>
            <a:r>
              <a:rPr lang="en-US" dirty="0" smtClean="0">
                <a:solidFill>
                  <a:schemeClr val="accent6"/>
                </a:solidFill>
              </a:rPr>
              <a:t>double spend</a:t>
            </a:r>
          </a:p>
          <a:p>
            <a:pPr lvl="1" eaLnBrk="1" fontAlgn="auto" hangingPunct="1">
              <a:lnSpc>
                <a:spcPct val="110000"/>
              </a:lnSpc>
              <a:spcAft>
                <a:spcPts val="0"/>
              </a:spcAft>
              <a:defRPr/>
            </a:pPr>
            <a:r>
              <a:rPr lang="en-US" dirty="0" smtClean="0"/>
              <a:t>The </a:t>
            </a:r>
            <a:r>
              <a:rPr lang="en-US" dirty="0" smtClean="0">
                <a:solidFill>
                  <a:schemeClr val="accent6"/>
                </a:solidFill>
              </a:rPr>
              <a:t>bank learns about every transaction</a:t>
            </a:r>
            <a:r>
              <a:rPr lang="en-US" dirty="0" smtClean="0"/>
              <a:t> by customer and merchant</a:t>
            </a:r>
          </a:p>
        </p:txBody>
      </p:sp>
      <p:sp>
        <p:nvSpPr>
          <p:cNvPr id="8198" name="Slide Number Placeholder 4"/>
          <p:cNvSpPr>
            <a:spLocks noGrp="1"/>
          </p:cNvSpPr>
          <p:nvPr>
            <p:ph type="sldNum" sz="quarter" idx="12"/>
          </p:nvPr>
        </p:nvSpPr>
        <p:spPr>
          <a:noFill/>
        </p:spPr>
        <p:txBody>
          <a:bodyPr/>
          <a:lstStyle/>
          <a:p>
            <a:fld id="{B6D58B36-B1D5-4DE5-8067-BA1EE6F98A38}" type="slidenum">
              <a:rPr lang="en-US" smtClean="0"/>
              <a:pPr/>
              <a:t>42</a:t>
            </a:fld>
            <a:endParaRPr lang="en-US" smtClean="0"/>
          </a:p>
        </p:txBody>
      </p:sp>
      <p:grpSp>
        <p:nvGrpSpPr>
          <p:cNvPr id="7" name="Group 6"/>
          <p:cNvGrpSpPr/>
          <p:nvPr/>
        </p:nvGrpSpPr>
        <p:grpSpPr>
          <a:xfrm>
            <a:off x="2362200" y="3748290"/>
            <a:ext cx="4495800" cy="2804910"/>
            <a:chOff x="4191000" y="3810000"/>
            <a:chExt cx="4495800" cy="2804910"/>
          </a:xfrm>
        </p:grpSpPr>
        <p:sp>
          <p:nvSpPr>
            <p:cNvPr id="8" name="Rectangle 7"/>
            <p:cNvSpPr/>
            <p:nvPr/>
          </p:nvSpPr>
          <p:spPr>
            <a:xfrm>
              <a:off x="4191000" y="3886200"/>
              <a:ext cx="1143000" cy="762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Customer</a:t>
              </a:r>
              <a:endParaRPr lang="en-US" dirty="0"/>
            </a:p>
          </p:txBody>
        </p:sp>
        <p:sp>
          <p:nvSpPr>
            <p:cNvPr id="9" name="Rectangle 8"/>
            <p:cNvSpPr/>
            <p:nvPr/>
          </p:nvSpPr>
          <p:spPr>
            <a:xfrm>
              <a:off x="7543800" y="3886200"/>
              <a:ext cx="1143000" cy="76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Merchant</a:t>
              </a:r>
              <a:endParaRPr lang="en-US" dirty="0"/>
            </a:p>
          </p:txBody>
        </p:sp>
        <p:cxnSp>
          <p:nvCxnSpPr>
            <p:cNvPr id="10" name="Straight Arrow Connector 9"/>
            <p:cNvCxnSpPr>
              <a:endCxn id="8" idx="2"/>
            </p:cNvCxnSpPr>
            <p:nvPr/>
          </p:nvCxnSpPr>
          <p:spPr>
            <a:xfrm rot="10800000">
              <a:off x="4762500" y="4648200"/>
              <a:ext cx="1104900" cy="1295400"/>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9" idx="2"/>
            </p:cNvCxnSpPr>
            <p:nvPr/>
          </p:nvCxnSpPr>
          <p:spPr>
            <a:xfrm rot="5400000">
              <a:off x="6915150" y="4743450"/>
              <a:ext cx="1295400" cy="1104900"/>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cxnSp>
          <p:nvCxnSpPr>
            <p:cNvPr id="12" name="Straight Arrow Connector 11"/>
            <p:cNvCxnSpPr>
              <a:stCxn id="8" idx="3"/>
              <a:endCxn id="9" idx="1"/>
            </p:cNvCxnSpPr>
            <p:nvPr/>
          </p:nvCxnSpPr>
          <p:spPr>
            <a:xfrm>
              <a:off x="5334000" y="4267200"/>
              <a:ext cx="2209800" cy="1588"/>
            </a:xfrm>
            <a:prstGeom prst="straightConnector1">
              <a:avLst/>
            </a:prstGeom>
            <a:ln>
              <a:solidFill>
                <a:schemeClr val="tx1"/>
              </a:solidFill>
              <a:tailEnd type="arrow"/>
            </a:ln>
          </p:spPr>
          <p:style>
            <a:lnRef idx="3">
              <a:schemeClr val="dk1"/>
            </a:lnRef>
            <a:fillRef idx="0">
              <a:schemeClr val="dk1"/>
            </a:fillRef>
            <a:effectRef idx="2">
              <a:schemeClr val="dk1"/>
            </a:effectRef>
            <a:fontRef idx="minor">
              <a:schemeClr val="tx1"/>
            </a:fontRef>
          </p:style>
        </p:cxnSp>
        <p:sp>
          <p:nvSpPr>
            <p:cNvPr id="13" name="Oval 12"/>
            <p:cNvSpPr/>
            <p:nvPr/>
          </p:nvSpPr>
          <p:spPr>
            <a:xfrm>
              <a:off x="4937098" y="5326049"/>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4" name="Oval 13"/>
            <p:cNvSpPr/>
            <p:nvPr/>
          </p:nvSpPr>
          <p:spPr>
            <a:xfrm>
              <a:off x="6221277" y="3810000"/>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5" name="Oval 14"/>
            <p:cNvSpPr/>
            <p:nvPr/>
          </p:nvSpPr>
          <p:spPr>
            <a:xfrm>
              <a:off x="7604098" y="5326049"/>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a:t>
              </a:r>
              <a:endParaRPr lang="en-US" dirty="0"/>
            </a:p>
          </p:txBody>
        </p:sp>
        <p:sp>
          <p:nvSpPr>
            <p:cNvPr id="16" name="TextBox 15"/>
            <p:cNvSpPr txBox="1"/>
            <p:nvPr/>
          </p:nvSpPr>
          <p:spPr>
            <a:xfrm rot="2972862">
              <a:off x="4901217" y="5000032"/>
              <a:ext cx="1095172" cy="369332"/>
            </a:xfrm>
            <a:prstGeom prst="rect">
              <a:avLst/>
            </a:prstGeom>
            <a:noFill/>
          </p:spPr>
          <p:txBody>
            <a:bodyPr wrap="none" rtlCol="0">
              <a:spAutoFit/>
            </a:bodyPr>
            <a:lstStyle/>
            <a:p>
              <a:pPr algn="ctr"/>
              <a:r>
                <a:rPr lang="en-US" dirty="0" smtClean="0"/>
                <a:t>withdraw</a:t>
              </a:r>
              <a:endParaRPr lang="en-US" dirty="0"/>
            </a:p>
          </p:txBody>
        </p:sp>
        <p:sp>
          <p:nvSpPr>
            <p:cNvPr id="17" name="TextBox 16"/>
            <p:cNvSpPr txBox="1"/>
            <p:nvPr/>
          </p:nvSpPr>
          <p:spPr>
            <a:xfrm>
              <a:off x="6133496" y="4262966"/>
              <a:ext cx="556563" cy="369332"/>
            </a:xfrm>
            <a:prstGeom prst="rect">
              <a:avLst/>
            </a:prstGeom>
            <a:noFill/>
          </p:spPr>
          <p:txBody>
            <a:bodyPr wrap="none" rtlCol="0">
              <a:spAutoFit/>
            </a:bodyPr>
            <a:lstStyle/>
            <a:p>
              <a:pPr algn="ctr"/>
              <a:r>
                <a:rPr lang="en-US" dirty="0" smtClean="0"/>
                <a:t>pay</a:t>
              </a:r>
              <a:endParaRPr lang="en-US" dirty="0"/>
            </a:p>
          </p:txBody>
        </p:sp>
        <p:sp>
          <p:nvSpPr>
            <p:cNvPr id="18" name="TextBox 17"/>
            <p:cNvSpPr txBox="1"/>
            <p:nvPr/>
          </p:nvSpPr>
          <p:spPr>
            <a:xfrm rot="18761420">
              <a:off x="6933870" y="5006167"/>
              <a:ext cx="928460" cy="369332"/>
            </a:xfrm>
            <a:prstGeom prst="rect">
              <a:avLst/>
            </a:prstGeom>
            <a:noFill/>
          </p:spPr>
          <p:txBody>
            <a:bodyPr wrap="none" rtlCol="0">
              <a:spAutoFit/>
            </a:bodyPr>
            <a:lstStyle/>
            <a:p>
              <a:pPr algn="ctr"/>
              <a:r>
                <a:rPr lang="en-US" dirty="0" smtClean="0"/>
                <a:t>deposit</a:t>
              </a:r>
              <a:endParaRPr lang="en-US" dirty="0"/>
            </a:p>
          </p:txBody>
        </p:sp>
        <p:pic>
          <p:nvPicPr>
            <p:cNvPr id="19" name="Picture 10" descr="C:\Users\rt\AppData\Local\Microsoft\Windows\Temporary Internet Files\Content.IE5\ED8LK8UX\MCj04403800000[1].png"/>
            <p:cNvPicPr>
              <a:picLocks noChangeAspect="1" noChangeArrowheads="1"/>
            </p:cNvPicPr>
            <p:nvPr/>
          </p:nvPicPr>
          <p:blipFill>
            <a:blip r:embed="rId2" cstate="print"/>
            <a:srcRect/>
            <a:stretch>
              <a:fillRect/>
            </a:stretch>
          </p:blipFill>
          <p:spPr bwMode="auto">
            <a:xfrm>
              <a:off x="5787890" y="5367135"/>
              <a:ext cx="1247775" cy="1247775"/>
            </a:xfrm>
            <a:prstGeom prst="rect">
              <a:avLst/>
            </a:prstGeom>
            <a:noFill/>
          </p:spPr>
        </p:pic>
      </p:grpSp>
      <p:pic>
        <p:nvPicPr>
          <p:cNvPr id="8199" name="Picture 7" descr="C:\Users\rt\AppData\Local\Microsoft\Windows\Temporary Internet Files\Content.IE5\ED8LK8UX\MCj04396080000[1].png"/>
          <p:cNvPicPr>
            <a:picLocks noChangeAspect="1" noChangeArrowheads="1"/>
          </p:cNvPicPr>
          <p:nvPr/>
        </p:nvPicPr>
        <p:blipFill>
          <a:blip r:embed="rId3" cstate="print"/>
          <a:srcRect/>
          <a:stretch>
            <a:fillRect/>
          </a:stretch>
        </p:blipFill>
        <p:spPr bwMode="auto">
          <a:xfrm>
            <a:off x="4648200" y="3694045"/>
            <a:ext cx="465261" cy="609600"/>
          </a:xfrm>
          <a:prstGeom prst="rect">
            <a:avLst/>
          </a:prstGeom>
          <a:noFill/>
        </p:spPr>
      </p:pic>
      <p:pic>
        <p:nvPicPr>
          <p:cNvPr id="21" name="Picture 7" descr="C:\Users\rt\AppData\Local\Microsoft\Windows\Temporary Internet Files\Content.IE5\ED8LK8UX\MCj04396080000[1].png"/>
          <p:cNvPicPr>
            <a:picLocks noChangeAspect="1" noChangeArrowheads="1"/>
          </p:cNvPicPr>
          <p:nvPr/>
        </p:nvPicPr>
        <p:blipFill>
          <a:blip r:embed="rId3" cstate="print"/>
          <a:srcRect/>
          <a:stretch>
            <a:fillRect/>
          </a:stretch>
        </p:blipFill>
        <p:spPr bwMode="auto">
          <a:xfrm>
            <a:off x="2895600" y="4967490"/>
            <a:ext cx="465261" cy="609600"/>
          </a:xfrm>
          <a:prstGeom prst="rect">
            <a:avLst/>
          </a:prstGeom>
          <a:noFill/>
        </p:spPr>
      </p:pic>
      <p:pic>
        <p:nvPicPr>
          <p:cNvPr id="22" name="Picture 7" descr="C:\Users\rt\AppData\Local\Microsoft\Windows\Temporary Internet Files\Content.IE5\ED8LK8UX\MCj04396080000[1].png"/>
          <p:cNvPicPr>
            <a:picLocks noChangeAspect="1" noChangeArrowheads="1"/>
          </p:cNvPicPr>
          <p:nvPr/>
        </p:nvPicPr>
        <p:blipFill>
          <a:blip r:embed="rId3" cstate="print"/>
          <a:srcRect/>
          <a:stretch>
            <a:fillRect/>
          </a:stretch>
        </p:blipFill>
        <p:spPr bwMode="auto">
          <a:xfrm>
            <a:off x="5486400" y="5486400"/>
            <a:ext cx="465261" cy="609600"/>
          </a:xfrm>
          <a:prstGeom prst="rect">
            <a:avLst/>
          </a:prstGeom>
          <a:noFill/>
        </p:spPr>
      </p:pic>
    </p:spTree>
    <p:extLst>
      <p:ext uri="{BB962C8B-B14F-4D97-AF65-F5344CB8AC3E}">
        <p14:creationId xmlns:p14="http://schemas.microsoft.com/office/powerpoint/2010/main" val="3890072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Private Payment Scheme</a:t>
            </a:r>
          </a:p>
        </p:txBody>
      </p:sp>
      <p:sp>
        <p:nvSpPr>
          <p:cNvPr id="9219" name="Content Placeholder 2"/>
          <p:cNvSpPr>
            <a:spLocks noGrp="1"/>
          </p:cNvSpPr>
          <p:nvPr>
            <p:ph idx="1"/>
          </p:nvPr>
        </p:nvSpPr>
        <p:spPr/>
        <p:txBody>
          <a:bodyPr/>
          <a:lstStyle/>
          <a:p>
            <a:pPr eaLnBrk="1" hangingPunct="1"/>
            <a:r>
              <a:rPr lang="en-US" dirty="0" smtClean="0"/>
              <a:t>A </a:t>
            </a:r>
            <a:r>
              <a:rPr lang="en-US" dirty="0" smtClean="0">
                <a:solidFill>
                  <a:schemeClr val="accent6"/>
                </a:solidFill>
              </a:rPr>
              <a:t>blind signature</a:t>
            </a:r>
            <a:r>
              <a:rPr lang="en-US" dirty="0" smtClean="0"/>
              <a:t> allows the signed to sign a message without knowing the message itself</a:t>
            </a:r>
          </a:p>
          <a:p>
            <a:pPr eaLnBrk="1" hangingPunct="1"/>
            <a:r>
              <a:rPr lang="en-US" dirty="0" smtClean="0"/>
              <a:t>Basic digital cash scheme:</a:t>
            </a:r>
          </a:p>
          <a:p>
            <a:pPr lvl="1" eaLnBrk="1" hangingPunct="1"/>
            <a:r>
              <a:rPr lang="en-US" dirty="0" smtClean="0"/>
              <a:t>The bank does a blind signature </a:t>
            </a:r>
            <a:br>
              <a:rPr lang="en-US" dirty="0" smtClean="0"/>
            </a:br>
            <a:r>
              <a:rPr lang="en-US" dirty="0" smtClean="0"/>
              <a:t>on the coins withdrawn by the </a:t>
            </a:r>
            <a:br>
              <a:rPr lang="en-US" dirty="0" smtClean="0"/>
            </a:br>
            <a:r>
              <a:rPr lang="en-US" dirty="0" smtClean="0"/>
              <a:t>customer</a:t>
            </a:r>
          </a:p>
          <a:p>
            <a:pPr lvl="1" eaLnBrk="1" hangingPunct="1"/>
            <a:r>
              <a:rPr lang="en-US" dirty="0" smtClean="0"/>
              <a:t>The merchant verifies the signature and deposits the coins</a:t>
            </a:r>
          </a:p>
          <a:p>
            <a:pPr lvl="1" eaLnBrk="1" hangingPunct="1"/>
            <a:r>
              <a:rPr lang="en-US" dirty="0" smtClean="0"/>
              <a:t>The bank cannot link the coins to the customer</a:t>
            </a:r>
          </a:p>
          <a:p>
            <a:pPr eaLnBrk="1" hangingPunct="1"/>
            <a:endParaRPr lang="en-US" dirty="0" smtClean="0"/>
          </a:p>
        </p:txBody>
      </p:sp>
      <p:sp>
        <p:nvSpPr>
          <p:cNvPr id="9221" name="Slide Number Placeholder 4"/>
          <p:cNvSpPr>
            <a:spLocks noGrp="1"/>
          </p:cNvSpPr>
          <p:nvPr>
            <p:ph type="sldNum" sz="quarter" idx="12"/>
          </p:nvPr>
        </p:nvSpPr>
        <p:spPr>
          <a:noFill/>
        </p:spPr>
        <p:txBody>
          <a:bodyPr/>
          <a:lstStyle/>
          <a:p>
            <a:fld id="{CFB979CE-BBE7-41E0-B44F-4970A424F5D3}" type="slidenum">
              <a:rPr lang="en-US" smtClean="0"/>
              <a:pPr/>
              <a:t>43</a:t>
            </a:fld>
            <a:endParaRPr lang="en-US" smtClean="0"/>
          </a:p>
        </p:txBody>
      </p:sp>
      <p:pic>
        <p:nvPicPr>
          <p:cNvPr id="9227" name="Picture 11" descr="C:\Users\rt\AppData\Local\Microsoft\Windows\Temporary Internet Files\Content.IE5\R8M5LJ9O\MCBD05523_0000[1].wmf"/>
          <p:cNvPicPr>
            <a:picLocks noChangeAspect="1" noChangeArrowheads="1"/>
          </p:cNvPicPr>
          <p:nvPr/>
        </p:nvPicPr>
        <p:blipFill>
          <a:blip r:embed="rId2" cstate="print"/>
          <a:srcRect/>
          <a:stretch>
            <a:fillRect/>
          </a:stretch>
        </p:blipFill>
        <p:spPr bwMode="auto">
          <a:xfrm>
            <a:off x="5943600" y="2667000"/>
            <a:ext cx="3018545" cy="1817687"/>
          </a:xfrm>
          <a:prstGeom prst="rect">
            <a:avLst/>
          </a:prstGeom>
          <a:noFill/>
        </p:spPr>
      </p:pic>
    </p:spTree>
    <p:extLst>
      <p:ext uri="{BB962C8B-B14F-4D97-AF65-F5344CB8AC3E}">
        <p14:creationId xmlns:p14="http://schemas.microsoft.com/office/powerpoint/2010/main" val="6637734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Blind Signatures with RSA</a:t>
            </a:r>
          </a:p>
        </p:txBody>
      </p:sp>
      <p:sp>
        <p:nvSpPr>
          <p:cNvPr id="10243" name="Content Placeholder 2"/>
          <p:cNvSpPr>
            <a:spLocks noGrp="1"/>
          </p:cNvSpPr>
          <p:nvPr>
            <p:ph idx="1"/>
          </p:nvPr>
        </p:nvSpPr>
        <p:spPr>
          <a:xfrm>
            <a:off x="457200" y="1600200"/>
            <a:ext cx="8229600" cy="4800600"/>
          </a:xfrm>
        </p:spPr>
        <p:txBody>
          <a:bodyPr>
            <a:normAutofit lnSpcReduction="10000"/>
          </a:bodyPr>
          <a:lstStyle/>
          <a:p>
            <a:pPr eaLnBrk="1" hangingPunct="1"/>
            <a:r>
              <a:rPr lang="en-US" sz="2800" dirty="0" smtClean="0"/>
              <a:t>The RSA cryptosystem supports a simple and efficient blind signature scheme</a:t>
            </a:r>
          </a:p>
          <a:p>
            <a:pPr eaLnBrk="1" hangingPunct="1"/>
            <a:r>
              <a:rPr lang="en-US" sz="2800" dirty="0" smtClean="0"/>
              <a:t>Consider an RSA signing scheme with</a:t>
            </a:r>
          </a:p>
          <a:p>
            <a:pPr lvl="1" eaLnBrk="1" hangingPunct="1"/>
            <a:r>
              <a:rPr lang="en-US" sz="2400" dirty="0" smtClean="0"/>
              <a:t>Public modulus </a:t>
            </a:r>
            <a:r>
              <a:rPr lang="en-US" sz="2400" i="1" dirty="0" smtClean="0">
                <a:latin typeface="Times New Roman" pitchFamily="18" charset="0"/>
                <a:cs typeface="Times New Roman" pitchFamily="18" charset="0"/>
              </a:rPr>
              <a:t>N</a:t>
            </a:r>
          </a:p>
          <a:p>
            <a:pPr lvl="1" eaLnBrk="1" hangingPunct="1"/>
            <a:r>
              <a:rPr lang="en-US" sz="2400" dirty="0" smtClean="0"/>
              <a:t>Public encryption exponent </a:t>
            </a:r>
            <a:r>
              <a:rPr lang="en-US" sz="2400" i="1" dirty="0" smtClean="0">
                <a:latin typeface="Times New Roman" pitchFamily="18" charset="0"/>
                <a:cs typeface="Times New Roman" pitchFamily="18" charset="0"/>
              </a:rPr>
              <a:t>e</a:t>
            </a:r>
            <a:r>
              <a:rPr lang="en-US" sz="2400" dirty="0" smtClean="0"/>
              <a:t> and public cryptographic hash function </a:t>
            </a:r>
            <a:r>
              <a:rPr lang="en-US" sz="2400" i="1" dirty="0" smtClean="0">
                <a:latin typeface="Times New Roman" pitchFamily="18" charset="0"/>
                <a:cs typeface="Times New Roman" pitchFamily="18" charset="0"/>
              </a:rPr>
              <a:t>h</a:t>
            </a:r>
            <a:endParaRPr lang="en-US" sz="2400" dirty="0" smtClean="0"/>
          </a:p>
          <a:p>
            <a:pPr lvl="1" eaLnBrk="1" hangingPunct="1"/>
            <a:r>
              <a:rPr lang="en-US" sz="2400" dirty="0" smtClean="0"/>
              <a:t>Secret decryption exponent </a:t>
            </a:r>
            <a:r>
              <a:rPr lang="en-US" sz="2400" i="1" dirty="0" smtClean="0">
                <a:latin typeface="Times New Roman" pitchFamily="18" charset="0"/>
                <a:cs typeface="Times New Roman" pitchFamily="18" charset="0"/>
              </a:rPr>
              <a:t>d</a:t>
            </a:r>
            <a:endParaRPr lang="en-US" sz="2400" dirty="0" smtClean="0"/>
          </a:p>
          <a:p>
            <a:pPr eaLnBrk="1" hangingPunct="1"/>
            <a:r>
              <a:rPr lang="en-US" sz="2800" dirty="0" smtClean="0"/>
              <a:t>The bank can create a signature on any item without knowing it</a:t>
            </a:r>
          </a:p>
          <a:p>
            <a:pPr eaLnBrk="1" hangingPunct="1"/>
            <a:r>
              <a:rPr lang="en-US" sz="2800" dirty="0" smtClean="0"/>
              <a:t>Bank must have assurance that it is signing a valid coin of the correct amount </a:t>
            </a:r>
          </a:p>
        </p:txBody>
      </p:sp>
      <p:sp>
        <p:nvSpPr>
          <p:cNvPr id="10246" name="Slide Number Placeholder 4"/>
          <p:cNvSpPr>
            <a:spLocks noGrp="1"/>
          </p:cNvSpPr>
          <p:nvPr>
            <p:ph type="sldNum" sz="quarter" idx="12"/>
          </p:nvPr>
        </p:nvSpPr>
        <p:spPr>
          <a:noFill/>
        </p:spPr>
        <p:txBody>
          <a:bodyPr/>
          <a:lstStyle/>
          <a:p>
            <a:fld id="{822C0AB9-6E34-4CE9-9F9E-8CC8E1CE3B7D}" type="slidenum">
              <a:rPr lang="en-US" smtClean="0"/>
              <a:pPr/>
              <a:t>44</a:t>
            </a:fld>
            <a:endParaRPr lang="en-US" smtClean="0"/>
          </a:p>
        </p:txBody>
      </p:sp>
    </p:spTree>
    <p:extLst>
      <p:ext uri="{BB962C8B-B14F-4D97-AF65-F5344CB8AC3E}">
        <p14:creationId xmlns:p14="http://schemas.microsoft.com/office/powerpoint/2010/main" val="1537221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RSA Blind Signature Protocol</a:t>
            </a:r>
          </a:p>
        </p:txBody>
      </p:sp>
      <p:sp>
        <p:nvSpPr>
          <p:cNvPr id="11267" name="Content Placeholder 2"/>
          <p:cNvSpPr>
            <a:spLocks noGrp="1"/>
          </p:cNvSpPr>
          <p:nvPr>
            <p:ph idx="1"/>
          </p:nvPr>
        </p:nvSpPr>
        <p:spPr>
          <a:xfrm>
            <a:off x="457200" y="1600200"/>
            <a:ext cx="8229600" cy="4648200"/>
          </a:xfrm>
        </p:spPr>
        <p:txBody>
          <a:bodyPr/>
          <a:lstStyle/>
          <a:p>
            <a:pPr eaLnBrk="1" hangingPunct="1"/>
            <a:r>
              <a:rPr lang="en-US" sz="2400" dirty="0" smtClean="0"/>
              <a:t>The customer picks secret random values </a:t>
            </a:r>
            <a:r>
              <a:rPr lang="en-US" sz="2400" i="1" dirty="0" smtClean="0">
                <a:latin typeface="Times New Roman" pitchFamily="18" charset="0"/>
                <a:cs typeface="Times New Roman" pitchFamily="18" charset="0"/>
              </a:rPr>
              <a:t>x</a:t>
            </a:r>
            <a:r>
              <a:rPr lang="en-US" sz="2400" dirty="0" smtClean="0"/>
              <a:t> and </a:t>
            </a:r>
            <a:r>
              <a:rPr lang="en-US" sz="2400" i="1" dirty="0" smtClean="0">
                <a:latin typeface="Times New Roman" pitchFamily="18" charset="0"/>
                <a:cs typeface="Times New Roman" pitchFamily="18" charset="0"/>
              </a:rPr>
              <a:t>r</a:t>
            </a:r>
            <a:endParaRPr lang="en-US" sz="2400" dirty="0" smtClean="0"/>
          </a:p>
          <a:p>
            <a:pPr lvl="1" eaLnBrk="1" hangingPunct="1"/>
            <a:r>
              <a:rPr lang="en-US" sz="2000" dirty="0" smtClean="0"/>
              <a:t>Coin identifier </a:t>
            </a:r>
            <a:r>
              <a:rPr lang="en-US" sz="2000" i="1" dirty="0" smtClean="0">
                <a:latin typeface="Times New Roman" pitchFamily="18" charset="0"/>
                <a:cs typeface="Times New Roman" pitchFamily="18" charset="0"/>
              </a:rPr>
              <a:t>x</a:t>
            </a:r>
            <a:endParaRPr lang="en-US" sz="2000" dirty="0" smtClean="0"/>
          </a:p>
          <a:p>
            <a:pPr lvl="1" eaLnBrk="1" hangingPunct="1"/>
            <a:r>
              <a:rPr lang="en-US" sz="2000" dirty="0" smtClean="0"/>
              <a:t>Number </a:t>
            </a:r>
            <a:r>
              <a:rPr lang="en-US" sz="2000" i="1" dirty="0" smtClean="0">
                <a:latin typeface="Times New Roman" pitchFamily="18" charset="0"/>
                <a:cs typeface="Times New Roman" pitchFamily="18" charset="0"/>
              </a:rPr>
              <a:t>r</a:t>
            </a:r>
            <a:r>
              <a:rPr lang="en-US" sz="2000" dirty="0" smtClean="0"/>
              <a:t> in </a:t>
            </a:r>
            <a:r>
              <a:rPr lang="en-US" sz="2000" b="1" dirty="0" smtClean="0">
                <a:latin typeface="Times New Roman" pitchFamily="18" charset="0"/>
                <a:cs typeface="Times New Roman" pitchFamily="18" charset="0"/>
              </a:rPr>
              <a:t>Z</a:t>
            </a:r>
            <a:r>
              <a:rPr lang="en-US" sz="2000" i="1" baseline="-25000" dirty="0" smtClean="0">
                <a:latin typeface="Times New Roman" pitchFamily="18" charset="0"/>
                <a:cs typeface="Times New Roman" pitchFamily="18" charset="0"/>
              </a:rPr>
              <a:t>N</a:t>
            </a:r>
            <a:r>
              <a:rPr lang="en-US" sz="2000" dirty="0" smtClean="0"/>
              <a:t> relatively prime to </a:t>
            </a:r>
            <a:r>
              <a:rPr lang="en-US" sz="2000" i="1" dirty="0" smtClean="0">
                <a:latin typeface="Times New Roman" pitchFamily="18" charset="0"/>
                <a:cs typeface="Times New Roman" pitchFamily="18" charset="0"/>
              </a:rPr>
              <a:t>N</a:t>
            </a:r>
            <a:endParaRPr lang="en-US" sz="2000" dirty="0" smtClean="0"/>
          </a:p>
          <a:p>
            <a:pPr eaLnBrk="1" hangingPunct="1"/>
            <a:r>
              <a:rPr lang="en-US" sz="2400" dirty="0" smtClean="0"/>
              <a:t>The customer sends to the bank value</a:t>
            </a:r>
          </a:p>
          <a:p>
            <a:pPr lvl="1" eaLnBrk="1" hangingPunct="1">
              <a:buFont typeface="Arial" charset="0"/>
              <a:buNone/>
            </a:pPr>
            <a:r>
              <a:rPr lang="en-US" sz="1800" i="1"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y </a:t>
            </a:r>
            <a:r>
              <a:rPr lang="en-US" sz="2000" dirty="0" smtClean="0">
                <a:latin typeface="Symbol" pitchFamily="18" charset="2"/>
                <a:cs typeface="Times New Roman" pitchFamily="18" charset="0"/>
              </a:rPr>
              <a:t>=</a:t>
            </a:r>
            <a:r>
              <a:rPr lang="en-US" sz="2000" i="1" dirty="0" smtClean="0">
                <a:latin typeface="Times New Roman" pitchFamily="18" charset="0"/>
                <a:cs typeface="Times New Roman" pitchFamily="18" charset="0"/>
              </a:rPr>
              <a:t> r</a:t>
            </a:r>
            <a:r>
              <a:rPr lang="en-US" sz="2000" i="1" baseline="30000" dirty="0" smtClean="0">
                <a:latin typeface="Times New Roman" pitchFamily="18" charset="0"/>
                <a:cs typeface="Times New Roman" pitchFamily="18" charset="0"/>
              </a:rPr>
              <a:t>e</a:t>
            </a:r>
            <a:r>
              <a:rPr lang="en-US" sz="2000" i="1" dirty="0" smtClean="0">
                <a:latin typeface="Times New Roman" pitchFamily="18" charset="0"/>
                <a:cs typeface="Times New Roman" pitchFamily="18" charset="0"/>
              </a:rPr>
              <a:t> 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mod</a:t>
            </a:r>
            <a:r>
              <a:rPr lang="en-US" sz="2000" i="1" dirty="0" smtClean="0">
                <a:latin typeface="Times New Roman" pitchFamily="18" charset="0"/>
                <a:cs typeface="Times New Roman" pitchFamily="18" charset="0"/>
              </a:rPr>
              <a:t> N</a:t>
            </a:r>
            <a:endParaRPr lang="en-US" sz="2000" dirty="0" smtClean="0">
              <a:latin typeface="Times New Roman" pitchFamily="18" charset="0"/>
              <a:cs typeface="Times New Roman" pitchFamily="18" charset="0"/>
            </a:endParaRPr>
          </a:p>
          <a:p>
            <a:pPr eaLnBrk="1" hangingPunct="1"/>
            <a:r>
              <a:rPr lang="en-US" sz="2400" dirty="0" smtClean="0">
                <a:cs typeface="Times New Roman" pitchFamily="18" charset="0"/>
              </a:rPr>
              <a:t>The bank creates signature </a:t>
            </a:r>
            <a:r>
              <a:rPr lang="en-US" sz="2400" i="1" dirty="0" smtClean="0">
                <a:latin typeface="Symbol" pitchFamily="18" charset="2"/>
                <a:cs typeface="Times New Roman" pitchFamily="18" charset="0"/>
              </a:rPr>
              <a:t>s</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a:t>
            </a:r>
            <a:r>
              <a:rPr lang="en-US" sz="2400" dirty="0" smtClean="0">
                <a:cs typeface="Times New Roman" pitchFamily="18" charset="0"/>
              </a:rPr>
              <a:t> on </a:t>
            </a:r>
            <a:r>
              <a:rPr lang="en-US" sz="2400" i="1" dirty="0" smtClean="0">
                <a:latin typeface="Times New Roman" pitchFamily="18" charset="0"/>
                <a:cs typeface="Times New Roman" pitchFamily="18" charset="0"/>
              </a:rPr>
              <a:t>y</a:t>
            </a:r>
            <a:endParaRPr lang="en-US" sz="2400" dirty="0" smtClean="0">
              <a:cs typeface="Times New Roman" pitchFamily="18" charset="0"/>
            </a:endParaRPr>
          </a:p>
          <a:p>
            <a:pPr lvl="1" eaLnBrk="1" hangingPunct="1">
              <a:buFont typeface="Arial" charset="0"/>
              <a:buNone/>
            </a:pPr>
            <a:r>
              <a:rPr lang="en-US" sz="2000" i="1" dirty="0" smtClean="0">
                <a:latin typeface="Times New Roman" pitchFamily="18" charset="0"/>
                <a:cs typeface="Times New Roman" pitchFamily="18" charset="0"/>
              </a:rPr>
              <a:t>			</a:t>
            </a:r>
            <a:r>
              <a:rPr lang="en-US" sz="2000" i="1" dirty="0" smtClean="0">
                <a:latin typeface="Symbol" pitchFamily="18" charset="2"/>
                <a:cs typeface="Times New Roman" pitchFamily="18" charset="0"/>
              </a:rPr>
              <a:t>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y</a:t>
            </a:r>
            <a:r>
              <a:rPr lang="en-US" sz="2000" dirty="0" smtClean="0">
                <a:latin typeface="Times New Roman" pitchFamily="18" charset="0"/>
                <a:cs typeface="Times New Roman" pitchFamily="18" charset="0"/>
              </a:rPr>
              <a:t>) </a:t>
            </a:r>
            <a:r>
              <a:rPr lang="en-US" sz="2000" dirty="0" smtClean="0">
                <a:latin typeface="Symbol" pitchFamily="18" charset="2"/>
                <a:cs typeface="Times New Roman" pitchFamily="18" charset="0"/>
              </a:rPr>
              <a:t>= </a:t>
            </a:r>
            <a:r>
              <a:rPr lang="en-US" sz="2000" i="1" dirty="0" smtClean="0">
                <a:latin typeface="Times New Roman" pitchFamily="18" charset="0"/>
                <a:cs typeface="Times New Roman" pitchFamily="18" charset="0"/>
              </a:rPr>
              <a:t>y</a:t>
            </a:r>
            <a:r>
              <a:rPr lang="en-US" sz="2000" i="1" baseline="30000" dirty="0" smtClean="0">
                <a:latin typeface="Times New Roman" pitchFamily="18" charset="0"/>
                <a:cs typeface="Times New Roman" pitchFamily="18" charset="0"/>
              </a:rPr>
              <a:t>d</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mod</a:t>
            </a:r>
            <a:r>
              <a:rPr lang="en-US" sz="2000" i="1" dirty="0" smtClean="0">
                <a:latin typeface="Times New Roman" pitchFamily="18" charset="0"/>
                <a:cs typeface="Times New Roman" pitchFamily="18" charset="0"/>
              </a:rPr>
              <a:t> N</a:t>
            </a:r>
          </a:p>
          <a:p>
            <a:pPr eaLnBrk="1" hangingPunct="1"/>
            <a:r>
              <a:rPr lang="en-US" sz="2400" dirty="0" smtClean="0">
                <a:cs typeface="Times New Roman" pitchFamily="18" charset="0"/>
              </a:rPr>
              <a:t>The customer derives from </a:t>
            </a:r>
            <a:r>
              <a:rPr lang="en-US" sz="2400" i="1" dirty="0" smtClean="0">
                <a:latin typeface="Symbol" pitchFamily="18" charset="2"/>
                <a:cs typeface="Times New Roman" pitchFamily="18" charset="0"/>
              </a:rPr>
              <a:t>s</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a:t>
            </a:r>
            <a:r>
              <a:rPr lang="en-US" sz="2400" dirty="0" smtClean="0">
                <a:cs typeface="Times New Roman" pitchFamily="18" charset="0"/>
              </a:rPr>
              <a:t> signature </a:t>
            </a:r>
            <a:r>
              <a:rPr lang="en-US" sz="2400" i="1" dirty="0" smtClean="0">
                <a:latin typeface="Symbol" pitchFamily="18" charset="2"/>
                <a:cs typeface="Times New Roman" pitchFamily="18" charset="0"/>
              </a:rPr>
              <a:t>s</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dirty="0" smtClean="0">
                <a:cs typeface="Times New Roman" pitchFamily="18" charset="0"/>
              </a:rPr>
              <a:t> on </a:t>
            </a:r>
            <a:r>
              <a:rPr lang="en-US" sz="2400" i="1" dirty="0" smtClean="0">
                <a:latin typeface="Times New Roman" pitchFamily="18" charset="0"/>
                <a:cs typeface="Times New Roman" pitchFamily="18" charset="0"/>
              </a:rPr>
              <a:t>x</a:t>
            </a:r>
          </a:p>
          <a:p>
            <a:pPr lvl="1" eaLnBrk="1" hangingPunct="1">
              <a:buFont typeface="Arial" charset="0"/>
              <a:buNone/>
            </a:pPr>
            <a:r>
              <a:rPr lang="en-US" sz="2000" i="1" dirty="0" smtClean="0">
                <a:latin typeface="Symbol" pitchFamily="18" charset="2"/>
                <a:cs typeface="Times New Roman" pitchFamily="18" charset="0"/>
              </a:rPr>
              <a:t>			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a:t>
            </a:r>
            <a:r>
              <a:rPr lang="en-US" sz="2000" dirty="0" smtClean="0">
                <a:latin typeface="Symbol" pitchFamily="18" charset="2"/>
                <a:cs typeface="Times New Roman" pitchFamily="18" charset="0"/>
              </a:rPr>
              <a:t>= </a:t>
            </a:r>
            <a:r>
              <a:rPr lang="en-US" sz="2000" i="1" dirty="0" smtClean="0">
                <a:latin typeface="Symbol" pitchFamily="18" charset="2"/>
                <a:cs typeface="Times New Roman" pitchFamily="18" charset="0"/>
              </a:rPr>
              <a:t>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y</a:t>
            </a:r>
            <a:r>
              <a:rPr lang="en-US" sz="2000" dirty="0" smtClean="0">
                <a:latin typeface="Times New Roman" pitchFamily="18" charset="0"/>
                <a:cs typeface="Times New Roman" pitchFamily="18" charset="0"/>
              </a:rPr>
              <a:t>) </a:t>
            </a:r>
            <a:r>
              <a:rPr lang="en-US" sz="2000" dirty="0" smtClean="0">
                <a:latin typeface="Symbol" pitchFamily="18" charset="2"/>
                <a:cs typeface="Times New Roman" pitchFamily="18" charset="0"/>
              </a:rPr>
              <a:t>/</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 mod</a:t>
            </a:r>
            <a:r>
              <a:rPr lang="en-US" sz="2000" i="1" dirty="0" smtClean="0">
                <a:latin typeface="Times New Roman" pitchFamily="18" charset="0"/>
                <a:cs typeface="Times New Roman" pitchFamily="18" charset="0"/>
              </a:rPr>
              <a:t> N</a:t>
            </a:r>
            <a:r>
              <a:rPr lang="en-US" sz="2000" dirty="0" smtClean="0">
                <a:latin typeface="Symbol" pitchFamily="18" charset="2"/>
                <a:cs typeface="Times New Roman" pitchFamily="18" charset="0"/>
              </a:rPr>
              <a:t> </a:t>
            </a:r>
          </a:p>
          <a:p>
            <a:pPr eaLnBrk="1" hangingPunct="1"/>
            <a:r>
              <a:rPr lang="en-US" sz="2400" dirty="0" smtClean="0">
                <a:cs typeface="Times New Roman" pitchFamily="18" charset="0"/>
              </a:rPr>
              <a:t>Proof</a:t>
            </a:r>
          </a:p>
          <a:p>
            <a:pPr lvl="1" eaLnBrk="1" hangingPunct="1">
              <a:buFont typeface="Wingdings" pitchFamily="2" charset="2"/>
              <a:buNone/>
            </a:pPr>
            <a:r>
              <a:rPr lang="en-US" sz="2000" i="1" dirty="0" smtClean="0">
                <a:latin typeface="Times New Roman" pitchFamily="18" charset="0"/>
                <a:cs typeface="Times New Roman" pitchFamily="18" charset="0"/>
              </a:rPr>
              <a:t>			</a:t>
            </a:r>
            <a:r>
              <a:rPr lang="en-US" sz="2000" dirty="0" smtClean="0">
                <a:latin typeface="Symbol" pitchFamily="18" charset="2"/>
                <a:cs typeface="Times New Roman" pitchFamily="18" charset="0"/>
              </a:rPr>
              <a:t> </a:t>
            </a:r>
            <a:r>
              <a:rPr lang="en-US" sz="2000" i="1" dirty="0" smtClean="0">
                <a:latin typeface="Symbol" pitchFamily="18" charset="2"/>
                <a:cs typeface="Times New Roman" pitchFamily="18" charset="0"/>
              </a:rPr>
              <a:t>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y</a:t>
            </a:r>
            <a:r>
              <a:rPr lang="en-US" sz="2000" dirty="0" smtClean="0">
                <a:latin typeface="Times New Roman" pitchFamily="18" charset="0"/>
                <a:cs typeface="Times New Roman" pitchFamily="18" charset="0"/>
              </a:rPr>
              <a:t>) </a:t>
            </a:r>
            <a:r>
              <a:rPr lang="en-US" sz="2000" dirty="0" smtClean="0">
                <a:latin typeface="Symbol" pitchFamily="18" charset="2"/>
                <a:cs typeface="Times New Roman" pitchFamily="18" charset="0"/>
              </a:rPr>
              <a:t>/</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 mod</a:t>
            </a:r>
            <a:r>
              <a:rPr lang="en-US" sz="2000" i="1" dirty="0" smtClean="0">
                <a:latin typeface="Times New Roman" pitchFamily="18" charset="0"/>
                <a:cs typeface="Times New Roman" pitchFamily="18" charset="0"/>
              </a:rPr>
              <a:t> N</a:t>
            </a:r>
            <a:r>
              <a:rPr lang="en-US" sz="2000" dirty="0" smtClean="0">
                <a:latin typeface="Symbol" pitchFamily="18" charset="2"/>
                <a:cs typeface="Times New Roman" pitchFamily="18" charset="0"/>
              </a:rPr>
              <a:t> = </a:t>
            </a:r>
            <a:r>
              <a:rPr lang="en-US" sz="2000" i="1" dirty="0" smtClean="0">
                <a:latin typeface="Times New Roman" pitchFamily="18" charset="0"/>
                <a:cs typeface="Times New Roman" pitchFamily="18" charset="0"/>
              </a:rPr>
              <a:t>r</a:t>
            </a:r>
            <a:r>
              <a:rPr lang="en-US" sz="2000" i="1" baseline="30000" dirty="0" smtClean="0">
                <a:latin typeface="Times New Roman" pitchFamily="18" charset="0"/>
                <a:cs typeface="Times New Roman" pitchFamily="18" charset="0"/>
              </a:rPr>
              <a:t>ed </a:t>
            </a:r>
            <a:r>
              <a:rPr lang="en-US" sz="2000" i="1" baseline="30000" dirty="0" smtClean="0">
                <a:latin typeface="Symbol" pitchFamily="18" charset="2"/>
                <a:cs typeface="Times New Roman" pitchFamily="18" charset="0"/>
              </a:rPr>
              <a:t>- </a:t>
            </a:r>
            <a:r>
              <a:rPr lang="en-US" sz="2000" baseline="30000" dirty="0" smtClean="0">
                <a:latin typeface="Times New Roman" pitchFamily="18" charset="0"/>
                <a:cs typeface="Times New Roman" pitchFamily="18" charset="0"/>
              </a:rPr>
              <a:t>1</a:t>
            </a:r>
            <a:r>
              <a:rPr lang="en-US" sz="2000" i="1" dirty="0" smtClean="0">
                <a:latin typeface="Times New Roman" pitchFamily="18" charset="0"/>
                <a:cs typeface="Times New Roman" pitchFamily="18" charset="0"/>
              </a:rPr>
              <a:t> 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a:t>
            </a:r>
            <a:r>
              <a:rPr lang="en-US" sz="2000" i="1" baseline="30000" dirty="0" smtClean="0">
                <a:latin typeface="Times New Roman" pitchFamily="18" charset="0"/>
                <a:cs typeface="Times New Roman" pitchFamily="18" charset="0"/>
              </a:rPr>
              <a:t>d</a:t>
            </a:r>
            <a:r>
              <a:rPr lang="en-US" sz="2000" dirty="0" smtClean="0">
                <a:latin typeface="Times New Roman" pitchFamily="18" charset="0"/>
                <a:cs typeface="Times New Roman" pitchFamily="18" charset="0"/>
              </a:rPr>
              <a:t> mod</a:t>
            </a:r>
            <a:r>
              <a:rPr lang="en-US" sz="2000" i="1" dirty="0" smtClean="0">
                <a:latin typeface="Times New Roman" pitchFamily="18" charset="0"/>
                <a:cs typeface="Times New Roman" pitchFamily="18" charset="0"/>
              </a:rPr>
              <a:t> N</a:t>
            </a:r>
            <a:r>
              <a:rPr lang="en-US" sz="2000" dirty="0" smtClean="0">
                <a:latin typeface="Symbol" pitchFamily="18" charset="2"/>
                <a:cs typeface="Times New Roman" pitchFamily="18" charset="0"/>
              </a:rPr>
              <a:t> =</a:t>
            </a:r>
            <a:r>
              <a:rPr lang="en-US" sz="2000" i="1" dirty="0" smtClean="0">
                <a:latin typeface="Times New Roman" pitchFamily="18" charset="0"/>
                <a:cs typeface="Times New Roman" pitchFamily="18" charset="0"/>
              </a:rPr>
              <a:t> 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a:t>
            </a:r>
            <a:r>
              <a:rPr lang="en-US" sz="2000" i="1" baseline="30000" dirty="0" smtClean="0">
                <a:latin typeface="Times New Roman" pitchFamily="18" charset="0"/>
                <a:cs typeface="Times New Roman" pitchFamily="18" charset="0"/>
              </a:rPr>
              <a:t>d</a:t>
            </a:r>
            <a:r>
              <a:rPr lang="en-US" sz="2000" dirty="0" smtClean="0">
                <a:latin typeface="Times New Roman" pitchFamily="18" charset="0"/>
                <a:cs typeface="Times New Roman" pitchFamily="18" charset="0"/>
              </a:rPr>
              <a:t> mod</a:t>
            </a:r>
            <a:r>
              <a:rPr lang="en-US" sz="2000" i="1" dirty="0" smtClean="0">
                <a:latin typeface="Times New Roman" pitchFamily="18" charset="0"/>
                <a:cs typeface="Times New Roman" pitchFamily="18" charset="0"/>
              </a:rPr>
              <a:t> N </a:t>
            </a:r>
            <a:r>
              <a:rPr lang="en-US" sz="2000" dirty="0" smtClean="0">
                <a:latin typeface="Symbol" pitchFamily="18" charset="2"/>
                <a:cs typeface="Times New Roman" pitchFamily="18" charset="0"/>
              </a:rPr>
              <a:t>=</a:t>
            </a:r>
            <a:r>
              <a:rPr lang="en-US" sz="2000" i="1" dirty="0" smtClean="0">
                <a:latin typeface="Times New Roman" pitchFamily="18" charset="0"/>
                <a:cs typeface="Times New Roman" pitchFamily="18" charset="0"/>
              </a:rPr>
              <a:t> </a:t>
            </a:r>
            <a:r>
              <a:rPr lang="en-US" sz="2000" i="1" dirty="0" smtClean="0">
                <a:latin typeface="Symbol" pitchFamily="18" charset="2"/>
                <a:cs typeface="Times New Roman" pitchFamily="18" charset="0"/>
              </a:rPr>
              <a:t>s</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a:t>
            </a:r>
            <a:endParaRPr lang="en-US" sz="2000" i="1" dirty="0" smtClean="0">
              <a:latin typeface="Times New Roman" pitchFamily="18" charset="0"/>
              <a:cs typeface="Times New Roman" pitchFamily="18" charset="0"/>
            </a:endParaRPr>
          </a:p>
        </p:txBody>
      </p:sp>
      <p:sp>
        <p:nvSpPr>
          <p:cNvPr id="11270" name="Slide Number Placeholder 4"/>
          <p:cNvSpPr>
            <a:spLocks noGrp="1"/>
          </p:cNvSpPr>
          <p:nvPr>
            <p:ph type="sldNum" sz="quarter" idx="12"/>
          </p:nvPr>
        </p:nvSpPr>
        <p:spPr>
          <a:noFill/>
        </p:spPr>
        <p:txBody>
          <a:bodyPr/>
          <a:lstStyle/>
          <a:p>
            <a:fld id="{E1CBB4A8-88F4-454E-B405-A3C87A99EADD}" type="slidenum">
              <a:rPr lang="en-US" smtClean="0"/>
              <a:pPr/>
              <a:t>45</a:t>
            </a:fld>
            <a:endParaRPr lang="en-US" smtClean="0"/>
          </a:p>
        </p:txBody>
      </p:sp>
    </p:spTree>
    <p:extLst>
      <p:ext uri="{BB962C8B-B14F-4D97-AF65-F5344CB8AC3E}">
        <p14:creationId xmlns:p14="http://schemas.microsoft.com/office/powerpoint/2010/main" val="3782014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Blindly Signing a Valid Coin</a:t>
            </a:r>
            <a:endParaRPr lang="en-US" dirty="0"/>
          </a:p>
        </p:txBody>
      </p:sp>
      <p:sp>
        <p:nvSpPr>
          <p:cNvPr id="3" name="Content Placeholder 2"/>
          <p:cNvSpPr>
            <a:spLocks noGrp="1"/>
          </p:cNvSpPr>
          <p:nvPr>
            <p:ph idx="1"/>
          </p:nvPr>
        </p:nvSpPr>
        <p:spPr>
          <a:xfrm>
            <a:off x="457200" y="1371600"/>
            <a:ext cx="8229600" cy="4953000"/>
          </a:xfrm>
        </p:spPr>
        <p:txBody>
          <a:bodyPr>
            <a:normAutofit fontScale="92500"/>
          </a:bodyPr>
          <a:lstStyle/>
          <a:p>
            <a:pPr>
              <a:lnSpc>
                <a:spcPct val="110000"/>
              </a:lnSpc>
            </a:pPr>
            <a:r>
              <a:rPr lang="en-US" sz="2800" dirty="0" smtClean="0"/>
              <a:t>The customer generates </a:t>
            </a:r>
            <a:r>
              <a:rPr lang="en-US" sz="2800" i="1" dirty="0" smtClean="0">
                <a:latin typeface="Times New Roman" pitchFamily="18" charset="0"/>
                <a:cs typeface="Times New Roman" pitchFamily="18" charset="0"/>
              </a:rPr>
              <a:t>k</a:t>
            </a:r>
            <a:r>
              <a:rPr lang="en-US" sz="2800" dirty="0" smtClean="0"/>
              <a:t> coins and submits to the bank commitments (cryptographic hashes) for all the coins</a:t>
            </a:r>
          </a:p>
          <a:p>
            <a:pPr>
              <a:lnSpc>
                <a:spcPct val="110000"/>
              </a:lnSpc>
            </a:pPr>
            <a:r>
              <a:rPr lang="en-US" sz="2800" dirty="0" smtClean="0"/>
              <a:t>The bank randomly selects </a:t>
            </a:r>
            <a:r>
              <a:rPr lang="en-US" sz="2800" i="1" dirty="0" smtClean="0">
                <a:latin typeface="Times New Roman" pitchFamily="18" charset="0"/>
                <a:cs typeface="Times New Roman" pitchFamily="18" charset="0"/>
              </a:rPr>
              <a:t>k </a:t>
            </a:r>
            <a:r>
              <a:rPr lang="en-US" sz="2800" i="1" dirty="0" smtClean="0">
                <a:latin typeface="Symbol" pitchFamily="18" charset="2"/>
                <a:cs typeface="Times New Roman" pitchFamily="18" charset="0"/>
              </a:rPr>
              <a:t>- </a:t>
            </a:r>
            <a:r>
              <a:rPr lang="en-US" sz="2800" dirty="0" smtClean="0">
                <a:latin typeface="Times New Roman" pitchFamily="18" charset="0"/>
                <a:cs typeface="Times New Roman" pitchFamily="18" charset="0"/>
              </a:rPr>
              <a:t>1</a:t>
            </a:r>
            <a:r>
              <a:rPr lang="en-US" sz="2800" dirty="0" smtClean="0"/>
              <a:t> coins </a:t>
            </a:r>
          </a:p>
          <a:p>
            <a:pPr>
              <a:lnSpc>
                <a:spcPct val="110000"/>
              </a:lnSpc>
            </a:pPr>
            <a:r>
              <a:rPr lang="en-US" sz="2800" dirty="0" smtClean="0"/>
              <a:t>The customer reveals to the bank the selected  </a:t>
            </a:r>
            <a:r>
              <a:rPr lang="en-US" sz="2800" i="1" dirty="0" smtClean="0">
                <a:latin typeface="Times New Roman" pitchFamily="18" charset="0"/>
                <a:cs typeface="Times New Roman" pitchFamily="18" charset="0"/>
              </a:rPr>
              <a:t>k </a:t>
            </a:r>
            <a:r>
              <a:rPr lang="en-US" sz="2800" i="1" dirty="0" smtClean="0">
                <a:latin typeface="Symbol" pitchFamily="18" charset="2"/>
                <a:cs typeface="Times New Roman" pitchFamily="18" charset="0"/>
              </a:rPr>
              <a:t>- </a:t>
            </a:r>
            <a:r>
              <a:rPr lang="en-US" sz="2800" dirty="0" smtClean="0">
                <a:latin typeface="Times New Roman" pitchFamily="18" charset="0"/>
                <a:cs typeface="Times New Roman" pitchFamily="18" charset="0"/>
              </a:rPr>
              <a:t>1 </a:t>
            </a:r>
            <a:r>
              <a:rPr lang="en-US" sz="2800" dirty="0" smtClean="0"/>
              <a:t>coins</a:t>
            </a:r>
          </a:p>
          <a:p>
            <a:pPr>
              <a:lnSpc>
                <a:spcPct val="110000"/>
              </a:lnSpc>
            </a:pPr>
            <a:r>
              <a:rPr lang="en-US" sz="2800" dirty="0" smtClean="0"/>
              <a:t>The bank verifies the commitments on the selected  </a:t>
            </a:r>
            <a:r>
              <a:rPr lang="en-US" sz="2800" i="1" dirty="0" smtClean="0">
                <a:latin typeface="Times New Roman" pitchFamily="18" charset="0"/>
                <a:cs typeface="Times New Roman" pitchFamily="18" charset="0"/>
              </a:rPr>
              <a:t>k </a:t>
            </a:r>
            <a:r>
              <a:rPr lang="en-US" sz="2800" i="1" dirty="0" smtClean="0">
                <a:latin typeface="Symbol" pitchFamily="18" charset="2"/>
                <a:cs typeface="Times New Roman" pitchFamily="18" charset="0"/>
              </a:rPr>
              <a:t>- </a:t>
            </a:r>
            <a:r>
              <a:rPr lang="en-US" sz="2800" dirty="0" smtClean="0">
                <a:latin typeface="Times New Roman" pitchFamily="18" charset="0"/>
                <a:cs typeface="Times New Roman" pitchFamily="18" charset="0"/>
              </a:rPr>
              <a:t>1 </a:t>
            </a:r>
            <a:r>
              <a:rPr lang="en-US" sz="2800" dirty="0" smtClean="0"/>
              <a:t>coins</a:t>
            </a:r>
          </a:p>
          <a:p>
            <a:pPr>
              <a:lnSpc>
                <a:spcPct val="110000"/>
              </a:lnSpc>
            </a:pPr>
            <a:r>
              <a:rPr lang="en-US" sz="2800" dirty="0" smtClean="0"/>
              <a:t>The bank creates a blind signature on the remaining coin</a:t>
            </a:r>
          </a:p>
          <a:p>
            <a:pPr>
              <a:lnSpc>
                <a:spcPct val="110000"/>
              </a:lnSpc>
            </a:pPr>
            <a:r>
              <a:rPr lang="en-US" sz="2800" dirty="0" smtClean="0"/>
              <a:t>The coin signed by the bank is valid with probability</a:t>
            </a:r>
          </a:p>
          <a:p>
            <a:pPr algn="ctr">
              <a:lnSpc>
                <a:spcPct val="110000"/>
              </a:lnSpc>
              <a:buNone/>
            </a:pPr>
            <a:r>
              <a:rPr lang="en-US" sz="2800" dirty="0" smtClean="0">
                <a:latin typeface="Times New Roman" pitchFamily="18" charset="0"/>
                <a:cs typeface="Times New Roman" pitchFamily="18" charset="0"/>
              </a:rPr>
              <a:t>1 </a:t>
            </a:r>
            <a:r>
              <a:rPr lang="en-US" sz="2800" i="1" dirty="0" smtClean="0">
                <a:latin typeface="Symbol" pitchFamily="18" charset="2"/>
                <a:cs typeface="Times New Roman" pitchFamily="18" charset="0"/>
              </a:rPr>
              <a:t>-</a:t>
            </a:r>
            <a:r>
              <a:rPr lang="en-US" sz="2800" dirty="0" smtClean="0"/>
              <a:t> </a:t>
            </a:r>
            <a:r>
              <a:rPr lang="en-US" sz="2800" dirty="0" smtClean="0">
                <a:latin typeface="Times New Roman" pitchFamily="18" charset="0"/>
                <a:cs typeface="Times New Roman" pitchFamily="18" charset="0"/>
              </a:rPr>
              <a:t>1</a:t>
            </a:r>
            <a:r>
              <a:rPr lang="en-US" sz="2800" i="1"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k</a:t>
            </a:r>
            <a:endParaRPr lang="en-US" sz="2800" dirty="0" smtClean="0"/>
          </a:p>
        </p:txBody>
      </p:sp>
      <p:sp>
        <p:nvSpPr>
          <p:cNvPr id="6" name="Slide Number Placeholder 5"/>
          <p:cNvSpPr>
            <a:spLocks noGrp="1"/>
          </p:cNvSpPr>
          <p:nvPr>
            <p:ph type="sldNum" sz="quarter" idx="12"/>
          </p:nvPr>
        </p:nvSpPr>
        <p:spPr/>
        <p:txBody>
          <a:bodyPr/>
          <a:lstStyle/>
          <a:p>
            <a:pPr>
              <a:defRPr/>
            </a:pPr>
            <a:fld id="{EF343085-4F93-48BA-BB57-F695F5005F3B}" type="slidenum">
              <a:rPr lang="en-US" smtClean="0"/>
              <a:pPr>
                <a:defRPr/>
              </a:pPr>
              <a:t>46</a:t>
            </a:fld>
            <a:endParaRPr lang="en-US" dirty="0"/>
          </a:p>
        </p:txBody>
      </p:sp>
    </p:spTree>
    <p:extLst>
      <p:ext uri="{BB962C8B-B14F-4D97-AF65-F5344CB8AC3E}">
        <p14:creationId xmlns:p14="http://schemas.microsoft.com/office/powerpoint/2010/main" val="12099069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Defenses Against Double Spending</a:t>
            </a:r>
          </a:p>
        </p:txBody>
      </p:sp>
      <p:sp>
        <p:nvSpPr>
          <p:cNvPr id="12291" name="Content Placeholder 2"/>
          <p:cNvSpPr>
            <a:spLocks noGrp="1"/>
          </p:cNvSpPr>
          <p:nvPr>
            <p:ph idx="1"/>
          </p:nvPr>
        </p:nvSpPr>
        <p:spPr/>
        <p:txBody>
          <a:bodyPr>
            <a:normAutofit lnSpcReduction="10000"/>
          </a:bodyPr>
          <a:lstStyle/>
          <a:p>
            <a:pPr eaLnBrk="1" hangingPunct="1"/>
            <a:r>
              <a:rPr lang="en-US" smtClean="0"/>
              <a:t>Online protocol</a:t>
            </a:r>
          </a:p>
          <a:p>
            <a:pPr lvl="1" eaLnBrk="1" hangingPunct="1"/>
            <a:r>
              <a:rPr lang="en-US" smtClean="0"/>
              <a:t>The bank is online during the payment transaction to revoke spent coins</a:t>
            </a:r>
          </a:p>
          <a:p>
            <a:pPr eaLnBrk="1" hangingPunct="1"/>
            <a:r>
              <a:rPr lang="en-US" smtClean="0"/>
              <a:t>Offline protocol</a:t>
            </a:r>
          </a:p>
          <a:p>
            <a:pPr lvl="1" eaLnBrk="1" hangingPunct="1"/>
            <a:r>
              <a:rPr lang="en-US" smtClean="0"/>
              <a:t>Withdrawn coins embed encrypted customer identity</a:t>
            </a:r>
          </a:p>
          <a:p>
            <a:pPr lvl="1" eaLnBrk="1" hangingPunct="1"/>
            <a:r>
              <a:rPr lang="en-US" smtClean="0"/>
              <a:t>Deposited coins embed also encrypted merchant identity</a:t>
            </a:r>
          </a:p>
          <a:p>
            <a:pPr lvl="1" eaLnBrk="1" hangingPunct="1"/>
            <a:r>
              <a:rPr lang="en-US" smtClean="0"/>
              <a:t>Double spending caused the identity of the cheating party to be revealed</a:t>
            </a:r>
          </a:p>
          <a:p>
            <a:pPr lvl="1" eaLnBrk="1" hangingPunct="1">
              <a:buFont typeface="Arial" charset="0"/>
              <a:buChar char="–"/>
            </a:pPr>
            <a:endParaRPr lang="en-US" smtClean="0"/>
          </a:p>
        </p:txBody>
      </p:sp>
      <p:sp>
        <p:nvSpPr>
          <p:cNvPr id="12293" name="Slide Number Placeholder 4"/>
          <p:cNvSpPr>
            <a:spLocks noGrp="1"/>
          </p:cNvSpPr>
          <p:nvPr>
            <p:ph type="sldNum" sz="quarter" idx="12"/>
          </p:nvPr>
        </p:nvSpPr>
        <p:spPr>
          <a:noFill/>
        </p:spPr>
        <p:txBody>
          <a:bodyPr/>
          <a:lstStyle/>
          <a:p>
            <a:fld id="{D66D2C56-808A-4837-95F5-6AE6CF85586A}" type="slidenum">
              <a:rPr lang="en-US" smtClean="0"/>
              <a:pPr/>
              <a:t>47</a:t>
            </a:fld>
            <a:endParaRPr lang="en-US" smtClean="0"/>
          </a:p>
        </p:txBody>
      </p:sp>
    </p:spTree>
    <p:extLst>
      <p:ext uri="{BB962C8B-B14F-4D97-AF65-F5344CB8AC3E}">
        <p14:creationId xmlns:p14="http://schemas.microsoft.com/office/powerpoint/2010/main" val="3762131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smtClean="0"/>
              <a:t>Secret Splitting into Shares</a:t>
            </a:r>
          </a:p>
        </p:txBody>
      </p:sp>
      <p:sp>
        <p:nvSpPr>
          <p:cNvPr id="13315" name="Content Placeholder 2"/>
          <p:cNvSpPr>
            <a:spLocks noGrp="1"/>
          </p:cNvSpPr>
          <p:nvPr>
            <p:ph idx="1"/>
          </p:nvPr>
        </p:nvSpPr>
        <p:spPr/>
        <p:txBody>
          <a:bodyPr/>
          <a:lstStyle/>
          <a:p>
            <a:pPr eaLnBrk="1" hangingPunct="1"/>
            <a:r>
              <a:rPr lang="en-US" sz="2400" dirty="0" smtClean="0"/>
              <a:t>A secret string </a:t>
            </a:r>
            <a:r>
              <a:rPr lang="en-US" sz="2400" i="1" dirty="0" smtClean="0">
                <a:latin typeface="Times New Roman" pitchFamily="18" charset="0"/>
                <a:cs typeface="Times New Roman" pitchFamily="18" charset="0"/>
              </a:rPr>
              <a:t>x </a:t>
            </a:r>
            <a:r>
              <a:rPr lang="en-US" sz="2400" dirty="0" smtClean="0"/>
              <a:t>can be split into random values </a:t>
            </a:r>
            <a:r>
              <a:rPr lang="en-US" sz="2400" i="1" dirty="0" smtClean="0">
                <a:latin typeface="Times New Roman" pitchFamily="18" charset="0"/>
                <a:cs typeface="Times New Roman" pitchFamily="18" charset="0"/>
              </a:rPr>
              <a:t>y</a:t>
            </a:r>
            <a:r>
              <a:rPr lang="en-US" sz="2400" dirty="0" smtClean="0"/>
              <a:t> and </a:t>
            </a:r>
            <a:r>
              <a:rPr lang="en-US" sz="2400" i="1" dirty="0" smtClean="0">
                <a:latin typeface="Times New Roman" pitchFamily="18" charset="0"/>
                <a:cs typeface="Times New Roman" pitchFamily="18" charset="0"/>
              </a:rPr>
              <a:t>z</a:t>
            </a:r>
            <a:r>
              <a:rPr lang="en-US" sz="2400" i="1" baseline="-25000" dirty="0" smtClean="0">
                <a:latin typeface="Times New Roman" pitchFamily="18" charset="0"/>
                <a:cs typeface="Times New Roman" pitchFamily="18" charset="0"/>
              </a:rPr>
              <a:t> </a:t>
            </a:r>
            <a:r>
              <a:rPr lang="en-US" sz="2400" dirty="0" smtClean="0"/>
              <a:t>as follows</a:t>
            </a:r>
          </a:p>
          <a:p>
            <a:pPr lvl="1" eaLnBrk="1" hangingPunct="1"/>
            <a:r>
              <a:rPr lang="en-US" sz="2000" dirty="0" smtClean="0"/>
              <a:t>Pick a random value </a:t>
            </a:r>
            <a:r>
              <a:rPr lang="en-US" sz="2000" i="1" dirty="0" smtClean="0">
                <a:latin typeface="Times New Roman" pitchFamily="18" charset="0"/>
                <a:cs typeface="Times New Roman" pitchFamily="18" charset="0"/>
              </a:rPr>
              <a:t>y</a:t>
            </a:r>
          </a:p>
          <a:p>
            <a:pPr lvl="1" eaLnBrk="1" hangingPunct="1"/>
            <a:r>
              <a:rPr lang="en-US" sz="2000" dirty="0" smtClean="0"/>
              <a:t>Set </a:t>
            </a:r>
            <a:r>
              <a:rPr lang="en-US" sz="2000" i="1" dirty="0" smtClean="0">
                <a:latin typeface="Times New Roman" pitchFamily="18" charset="0"/>
                <a:cs typeface="Times New Roman" pitchFamily="18" charset="0"/>
              </a:rPr>
              <a:t>z </a:t>
            </a:r>
            <a:r>
              <a:rPr lang="en-US" sz="2000" dirty="0" smtClean="0">
                <a:latin typeface="Symbol" pitchFamily="18" charset="2"/>
                <a:cs typeface="Times New Roman" pitchFamily="18" charset="0"/>
              </a:rPr>
              <a:t>=</a:t>
            </a:r>
            <a:r>
              <a:rPr lang="en-US" sz="2000" i="1" dirty="0" smtClean="0">
                <a:latin typeface="Times New Roman" pitchFamily="18" charset="0"/>
                <a:cs typeface="Times New Roman" pitchFamily="18" charset="0"/>
              </a:rPr>
              <a:t> y</a:t>
            </a:r>
            <a:r>
              <a:rPr lang="en-US" sz="2000" dirty="0" smtClean="0"/>
              <a:t> </a:t>
            </a:r>
            <a:r>
              <a:rPr lang="en-US" sz="2000" dirty="0" smtClean="0">
                <a:latin typeface="Symbol" pitchFamily="18" charset="2"/>
                <a:cs typeface="Times New Roman" pitchFamily="18" charset="0"/>
                <a:sym typeface="Symbol" pitchFamily="18" charset="2"/>
              </a:rPr>
              <a:t></a:t>
            </a:r>
            <a:r>
              <a:rPr lang="en-US" sz="2000" dirty="0" smtClean="0"/>
              <a:t> </a:t>
            </a:r>
            <a:r>
              <a:rPr lang="en-US" sz="2000" i="1" dirty="0" smtClean="0">
                <a:latin typeface="Times New Roman" pitchFamily="18" charset="0"/>
                <a:cs typeface="Times New Roman" pitchFamily="18" charset="0"/>
              </a:rPr>
              <a:t>x</a:t>
            </a:r>
            <a:endParaRPr lang="en-US" sz="2500" i="1" dirty="0" smtClean="0">
              <a:latin typeface="Times New Roman" pitchFamily="18" charset="0"/>
              <a:cs typeface="Times New Roman" pitchFamily="18" charset="0"/>
            </a:endParaRPr>
          </a:p>
          <a:p>
            <a:pPr eaLnBrk="1" hangingPunct="1"/>
            <a:r>
              <a:rPr lang="en-US" sz="2400" dirty="0" smtClean="0"/>
              <a:t>String </a:t>
            </a:r>
            <a:r>
              <a:rPr lang="en-US" sz="2400" i="1" dirty="0" smtClean="0">
                <a:latin typeface="Times New Roman" pitchFamily="18" charset="0"/>
                <a:cs typeface="Times New Roman" pitchFamily="18" charset="0"/>
              </a:rPr>
              <a:t>x </a:t>
            </a:r>
            <a:r>
              <a:rPr lang="en-US" sz="2400" dirty="0" smtClean="0"/>
              <a:t>can be reconstructed from</a:t>
            </a:r>
            <a:r>
              <a:rPr lang="en-US" sz="2400" i="1" dirty="0" smtClean="0">
                <a:latin typeface="Times New Roman" pitchFamily="18" charset="0"/>
                <a:cs typeface="Times New Roman" pitchFamily="18" charset="0"/>
              </a:rPr>
              <a:t> y</a:t>
            </a:r>
            <a:r>
              <a:rPr lang="en-US" sz="2400" dirty="0" smtClean="0"/>
              <a:t> and </a:t>
            </a:r>
            <a:r>
              <a:rPr lang="en-US" sz="2400" i="1" dirty="0" smtClean="0">
                <a:latin typeface="Times New Roman" pitchFamily="18" charset="0"/>
                <a:cs typeface="Times New Roman" pitchFamily="18" charset="0"/>
              </a:rPr>
              <a:t>z </a:t>
            </a:r>
            <a:r>
              <a:rPr lang="en-US" sz="2400" dirty="0" smtClean="0"/>
              <a:t>by setting</a:t>
            </a:r>
          </a:p>
          <a:p>
            <a:pPr lvl="1" eaLnBrk="1" hangingPunct="1"/>
            <a:r>
              <a:rPr lang="en-US" sz="2000" i="1" dirty="0" smtClean="0">
                <a:latin typeface="Times New Roman" pitchFamily="18" charset="0"/>
                <a:cs typeface="Times New Roman" pitchFamily="18" charset="0"/>
              </a:rPr>
              <a:t>x </a:t>
            </a:r>
            <a:r>
              <a:rPr lang="en-US" sz="2000" dirty="0" smtClean="0">
                <a:latin typeface="Symbol" pitchFamily="18" charset="2"/>
                <a:cs typeface="Times New Roman" pitchFamily="18" charset="0"/>
              </a:rPr>
              <a:t>=</a:t>
            </a:r>
            <a:r>
              <a:rPr lang="en-US" sz="2000" i="1" dirty="0" smtClean="0">
                <a:latin typeface="Times New Roman" pitchFamily="18" charset="0"/>
                <a:cs typeface="Times New Roman" pitchFamily="18" charset="0"/>
              </a:rPr>
              <a:t> y</a:t>
            </a:r>
            <a:r>
              <a:rPr lang="en-US" sz="2000" dirty="0" smtClean="0"/>
              <a:t> </a:t>
            </a:r>
            <a:r>
              <a:rPr lang="en-US" sz="2000" dirty="0" smtClean="0">
                <a:latin typeface="Symbol" pitchFamily="18" charset="2"/>
                <a:cs typeface="Times New Roman" pitchFamily="18" charset="0"/>
                <a:sym typeface="Symbol" pitchFamily="18" charset="2"/>
              </a:rPr>
              <a:t></a:t>
            </a:r>
            <a:r>
              <a:rPr lang="en-US" sz="2000" dirty="0" smtClean="0"/>
              <a:t> </a:t>
            </a:r>
            <a:r>
              <a:rPr lang="en-US" sz="2000" i="1" dirty="0" smtClean="0">
                <a:latin typeface="Times New Roman" pitchFamily="18" charset="0"/>
                <a:cs typeface="Times New Roman" pitchFamily="18" charset="0"/>
              </a:rPr>
              <a:t>z</a:t>
            </a:r>
            <a:endParaRPr lang="en-US" sz="2000" i="1" baseline="-25000" dirty="0" smtClean="0">
              <a:latin typeface="Times New Roman" pitchFamily="18" charset="0"/>
              <a:cs typeface="Times New Roman" pitchFamily="18" charset="0"/>
            </a:endParaRPr>
          </a:p>
          <a:p>
            <a:pPr eaLnBrk="1" hangingPunct="1"/>
            <a:r>
              <a:rPr lang="en-US" sz="2400" dirty="0" smtClean="0"/>
              <a:t>Both shares </a:t>
            </a:r>
            <a:r>
              <a:rPr lang="en-US" sz="2400" i="1" dirty="0" smtClean="0">
                <a:latin typeface="Times New Roman" pitchFamily="18" charset="0"/>
                <a:cs typeface="Times New Roman" pitchFamily="18" charset="0"/>
              </a:rPr>
              <a:t>y</a:t>
            </a:r>
            <a:r>
              <a:rPr lang="en-US" sz="2400" dirty="0" smtClean="0"/>
              <a:t> and </a:t>
            </a:r>
            <a:r>
              <a:rPr lang="en-US" sz="2400" i="1" dirty="0" smtClean="0">
                <a:latin typeface="Times New Roman" pitchFamily="18" charset="0"/>
                <a:cs typeface="Times New Roman" pitchFamily="18" charset="0"/>
              </a:rPr>
              <a:t>z</a:t>
            </a:r>
            <a:r>
              <a:rPr lang="en-US" sz="2400" i="1" baseline="-25000" dirty="0" smtClean="0">
                <a:latin typeface="Times New Roman" pitchFamily="18" charset="0"/>
                <a:cs typeface="Times New Roman" pitchFamily="18" charset="0"/>
              </a:rPr>
              <a:t> </a:t>
            </a:r>
            <a:r>
              <a:rPr lang="en-US" sz="2400" dirty="0" smtClean="0"/>
              <a:t>are random values and are referred to as </a:t>
            </a:r>
            <a:r>
              <a:rPr lang="en-US" sz="2400" dirty="0" smtClean="0">
                <a:solidFill>
                  <a:schemeClr val="accent6"/>
                </a:solidFill>
              </a:rPr>
              <a:t>shares</a:t>
            </a:r>
            <a:r>
              <a:rPr lang="en-US" sz="2400" dirty="0" smtClean="0"/>
              <a:t> of </a:t>
            </a:r>
            <a:r>
              <a:rPr lang="en-US" sz="2400" i="1" dirty="0" smtClean="0">
                <a:latin typeface="Times New Roman" pitchFamily="18" charset="0"/>
                <a:cs typeface="Times New Roman" pitchFamily="18" charset="0"/>
              </a:rPr>
              <a:t>x</a:t>
            </a:r>
            <a:endParaRPr lang="en-US" sz="2400" dirty="0" smtClean="0"/>
          </a:p>
          <a:p>
            <a:pPr eaLnBrk="1" hangingPunct="1"/>
            <a:r>
              <a:rPr lang="en-US" sz="2400" dirty="0" smtClean="0"/>
              <a:t>Neither share reveals any information about secret </a:t>
            </a:r>
            <a:r>
              <a:rPr lang="en-US" sz="2400" i="1" dirty="0" smtClean="0">
                <a:latin typeface="Times New Roman" pitchFamily="18" charset="0"/>
                <a:cs typeface="Times New Roman" pitchFamily="18" charset="0"/>
              </a:rPr>
              <a:t>x</a:t>
            </a:r>
          </a:p>
          <a:p>
            <a:pPr eaLnBrk="1" hangingPunct="1">
              <a:buFont typeface="Wingdings" pitchFamily="2" charset="2"/>
              <a:buNone/>
            </a:pPr>
            <a:endParaRPr lang="en-US" sz="2400" dirty="0" smtClean="0"/>
          </a:p>
        </p:txBody>
      </p:sp>
      <p:sp>
        <p:nvSpPr>
          <p:cNvPr id="13317" name="Slide Number Placeholder 4"/>
          <p:cNvSpPr>
            <a:spLocks noGrp="1"/>
          </p:cNvSpPr>
          <p:nvPr>
            <p:ph type="sldNum" sz="quarter" idx="12"/>
          </p:nvPr>
        </p:nvSpPr>
        <p:spPr>
          <a:noFill/>
        </p:spPr>
        <p:txBody>
          <a:bodyPr/>
          <a:lstStyle/>
          <a:p>
            <a:fld id="{74B44D87-5C6C-4377-90F5-419E856939EB}" type="slidenum">
              <a:rPr lang="en-US" smtClean="0"/>
              <a:pPr/>
              <a:t>48</a:t>
            </a:fld>
            <a:endParaRPr lang="en-US" dirty="0" smtClean="0"/>
          </a:p>
        </p:txBody>
      </p:sp>
    </p:spTree>
    <p:extLst>
      <p:ext uri="{BB962C8B-B14F-4D97-AF65-F5344CB8AC3E}">
        <p14:creationId xmlns:p14="http://schemas.microsoft.com/office/powerpoint/2010/main" val="17342260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mtClean="0"/>
              <a:t>Coins</a:t>
            </a:r>
          </a:p>
        </p:txBody>
      </p:sp>
      <p:sp>
        <p:nvSpPr>
          <p:cNvPr id="14339" name="Content Placeholder 2"/>
          <p:cNvSpPr>
            <a:spLocks noGrp="1"/>
          </p:cNvSpPr>
          <p:nvPr>
            <p:ph idx="1"/>
          </p:nvPr>
        </p:nvSpPr>
        <p:spPr>
          <a:xfrm>
            <a:off x="457200" y="1447800"/>
            <a:ext cx="8229600" cy="4678363"/>
          </a:xfrm>
        </p:spPr>
        <p:txBody>
          <a:bodyPr>
            <a:normAutofit lnSpcReduction="10000"/>
          </a:bodyPr>
          <a:lstStyle/>
          <a:p>
            <a:pPr eaLnBrk="1" hangingPunct="1"/>
            <a:r>
              <a:rPr lang="en-US" sz="2400" dirty="0" smtClean="0"/>
              <a:t>Let </a:t>
            </a:r>
            <a:r>
              <a:rPr lang="en-US" sz="2400" i="1" dirty="0" smtClean="0">
                <a:latin typeface="Times New Roman" pitchFamily="18" charset="0"/>
                <a:cs typeface="Times New Roman" pitchFamily="18" charset="0"/>
              </a:rPr>
              <a:t>h</a:t>
            </a:r>
            <a:r>
              <a:rPr lang="en-US" sz="2400" dirty="0" smtClean="0"/>
              <a:t> be a cryptographic hash function</a:t>
            </a:r>
          </a:p>
          <a:p>
            <a:pPr eaLnBrk="1" hangingPunct="1"/>
            <a:r>
              <a:rPr lang="en-US" sz="2400" dirty="0" smtClean="0"/>
              <a:t>Given a secret string </a:t>
            </a:r>
            <a:r>
              <a:rPr lang="en-US" sz="2400" i="1" dirty="0" smtClean="0">
                <a:latin typeface="Times New Roman" pitchFamily="18" charset="0"/>
                <a:cs typeface="Times New Roman" pitchFamily="18" charset="0"/>
              </a:rPr>
              <a:t>x</a:t>
            </a:r>
            <a:r>
              <a:rPr lang="en-US" sz="2400" dirty="0" smtClean="0"/>
              <a:t>, a </a:t>
            </a:r>
            <a:r>
              <a:rPr lang="en-US" sz="2400" dirty="0" smtClean="0">
                <a:solidFill>
                  <a:schemeClr val="accent6"/>
                </a:solidFill>
              </a:rPr>
              <a:t>commitment pair</a:t>
            </a:r>
            <a:r>
              <a:rPr lang="en-US" sz="2400" dirty="0" smtClean="0"/>
              <a:t> for </a:t>
            </a:r>
            <a:r>
              <a:rPr lang="en-US" sz="2400" i="1" dirty="0" smtClean="0">
                <a:latin typeface="Times New Roman" pitchFamily="18" charset="0"/>
                <a:cs typeface="Times New Roman" pitchFamily="18" charset="0"/>
              </a:rPr>
              <a:t>x</a:t>
            </a:r>
            <a:r>
              <a:rPr lang="en-US" sz="2400" dirty="0" smtClean="0"/>
              <a:t> is a pair </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a</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b</a:t>
            </a:r>
            <a:r>
              <a:rPr lang="en-US" sz="2400" dirty="0" smtClean="0">
                <a:latin typeface="Times New Roman" pitchFamily="18" charset="0"/>
                <a:cs typeface="Times New Roman" pitchFamily="18" charset="0"/>
              </a:rPr>
              <a:t>) </a:t>
            </a:r>
            <a:r>
              <a:rPr lang="en-US" sz="2400" dirty="0" smtClean="0"/>
              <a:t>such that</a:t>
            </a:r>
            <a:endParaRPr lang="en-US" sz="2400" i="1" dirty="0" smtClean="0">
              <a:latin typeface="Times New Roman" pitchFamily="18" charset="0"/>
              <a:cs typeface="Times New Roman" pitchFamily="18" charset="0"/>
            </a:endParaRPr>
          </a:p>
          <a:p>
            <a:pPr lvl="1" eaLnBrk="1" hangingPunct="1"/>
            <a:r>
              <a:rPr lang="en-US" sz="2000" i="1" dirty="0" smtClean="0">
                <a:latin typeface="Times New Roman" pitchFamily="18" charset="0"/>
                <a:cs typeface="Times New Roman" pitchFamily="18" charset="0"/>
              </a:rPr>
              <a:t>a </a:t>
            </a:r>
            <a:r>
              <a:rPr lang="en-US" sz="2000" dirty="0" smtClean="0">
                <a:latin typeface="Symbol" pitchFamily="18" charset="2"/>
                <a:cs typeface="Times New Roman" pitchFamily="18" charset="0"/>
              </a:rPr>
              <a:t>=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y</a:t>
            </a:r>
            <a:r>
              <a:rPr lang="en-US" sz="2000" dirty="0" smtClean="0">
                <a:latin typeface="Times New Roman" pitchFamily="18" charset="0"/>
                <a:cs typeface="Times New Roman" pitchFamily="18" charset="0"/>
              </a:rPr>
              <a:t>)</a:t>
            </a:r>
          </a:p>
          <a:p>
            <a:pPr lvl="1" eaLnBrk="1" hangingPunct="1"/>
            <a:r>
              <a:rPr lang="en-US" sz="2000" i="1" dirty="0" smtClean="0">
                <a:latin typeface="Times New Roman" pitchFamily="18" charset="0"/>
                <a:cs typeface="Times New Roman" pitchFamily="18" charset="0"/>
              </a:rPr>
              <a:t>b </a:t>
            </a:r>
            <a:r>
              <a:rPr lang="en-US" sz="2000" dirty="0" smtClean="0">
                <a:latin typeface="Symbol" pitchFamily="18" charset="2"/>
                <a:cs typeface="Times New Roman" pitchFamily="18" charset="0"/>
              </a:rPr>
              <a:t>=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z</a:t>
            </a:r>
            <a:r>
              <a:rPr lang="en-US" sz="2000" dirty="0" smtClean="0">
                <a:latin typeface="Times New Roman" pitchFamily="18" charset="0"/>
                <a:cs typeface="Times New Roman" pitchFamily="18" charset="0"/>
              </a:rPr>
              <a:t>)</a:t>
            </a:r>
          </a:p>
          <a:p>
            <a:pPr lvl="1" eaLnBrk="1" hangingPunct="1"/>
            <a:r>
              <a:rPr lang="en-US" sz="2000" i="1" dirty="0" smtClean="0">
                <a:latin typeface="Times New Roman" pitchFamily="18" charset="0"/>
                <a:cs typeface="Times New Roman" pitchFamily="18" charset="0"/>
              </a:rPr>
              <a:t>y</a:t>
            </a:r>
            <a:r>
              <a:rPr lang="en-US" sz="2000" dirty="0" smtClean="0"/>
              <a:t> and </a:t>
            </a:r>
            <a:r>
              <a:rPr lang="en-US" sz="2000" i="1" dirty="0" smtClean="0">
                <a:latin typeface="Times New Roman" pitchFamily="18" charset="0"/>
                <a:cs typeface="Times New Roman" pitchFamily="18" charset="0"/>
              </a:rPr>
              <a:t>z</a:t>
            </a:r>
            <a:r>
              <a:rPr lang="en-US" sz="2000" i="1" baseline="-25000" dirty="0" smtClean="0">
                <a:latin typeface="Times New Roman" pitchFamily="18" charset="0"/>
                <a:cs typeface="Times New Roman" pitchFamily="18" charset="0"/>
              </a:rPr>
              <a:t> </a:t>
            </a:r>
            <a:r>
              <a:rPr lang="en-US" sz="2000" dirty="0" smtClean="0"/>
              <a:t>are random shares of </a:t>
            </a:r>
            <a:r>
              <a:rPr lang="en-US" sz="2000" i="1" dirty="0" smtClean="0">
                <a:latin typeface="Times New Roman" pitchFamily="18" charset="0"/>
                <a:cs typeface="Times New Roman" pitchFamily="18" charset="0"/>
              </a:rPr>
              <a:t>x</a:t>
            </a:r>
            <a:endParaRPr lang="en-US" sz="2000" dirty="0" smtClean="0"/>
          </a:p>
          <a:p>
            <a:pPr eaLnBrk="1" hangingPunct="1"/>
            <a:r>
              <a:rPr lang="en-US" sz="2400" dirty="0" smtClean="0"/>
              <a:t>Let </a:t>
            </a:r>
            <a:r>
              <a:rPr lang="en-US" sz="2400" i="1" dirty="0" smtClean="0">
                <a:latin typeface="Times New Roman" pitchFamily="18" charset="0"/>
                <a:cs typeface="Times New Roman" pitchFamily="18" charset="0"/>
              </a:rPr>
              <a:t>ID</a:t>
            </a:r>
            <a:r>
              <a:rPr lang="en-US" sz="2400" dirty="0" smtClean="0"/>
              <a:t> be a string identifying the customer (e.g., name, address, etc.)</a:t>
            </a:r>
          </a:p>
          <a:p>
            <a:pPr eaLnBrk="1" hangingPunct="1"/>
            <a:r>
              <a:rPr lang="en-US" sz="2400" dirty="0" smtClean="0"/>
              <a:t>The coin issued by the bank to the customer consists of</a:t>
            </a:r>
          </a:p>
          <a:p>
            <a:pPr lvl="1" eaLnBrk="1" hangingPunct="1"/>
            <a:r>
              <a:rPr lang="en-US" sz="2000" dirty="0" smtClean="0"/>
              <a:t>Coin identifier </a:t>
            </a:r>
            <a:r>
              <a:rPr lang="en-US" sz="2000" i="1" dirty="0" smtClean="0">
                <a:latin typeface="Times New Roman" pitchFamily="18" charset="0"/>
                <a:cs typeface="Times New Roman" pitchFamily="18" charset="0"/>
              </a:rPr>
              <a:t>x</a:t>
            </a:r>
            <a:endParaRPr lang="en-US" sz="2000" dirty="0" smtClean="0"/>
          </a:p>
          <a:p>
            <a:pPr lvl="1" eaLnBrk="1" hangingPunct="1"/>
            <a:r>
              <a:rPr lang="en-US" sz="2000" dirty="0" smtClean="0"/>
              <a:t>Vector of </a:t>
            </a:r>
            <a:r>
              <a:rPr lang="en-US" sz="2000" i="1" dirty="0" smtClean="0">
                <a:latin typeface="Times New Roman" pitchFamily="18" charset="0"/>
                <a:cs typeface="Times New Roman" pitchFamily="18" charset="0"/>
              </a:rPr>
              <a:t>n </a:t>
            </a:r>
            <a:r>
              <a:rPr lang="en-US" sz="2000" dirty="0" smtClean="0"/>
              <a:t>commitments pairs </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a</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b</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 ,  (</a:t>
            </a:r>
            <a:r>
              <a:rPr lang="en-US" sz="2000" i="1" dirty="0" smtClean="0">
                <a:latin typeface="Times New Roman" pitchFamily="18" charset="0"/>
                <a:cs typeface="Times New Roman" pitchFamily="18" charset="0"/>
              </a:rPr>
              <a:t>a</a:t>
            </a:r>
            <a:r>
              <a:rPr lang="en-US" sz="2000" i="1" baseline="-25000"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b</a:t>
            </a:r>
            <a:r>
              <a:rPr lang="en-US" sz="2000" i="1" baseline="-25000" dirty="0" err="1"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a:t>
            </a:r>
            <a:r>
              <a:rPr lang="en-US" sz="2000" dirty="0" smtClean="0">
                <a:cs typeface="Times New Roman" pitchFamily="18" charset="0"/>
              </a:rPr>
              <a:t> for</a:t>
            </a:r>
            <a:r>
              <a:rPr lang="en-US" sz="2000" i="1" dirty="0" smtClean="0">
                <a:latin typeface="Times New Roman" pitchFamily="18" charset="0"/>
                <a:cs typeface="Times New Roman" pitchFamily="18" charset="0"/>
              </a:rPr>
              <a:t> ID</a:t>
            </a:r>
          </a:p>
          <a:p>
            <a:pPr eaLnBrk="1" hangingPunct="1"/>
            <a:r>
              <a:rPr lang="en-US" sz="2400" dirty="0" smtClean="0">
                <a:cs typeface="Times New Roman" pitchFamily="18" charset="0"/>
              </a:rPr>
              <a:t>The coin does not reveal the identity of the customer</a:t>
            </a:r>
            <a:endParaRPr lang="en-US" sz="2400" dirty="0" smtClean="0"/>
          </a:p>
        </p:txBody>
      </p:sp>
      <p:sp>
        <p:nvSpPr>
          <p:cNvPr id="14341" name="Slide Number Placeholder 4"/>
          <p:cNvSpPr>
            <a:spLocks noGrp="1"/>
          </p:cNvSpPr>
          <p:nvPr>
            <p:ph type="sldNum" sz="quarter" idx="12"/>
          </p:nvPr>
        </p:nvSpPr>
        <p:spPr>
          <a:noFill/>
        </p:spPr>
        <p:txBody>
          <a:bodyPr/>
          <a:lstStyle/>
          <a:p>
            <a:fld id="{F06D2127-63B6-422C-BA24-BB936C2CFE5C}" type="slidenum">
              <a:rPr lang="en-US" smtClean="0"/>
              <a:pPr/>
              <a:t>49</a:t>
            </a:fld>
            <a:endParaRPr lang="en-US" dirty="0" smtClean="0"/>
          </a:p>
        </p:txBody>
      </p:sp>
    </p:spTree>
    <p:extLst>
      <p:ext uri="{BB962C8B-B14F-4D97-AF65-F5344CB8AC3E}">
        <p14:creationId xmlns:p14="http://schemas.microsoft.com/office/powerpoint/2010/main" val="3169635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dirty="0" smtClean="0"/>
              <a:t>Withdrawal</a:t>
            </a:r>
          </a:p>
        </p:txBody>
      </p:sp>
      <p:sp>
        <p:nvSpPr>
          <p:cNvPr id="15363" name="Content Placeholder 2"/>
          <p:cNvSpPr>
            <a:spLocks noGrp="1"/>
          </p:cNvSpPr>
          <p:nvPr>
            <p:ph idx="1"/>
          </p:nvPr>
        </p:nvSpPr>
        <p:spPr>
          <a:xfrm>
            <a:off x="457200" y="1447800"/>
            <a:ext cx="8229600" cy="4953000"/>
          </a:xfrm>
        </p:spPr>
        <p:txBody>
          <a:bodyPr>
            <a:normAutofit/>
          </a:bodyPr>
          <a:lstStyle/>
          <a:p>
            <a:r>
              <a:rPr lang="en-US" sz="2800" dirty="0" smtClean="0"/>
              <a:t>The customer generates and submits </a:t>
            </a:r>
            <a:r>
              <a:rPr lang="en-US" sz="2800" i="1" dirty="0" smtClean="0">
                <a:latin typeface="Times New Roman" pitchFamily="18" charset="0"/>
                <a:cs typeface="Times New Roman" pitchFamily="18" charset="0"/>
              </a:rPr>
              <a:t>k</a:t>
            </a:r>
            <a:r>
              <a:rPr lang="en-US" sz="2800" dirty="0" smtClean="0"/>
              <a:t> coins to the bank</a:t>
            </a:r>
          </a:p>
          <a:p>
            <a:r>
              <a:rPr lang="en-US" sz="2800" dirty="0" smtClean="0"/>
              <a:t>The bank randomly selects </a:t>
            </a:r>
            <a:r>
              <a:rPr lang="en-US" sz="2800" i="1" dirty="0" smtClean="0">
                <a:latin typeface="Times New Roman" pitchFamily="18" charset="0"/>
                <a:cs typeface="Times New Roman" pitchFamily="18" charset="0"/>
              </a:rPr>
              <a:t>k </a:t>
            </a:r>
            <a:r>
              <a:rPr lang="en-US" sz="2800" i="1" dirty="0" smtClean="0">
                <a:latin typeface="Symbol" pitchFamily="18" charset="2"/>
                <a:cs typeface="Times New Roman" pitchFamily="18" charset="0"/>
              </a:rPr>
              <a:t>- </a:t>
            </a:r>
            <a:r>
              <a:rPr lang="en-US" sz="2800" dirty="0" smtClean="0">
                <a:latin typeface="Times New Roman" pitchFamily="18" charset="0"/>
                <a:cs typeface="Times New Roman" pitchFamily="18" charset="0"/>
              </a:rPr>
              <a:t>1</a:t>
            </a:r>
            <a:r>
              <a:rPr lang="en-US" sz="2800" dirty="0" smtClean="0"/>
              <a:t> coins </a:t>
            </a:r>
          </a:p>
          <a:p>
            <a:r>
              <a:rPr lang="en-US" sz="2800" dirty="0" smtClean="0"/>
              <a:t>The customer reveals to the bank the shares associated with the commitments pairs of the selected coins</a:t>
            </a:r>
          </a:p>
          <a:p>
            <a:r>
              <a:rPr lang="en-US" sz="2800" dirty="0" smtClean="0"/>
              <a:t>The bank creates a blind signature on the remaining coin</a:t>
            </a:r>
          </a:p>
          <a:p>
            <a:r>
              <a:rPr lang="en-US" sz="2800" dirty="0" smtClean="0"/>
              <a:t>The coin signed is valid with probability </a:t>
            </a:r>
            <a:r>
              <a:rPr lang="en-US" sz="2800" dirty="0" smtClean="0">
                <a:latin typeface="Times New Roman" pitchFamily="18" charset="0"/>
                <a:cs typeface="Times New Roman" pitchFamily="18" charset="0"/>
              </a:rPr>
              <a:t>1 </a:t>
            </a:r>
            <a:r>
              <a:rPr lang="en-US" sz="2800" i="1" dirty="0" smtClean="0">
                <a:latin typeface="Symbol" pitchFamily="18" charset="2"/>
                <a:cs typeface="Times New Roman" pitchFamily="18" charset="0"/>
              </a:rPr>
              <a:t>-</a:t>
            </a:r>
            <a:r>
              <a:rPr lang="en-US" sz="2800" dirty="0" smtClean="0"/>
              <a:t> </a:t>
            </a:r>
            <a:r>
              <a:rPr lang="en-US" sz="2800" dirty="0" smtClean="0">
                <a:latin typeface="Times New Roman" pitchFamily="18" charset="0"/>
                <a:cs typeface="Times New Roman" pitchFamily="18" charset="0"/>
              </a:rPr>
              <a:t>1</a:t>
            </a:r>
            <a:r>
              <a:rPr lang="en-US" sz="2800" i="1"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k</a:t>
            </a:r>
            <a:endParaRPr lang="en-US" sz="2800" dirty="0" smtClean="0"/>
          </a:p>
        </p:txBody>
      </p:sp>
      <p:sp>
        <p:nvSpPr>
          <p:cNvPr id="15365" name="Slide Number Placeholder 4"/>
          <p:cNvSpPr>
            <a:spLocks noGrp="1"/>
          </p:cNvSpPr>
          <p:nvPr>
            <p:ph type="sldNum" sz="quarter" idx="12"/>
          </p:nvPr>
        </p:nvSpPr>
        <p:spPr>
          <a:noFill/>
        </p:spPr>
        <p:txBody>
          <a:bodyPr/>
          <a:lstStyle/>
          <a:p>
            <a:fld id="{380458D0-6EFC-46B1-8669-FCD9A8339082}" type="slidenum">
              <a:rPr lang="en-US" smtClean="0"/>
              <a:pPr/>
              <a:t>50</a:t>
            </a:fld>
            <a:endParaRPr lang="en-US" smtClean="0"/>
          </a:p>
        </p:txBody>
      </p:sp>
    </p:spTree>
    <p:extLst>
      <p:ext uri="{BB962C8B-B14F-4D97-AF65-F5344CB8AC3E}">
        <p14:creationId xmlns:p14="http://schemas.microsoft.com/office/powerpoint/2010/main" val="3142879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Payment</a:t>
            </a:r>
            <a:endParaRPr lang="en-US" dirty="0"/>
          </a:p>
        </p:txBody>
      </p:sp>
      <p:sp>
        <p:nvSpPr>
          <p:cNvPr id="3" name="Content Placeholder 2"/>
          <p:cNvSpPr>
            <a:spLocks noGrp="1"/>
          </p:cNvSpPr>
          <p:nvPr>
            <p:ph idx="1"/>
          </p:nvPr>
        </p:nvSpPr>
        <p:spPr/>
        <p:txBody>
          <a:bodyPr>
            <a:normAutofit fontScale="92500" lnSpcReduction="10000"/>
          </a:bodyPr>
          <a:lstStyle/>
          <a:p>
            <a:pPr>
              <a:lnSpc>
                <a:spcPct val="110000"/>
              </a:lnSpc>
            </a:pPr>
            <a:r>
              <a:rPr lang="en-US" sz="2800" dirty="0" smtClean="0"/>
              <a:t>The customer gives to the merchant a coin </a:t>
            </a:r>
            <a:br>
              <a:rPr lang="en-US" sz="2800" dirty="0" smtClean="0"/>
            </a:br>
            <a:r>
              <a:rPr lang="en-US" sz="2800" dirty="0" smtClean="0">
                <a:latin typeface="Times New Roman" pitchFamily="18" charset="0"/>
                <a:cs typeface="Times New Roman" pitchFamily="18" charset="0"/>
              </a:rPr>
              <a:t>{</a:t>
            </a:r>
            <a:r>
              <a:rPr lang="en-US" sz="2800" i="1" dirty="0" smtClean="0">
                <a:latin typeface="Times New Roman" pitchFamily="18" charset="0"/>
                <a:cs typeface="Times New Roman" pitchFamily="18" charset="0"/>
              </a:rPr>
              <a:t> x</a:t>
            </a:r>
            <a:r>
              <a:rPr lang="en-US" sz="2800" dirty="0" smtClean="0">
                <a:latin typeface="Times New Roman" pitchFamily="18" charset="0"/>
                <a:cs typeface="Times New Roman" pitchFamily="18" charset="0"/>
              </a:rPr>
              <a:t> ; [(</a:t>
            </a:r>
            <a:r>
              <a:rPr lang="en-US" sz="2800" i="1" dirty="0" smtClean="0">
                <a:latin typeface="Times New Roman" pitchFamily="18" charset="0"/>
                <a:cs typeface="Times New Roman" pitchFamily="18" charset="0"/>
              </a:rPr>
              <a:t>a</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b</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 ,  (</a:t>
            </a:r>
            <a:r>
              <a:rPr lang="en-US" sz="2800" i="1" dirty="0" smtClean="0">
                <a:latin typeface="Times New Roman" pitchFamily="18" charset="0"/>
                <a:cs typeface="Times New Roman" pitchFamily="18" charset="0"/>
              </a:rPr>
              <a:t>a</a:t>
            </a:r>
            <a:r>
              <a:rPr lang="en-US" sz="2800" i="1" baseline="-25000" dirty="0" smtClean="0">
                <a:latin typeface="Times New Roman" pitchFamily="18" charset="0"/>
                <a:cs typeface="Times New Roman" pitchFamily="18" charset="0"/>
              </a:rPr>
              <a:t>n</a:t>
            </a:r>
            <a:r>
              <a:rPr lang="en-US" sz="2800" dirty="0" smtClean="0">
                <a:latin typeface="Times New Roman" pitchFamily="18" charset="0"/>
                <a:cs typeface="Times New Roman" pitchFamily="18" charset="0"/>
              </a:rPr>
              <a:t>, </a:t>
            </a:r>
            <a:r>
              <a:rPr lang="en-US" sz="2800" i="1" dirty="0" err="1" smtClean="0">
                <a:latin typeface="Times New Roman" pitchFamily="18" charset="0"/>
                <a:cs typeface="Times New Roman" pitchFamily="18" charset="0"/>
              </a:rPr>
              <a:t>b</a:t>
            </a:r>
            <a:r>
              <a:rPr lang="en-US" sz="2800" i="1" baseline="-25000" dirty="0" err="1" smtClean="0">
                <a:latin typeface="Times New Roman" pitchFamily="18" charset="0"/>
                <a:cs typeface="Times New Roman" pitchFamily="18" charset="0"/>
              </a:rPr>
              <a:t>n</a:t>
            </a:r>
            <a:r>
              <a:rPr lang="en-US" sz="2800" dirty="0" smtClean="0">
                <a:latin typeface="Times New Roman" pitchFamily="18" charset="0"/>
                <a:cs typeface="Times New Roman" pitchFamily="18" charset="0"/>
              </a:rPr>
              <a:t>)] }</a:t>
            </a:r>
            <a:endParaRPr lang="en-US" sz="2800" dirty="0" smtClean="0"/>
          </a:p>
          <a:p>
            <a:pPr>
              <a:lnSpc>
                <a:spcPct val="110000"/>
              </a:lnSpc>
            </a:pPr>
            <a:r>
              <a:rPr lang="en-US" sz="2800" dirty="0" smtClean="0"/>
              <a:t>The merchant verifies the signature on the coin</a:t>
            </a:r>
          </a:p>
          <a:p>
            <a:pPr>
              <a:lnSpc>
                <a:spcPct val="110000"/>
              </a:lnSpc>
            </a:pPr>
            <a:r>
              <a:rPr lang="en-US" sz="2800" dirty="0" smtClean="0"/>
              <a:t>The customer gives to the customer a random binary vector </a:t>
            </a:r>
            <a:r>
              <a:rPr lang="en-US" sz="2800" i="1" dirty="0" smtClean="0">
                <a:latin typeface="Times New Roman" pitchFamily="18" charset="0"/>
                <a:cs typeface="Times New Roman" pitchFamily="18" charset="0"/>
              </a:rPr>
              <a:t>s</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 ,  </a:t>
            </a:r>
            <a:r>
              <a:rPr lang="en-US" sz="2800" i="1" dirty="0" err="1" smtClean="0">
                <a:latin typeface="Times New Roman" pitchFamily="18" charset="0"/>
                <a:cs typeface="Times New Roman" pitchFamily="18" charset="0"/>
              </a:rPr>
              <a:t>s</a:t>
            </a:r>
            <a:r>
              <a:rPr lang="en-US" sz="2800" i="1" baseline="-25000" dirty="0" err="1" smtClean="0">
                <a:latin typeface="Times New Roman" pitchFamily="18" charset="0"/>
                <a:cs typeface="Times New Roman" pitchFamily="18" charset="0"/>
              </a:rPr>
              <a:t>n</a:t>
            </a:r>
            <a:r>
              <a:rPr lang="en-US" sz="2800" dirty="0" smtClean="0"/>
              <a:t>, called </a:t>
            </a:r>
            <a:r>
              <a:rPr lang="en-US" sz="2800" dirty="0" smtClean="0">
                <a:solidFill>
                  <a:schemeClr val="accent6"/>
                </a:solidFill>
              </a:rPr>
              <a:t>selector</a:t>
            </a:r>
          </a:p>
          <a:p>
            <a:pPr>
              <a:lnSpc>
                <a:spcPct val="110000"/>
              </a:lnSpc>
            </a:pPr>
            <a:r>
              <a:rPr lang="en-US" sz="2800" dirty="0" smtClean="0"/>
              <a:t>The customer reveals to the merchant the shares indicated by the selector, i.e., it sends to  the merchant a vector of strings </a:t>
            </a:r>
            <a:r>
              <a:rPr lang="en-US" sz="2800" i="1" dirty="0" smtClean="0">
                <a:latin typeface="Times New Roman" pitchFamily="18" charset="0"/>
                <a:cs typeface="Times New Roman" pitchFamily="18" charset="0"/>
              </a:rPr>
              <a:t>P</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 ,  </a:t>
            </a:r>
            <a:r>
              <a:rPr lang="en-US" sz="2800" i="1" dirty="0" err="1" smtClean="0">
                <a:latin typeface="Times New Roman" pitchFamily="18" charset="0"/>
                <a:cs typeface="Times New Roman" pitchFamily="18" charset="0"/>
              </a:rPr>
              <a:t>P</a:t>
            </a:r>
            <a:r>
              <a:rPr lang="en-US" sz="2800" i="1" baseline="-25000" dirty="0" err="1" smtClean="0">
                <a:latin typeface="Times New Roman" pitchFamily="18" charset="0"/>
                <a:cs typeface="Times New Roman" pitchFamily="18" charset="0"/>
              </a:rPr>
              <a:t>n</a:t>
            </a:r>
            <a:r>
              <a:rPr lang="en-US" sz="2800" i="1" dirty="0" smtClean="0">
                <a:latin typeface="Times New Roman" pitchFamily="18" charset="0"/>
                <a:cs typeface="Times New Roman" pitchFamily="18" charset="0"/>
              </a:rPr>
              <a:t> </a:t>
            </a:r>
            <a:r>
              <a:rPr lang="en-US" sz="2800" dirty="0" smtClean="0"/>
              <a:t>such that</a:t>
            </a:r>
          </a:p>
          <a:p>
            <a:pPr>
              <a:lnSpc>
                <a:spcPct val="110000"/>
              </a:lnSpc>
              <a:buNone/>
            </a:pPr>
            <a:r>
              <a:rPr lang="en-US" sz="2800" i="1" dirty="0" smtClean="0">
                <a:latin typeface="Times New Roman" pitchFamily="18" charset="0"/>
                <a:cs typeface="Times New Roman" pitchFamily="18" charset="0"/>
              </a:rPr>
              <a:t>			h</a:t>
            </a:r>
            <a:r>
              <a:rPr lang="en-US" sz="2800" dirty="0" smtClean="0">
                <a:latin typeface="Times New Roman" pitchFamily="18" charset="0"/>
                <a:cs typeface="Times New Roman" pitchFamily="18" charset="0"/>
              </a:rPr>
              <a:t>(</a:t>
            </a:r>
            <a:r>
              <a:rPr lang="en-US" sz="2800" i="1" dirty="0" smtClean="0">
                <a:latin typeface="Times New Roman" pitchFamily="18" charset="0"/>
                <a:cs typeface="Times New Roman" pitchFamily="18" charset="0"/>
              </a:rPr>
              <a:t>P</a:t>
            </a:r>
            <a:r>
              <a:rPr lang="en-US" sz="2800" i="1" baseline="-25000" dirty="0"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a:t>
            </a:r>
            <a:r>
              <a:rPr lang="en-US" sz="2800"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 </a:t>
            </a:r>
            <a:r>
              <a:rPr lang="en-US" sz="2800" i="1" dirty="0" err="1" smtClean="0">
                <a:latin typeface="Times New Roman" pitchFamily="18" charset="0"/>
                <a:cs typeface="Times New Roman" pitchFamily="18" charset="0"/>
              </a:rPr>
              <a:t>a</a:t>
            </a:r>
            <a:r>
              <a:rPr lang="en-US" sz="2800" i="1" baseline="-25000" dirty="0" err="1" smtClean="0">
                <a:latin typeface="Times New Roman" pitchFamily="18" charset="0"/>
                <a:cs typeface="Times New Roman" pitchFamily="18" charset="0"/>
              </a:rPr>
              <a:t>i</a:t>
            </a:r>
            <a:r>
              <a:rPr lang="en-US" sz="2800" dirty="0" smtClean="0"/>
              <a:t> if </a:t>
            </a:r>
            <a:r>
              <a:rPr lang="en-US" sz="2800" i="1" dirty="0" err="1" smtClean="0">
                <a:latin typeface="Times New Roman" pitchFamily="18" charset="0"/>
                <a:cs typeface="Times New Roman" pitchFamily="18" charset="0"/>
              </a:rPr>
              <a:t>s</a:t>
            </a:r>
            <a:r>
              <a:rPr lang="en-US" sz="2800" i="1" baseline="-25000" dirty="0" err="1" smtClean="0">
                <a:latin typeface="Times New Roman" pitchFamily="18" charset="0"/>
                <a:cs typeface="Times New Roman" pitchFamily="18" charset="0"/>
              </a:rPr>
              <a:t>i</a:t>
            </a:r>
            <a:r>
              <a:rPr lang="en-US" sz="2800"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0</a:t>
            </a:r>
          </a:p>
          <a:p>
            <a:pPr>
              <a:lnSpc>
                <a:spcPct val="110000"/>
              </a:lnSpc>
              <a:buNone/>
            </a:pPr>
            <a:r>
              <a:rPr lang="en-US" sz="2800" i="1" dirty="0" smtClean="0">
                <a:latin typeface="Times New Roman" pitchFamily="18" charset="0"/>
                <a:cs typeface="Times New Roman" pitchFamily="18" charset="0"/>
              </a:rPr>
              <a:t>			h</a:t>
            </a:r>
            <a:r>
              <a:rPr lang="en-US" sz="2800" dirty="0" smtClean="0">
                <a:latin typeface="Times New Roman" pitchFamily="18" charset="0"/>
                <a:cs typeface="Times New Roman" pitchFamily="18" charset="0"/>
              </a:rPr>
              <a:t>(</a:t>
            </a:r>
            <a:r>
              <a:rPr lang="en-US" sz="2800" i="1" dirty="0" smtClean="0">
                <a:latin typeface="Times New Roman" pitchFamily="18" charset="0"/>
                <a:cs typeface="Times New Roman" pitchFamily="18" charset="0"/>
              </a:rPr>
              <a:t>P</a:t>
            </a:r>
            <a:r>
              <a:rPr lang="en-US" sz="2800" i="1" baseline="-25000" dirty="0"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a:t>
            </a:r>
            <a:r>
              <a:rPr lang="en-US" sz="2800"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 b</a:t>
            </a:r>
            <a:r>
              <a:rPr lang="en-US" sz="2800" i="1" baseline="-25000" dirty="0" smtClean="0">
                <a:latin typeface="Times New Roman" pitchFamily="18" charset="0"/>
                <a:cs typeface="Times New Roman" pitchFamily="18" charset="0"/>
              </a:rPr>
              <a:t>i</a:t>
            </a:r>
            <a:r>
              <a:rPr lang="en-US" sz="2800" dirty="0" smtClean="0"/>
              <a:t> if </a:t>
            </a:r>
            <a:r>
              <a:rPr lang="en-US" sz="2800" i="1" dirty="0" err="1" smtClean="0">
                <a:latin typeface="Times New Roman" pitchFamily="18" charset="0"/>
                <a:cs typeface="Times New Roman" pitchFamily="18" charset="0"/>
              </a:rPr>
              <a:t>s</a:t>
            </a:r>
            <a:r>
              <a:rPr lang="en-US" sz="2800" i="1" baseline="-25000" dirty="0" err="1" smtClean="0">
                <a:latin typeface="Times New Roman" pitchFamily="18" charset="0"/>
                <a:cs typeface="Times New Roman" pitchFamily="18" charset="0"/>
              </a:rPr>
              <a:t>i</a:t>
            </a:r>
            <a:r>
              <a:rPr lang="en-US" sz="2800" dirty="0" smtClean="0">
                <a:latin typeface="Symbol" pitchFamily="18" charset="2"/>
                <a:cs typeface="Times New Roman" pitchFamily="18" charset="0"/>
              </a:rPr>
              <a:t> =</a:t>
            </a:r>
            <a:r>
              <a:rPr lang="en-US" sz="2800" i="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1</a:t>
            </a:r>
            <a:endParaRPr lang="en-US" dirty="0" smtClean="0"/>
          </a:p>
        </p:txBody>
      </p:sp>
      <p:sp>
        <p:nvSpPr>
          <p:cNvPr id="6" name="Slide Number Placeholder 5"/>
          <p:cNvSpPr>
            <a:spLocks noGrp="1"/>
          </p:cNvSpPr>
          <p:nvPr>
            <p:ph type="sldNum" sz="quarter" idx="12"/>
          </p:nvPr>
        </p:nvSpPr>
        <p:spPr/>
        <p:txBody>
          <a:bodyPr/>
          <a:lstStyle/>
          <a:p>
            <a:pPr>
              <a:defRPr/>
            </a:pPr>
            <a:fld id="{EF343085-4F93-48BA-BB57-F695F5005F3B}" type="slidenum">
              <a:rPr lang="en-US" smtClean="0"/>
              <a:pPr>
                <a:defRPr/>
              </a:pPr>
              <a:t>51</a:t>
            </a:fld>
            <a:endParaRPr lang="en-US" dirty="0"/>
          </a:p>
        </p:txBody>
      </p:sp>
    </p:spTree>
    <p:extLst>
      <p:ext uri="{BB962C8B-B14F-4D97-AF65-F5344CB8AC3E}">
        <p14:creationId xmlns:p14="http://schemas.microsoft.com/office/powerpoint/2010/main" val="2536220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Deposit and Security Properties</a:t>
            </a:r>
          </a:p>
        </p:txBody>
      </p:sp>
      <p:sp>
        <p:nvSpPr>
          <p:cNvPr id="16387" name="Content Placeholder 2"/>
          <p:cNvSpPr>
            <a:spLocks noGrp="1"/>
          </p:cNvSpPr>
          <p:nvPr>
            <p:ph idx="1"/>
          </p:nvPr>
        </p:nvSpPr>
        <p:spPr>
          <a:xfrm>
            <a:off x="457200" y="1447800"/>
            <a:ext cx="8229600" cy="5029200"/>
          </a:xfrm>
        </p:spPr>
        <p:txBody>
          <a:bodyPr/>
          <a:lstStyle/>
          <a:p>
            <a:pPr eaLnBrk="1" hangingPunct="1"/>
            <a:r>
              <a:rPr lang="en-US" sz="2400" dirty="0" smtClean="0"/>
              <a:t>Deposit</a:t>
            </a:r>
            <a:endParaRPr lang="en-US" sz="2400" dirty="0" smtClean="0">
              <a:latin typeface="Times New Roman" pitchFamily="18" charset="0"/>
              <a:cs typeface="Times New Roman" pitchFamily="18" charset="0"/>
            </a:endParaRPr>
          </a:p>
          <a:p>
            <a:pPr lvl="1" eaLnBrk="1" hangingPunct="1"/>
            <a:r>
              <a:rPr lang="en-US" sz="1900" dirty="0" smtClean="0"/>
              <a:t>The merchant deposits with the bank the coin and strings </a:t>
            </a:r>
            <a:r>
              <a:rPr lang="en-US" sz="1900" i="1" dirty="0" smtClean="0">
                <a:latin typeface="Times New Roman" pitchFamily="18" charset="0"/>
                <a:cs typeface="Times New Roman" pitchFamily="18" charset="0"/>
              </a:rPr>
              <a:t>P</a:t>
            </a:r>
            <a:r>
              <a:rPr lang="en-US" sz="1900" baseline="-25000" dirty="0" smtClean="0">
                <a:latin typeface="Times New Roman" pitchFamily="18" charset="0"/>
                <a:cs typeface="Times New Roman" pitchFamily="18" charset="0"/>
              </a:rPr>
              <a:t>1</a:t>
            </a:r>
            <a:r>
              <a:rPr lang="en-US" sz="1900" dirty="0" smtClean="0">
                <a:latin typeface="Times New Roman" pitchFamily="18" charset="0"/>
                <a:cs typeface="Times New Roman" pitchFamily="18" charset="0"/>
              </a:rPr>
              <a:t>, … ,  </a:t>
            </a:r>
            <a:r>
              <a:rPr lang="en-US" sz="1900" i="1" dirty="0" err="1" smtClean="0">
                <a:latin typeface="Times New Roman" pitchFamily="18" charset="0"/>
                <a:cs typeface="Times New Roman" pitchFamily="18" charset="0"/>
              </a:rPr>
              <a:t>P</a:t>
            </a:r>
            <a:r>
              <a:rPr lang="en-US" sz="1900" i="1" baseline="-25000" dirty="0" err="1" smtClean="0">
                <a:latin typeface="Times New Roman" pitchFamily="18" charset="0"/>
                <a:cs typeface="Times New Roman" pitchFamily="18" charset="0"/>
              </a:rPr>
              <a:t>n</a:t>
            </a:r>
            <a:endParaRPr lang="en-US" sz="1900" i="1" baseline="-25000" dirty="0" smtClean="0">
              <a:latin typeface="Times New Roman" pitchFamily="18" charset="0"/>
              <a:cs typeface="Times New Roman" pitchFamily="18" charset="0"/>
            </a:endParaRPr>
          </a:p>
          <a:p>
            <a:pPr lvl="1" eaLnBrk="1" hangingPunct="1"/>
            <a:r>
              <a:rPr lang="en-US" sz="1900" dirty="0" smtClean="0"/>
              <a:t>The bank verifies the signature and keeps track of coins and associated strings</a:t>
            </a:r>
            <a:endParaRPr lang="en-US" sz="1900" dirty="0" smtClean="0">
              <a:cs typeface="Times New Roman" pitchFamily="18" charset="0"/>
            </a:endParaRPr>
          </a:p>
          <a:p>
            <a:pPr eaLnBrk="1" hangingPunct="1"/>
            <a:r>
              <a:rPr lang="en-US" sz="2400" dirty="0" smtClean="0"/>
              <a:t>Security properties</a:t>
            </a:r>
            <a:endParaRPr lang="en-US" sz="1900" dirty="0" smtClean="0"/>
          </a:p>
          <a:p>
            <a:pPr lvl="1" eaLnBrk="1" hangingPunct="1"/>
            <a:r>
              <a:rPr lang="en-US" sz="1900" dirty="0" smtClean="0"/>
              <a:t>The probability  that the selectors provided by two merchants are identical is </a:t>
            </a:r>
            <a:r>
              <a:rPr lang="en-US" sz="1900" dirty="0" smtClean="0">
                <a:latin typeface="Times New Roman" pitchFamily="18" charset="0"/>
                <a:cs typeface="Times New Roman" pitchFamily="18" charset="0"/>
              </a:rPr>
              <a:t>1</a:t>
            </a:r>
            <a:r>
              <a:rPr lang="en-US" sz="1900" i="1" dirty="0" smtClean="0">
                <a:latin typeface="Symbol" pitchFamily="18" charset="2"/>
                <a:cs typeface="Times New Roman" pitchFamily="18" charset="0"/>
              </a:rPr>
              <a:t>/ </a:t>
            </a:r>
            <a:r>
              <a:rPr lang="en-US" sz="1900" dirty="0" smtClean="0">
                <a:latin typeface="Times New Roman" pitchFamily="18" charset="0"/>
                <a:cs typeface="Times New Roman" pitchFamily="18" charset="0"/>
              </a:rPr>
              <a:t>2</a:t>
            </a:r>
            <a:r>
              <a:rPr lang="en-US" sz="1900" i="1" baseline="30000" dirty="0" smtClean="0">
                <a:latin typeface="Times New Roman" pitchFamily="18" charset="0"/>
                <a:cs typeface="Times New Roman" pitchFamily="18" charset="0"/>
              </a:rPr>
              <a:t>n</a:t>
            </a:r>
          </a:p>
          <a:p>
            <a:pPr lvl="1" eaLnBrk="1" hangingPunct="1"/>
            <a:r>
              <a:rPr lang="en-US" sz="1900" dirty="0" smtClean="0"/>
              <a:t>Thus, if the customer double spends a coin, then the bank finds out the identity of the customer with probability </a:t>
            </a:r>
            <a:r>
              <a:rPr lang="en-US" sz="1900" dirty="0" smtClean="0">
                <a:latin typeface="Times New Roman" pitchFamily="18" charset="0"/>
                <a:cs typeface="Times New Roman" pitchFamily="18" charset="0"/>
              </a:rPr>
              <a:t>1 </a:t>
            </a:r>
            <a:r>
              <a:rPr lang="en-US" sz="1900" i="1" dirty="0" smtClean="0">
                <a:latin typeface="Symbol" pitchFamily="18" charset="2"/>
                <a:cs typeface="Times New Roman" pitchFamily="18" charset="0"/>
              </a:rPr>
              <a:t>-</a:t>
            </a:r>
            <a:r>
              <a:rPr lang="en-US" sz="1900" dirty="0" smtClean="0"/>
              <a:t> </a:t>
            </a:r>
            <a:r>
              <a:rPr lang="en-US" sz="1900" dirty="0" smtClean="0">
                <a:latin typeface="Times New Roman" pitchFamily="18" charset="0"/>
                <a:cs typeface="Times New Roman" pitchFamily="18" charset="0"/>
              </a:rPr>
              <a:t>1</a:t>
            </a:r>
            <a:r>
              <a:rPr lang="en-US" sz="1900" i="1" dirty="0" smtClean="0">
                <a:latin typeface="Symbol" pitchFamily="18" charset="2"/>
                <a:cs typeface="Times New Roman" pitchFamily="18" charset="0"/>
              </a:rPr>
              <a:t>/ </a:t>
            </a:r>
            <a:r>
              <a:rPr lang="en-US" sz="1900" dirty="0" smtClean="0">
                <a:latin typeface="Times New Roman" pitchFamily="18" charset="0"/>
                <a:cs typeface="Times New Roman" pitchFamily="18" charset="0"/>
              </a:rPr>
              <a:t>2</a:t>
            </a:r>
            <a:r>
              <a:rPr lang="en-US" sz="1900" i="1" baseline="30000" dirty="0" smtClean="0">
                <a:latin typeface="Times New Roman" pitchFamily="18" charset="0"/>
                <a:cs typeface="Times New Roman" pitchFamily="18" charset="0"/>
              </a:rPr>
              <a:t>n</a:t>
            </a:r>
            <a:endParaRPr lang="en-US" sz="1900" baseline="30000" dirty="0" smtClean="0"/>
          </a:p>
          <a:p>
            <a:pPr lvl="1" eaLnBrk="1" hangingPunct="1"/>
            <a:r>
              <a:rPr lang="en-US" sz="1900" dirty="0" smtClean="0"/>
              <a:t>A merchant can double spends a coin without being detected by the bank only if it can find a collision of the hash function</a:t>
            </a:r>
          </a:p>
          <a:p>
            <a:pPr eaLnBrk="1" hangingPunct="1"/>
            <a:r>
              <a:rPr lang="en-US" sz="2400" dirty="0" smtClean="0"/>
              <a:t>The scheme does not prevent double spending but detects it and identifies the culprit with high probability</a:t>
            </a:r>
          </a:p>
        </p:txBody>
      </p:sp>
      <p:sp>
        <p:nvSpPr>
          <p:cNvPr id="16389" name="Slide Number Placeholder 4"/>
          <p:cNvSpPr>
            <a:spLocks noGrp="1"/>
          </p:cNvSpPr>
          <p:nvPr>
            <p:ph type="sldNum" sz="quarter" idx="12"/>
          </p:nvPr>
        </p:nvSpPr>
        <p:spPr>
          <a:noFill/>
        </p:spPr>
        <p:txBody>
          <a:bodyPr/>
          <a:lstStyle/>
          <a:p>
            <a:fld id="{86B35B2D-098F-46A2-ABC5-E31FD8A72168}" type="slidenum">
              <a:rPr lang="en-US" smtClean="0"/>
              <a:pPr/>
              <a:t>52</a:t>
            </a:fld>
            <a:endParaRPr lang="en-US" smtClean="0"/>
          </a:p>
        </p:txBody>
      </p:sp>
    </p:spTree>
    <p:extLst>
      <p:ext uri="{BB962C8B-B14F-4D97-AF65-F5344CB8AC3E}">
        <p14:creationId xmlns:p14="http://schemas.microsoft.com/office/powerpoint/2010/main" val="3743262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smtClean="0"/>
              <a:t>References</a:t>
            </a:r>
          </a:p>
        </p:txBody>
      </p:sp>
      <p:sp>
        <p:nvSpPr>
          <p:cNvPr id="17411" name="Content Placeholder 2"/>
          <p:cNvSpPr>
            <a:spLocks noGrp="1"/>
          </p:cNvSpPr>
          <p:nvPr>
            <p:ph idx="1"/>
          </p:nvPr>
        </p:nvSpPr>
        <p:spPr/>
        <p:txBody>
          <a:bodyPr/>
          <a:lstStyle/>
          <a:p>
            <a:pPr eaLnBrk="1" hangingPunct="1"/>
            <a:r>
              <a:rPr lang="en-US" sz="2400" smtClean="0"/>
              <a:t>The electronic cash scheme presented in this lecture is based on the work by David Chaum </a:t>
            </a:r>
            <a:r>
              <a:rPr lang="en-US" sz="2400" smtClean="0">
                <a:hlinkClick r:id="rId2"/>
              </a:rPr>
              <a:t>http://www.chaum.com/</a:t>
            </a:r>
            <a:endParaRPr lang="en-US" sz="2400" smtClean="0"/>
          </a:p>
          <a:p>
            <a:pPr eaLnBrk="1" hangingPunct="1"/>
            <a:r>
              <a:rPr lang="en-US" sz="2400" smtClean="0"/>
              <a:t>D. Chaum, A. Fiat, and M. Naor.</a:t>
            </a:r>
            <a:br>
              <a:rPr lang="en-US" sz="2400" smtClean="0"/>
            </a:br>
            <a:r>
              <a:rPr lang="en-US" sz="2400" i="1" smtClean="0"/>
              <a:t>Untraceable Electronic Cash</a:t>
            </a:r>
            <a:r>
              <a:rPr lang="en-US" sz="2400" smtClean="0"/>
              <a:t>, in</a:t>
            </a:r>
            <a:br>
              <a:rPr lang="en-US" sz="2400" smtClean="0"/>
            </a:br>
            <a:r>
              <a:rPr lang="en-US" sz="2400" smtClean="0"/>
              <a:t>Proc. CRYPTO 1988. </a:t>
            </a:r>
            <a:r>
              <a:rPr lang="en-US" sz="2400" smtClean="0">
                <a:hlinkClick r:id="rId3"/>
              </a:rPr>
              <a:t>http://citeseer.ist.psu.edu/421212.html</a:t>
            </a:r>
            <a:endParaRPr lang="en-US" sz="2400" smtClean="0"/>
          </a:p>
          <a:p>
            <a:pPr eaLnBrk="1" hangingPunct="1"/>
            <a:r>
              <a:rPr lang="en-US" sz="2400" smtClean="0"/>
              <a:t>S. Goldwasser and M. Bellare. </a:t>
            </a:r>
            <a:r>
              <a:rPr lang="en-US" sz="2400" i="1" smtClean="0"/>
              <a:t>Lecture Notes on Cryptography</a:t>
            </a:r>
            <a:r>
              <a:rPr lang="en-US" sz="2400" smtClean="0"/>
              <a:t> [Section 12.5]</a:t>
            </a:r>
            <a:br>
              <a:rPr lang="en-US" sz="2400" smtClean="0"/>
            </a:br>
            <a:r>
              <a:rPr lang="en-US" sz="2400" smtClean="0">
                <a:hlinkClick r:id="rId4"/>
              </a:rPr>
              <a:t>http://www-cse.ucsd.edu/users/mihir/papers/gb.html</a:t>
            </a:r>
            <a:endParaRPr lang="en-US" sz="2400" smtClean="0"/>
          </a:p>
        </p:txBody>
      </p:sp>
      <p:sp>
        <p:nvSpPr>
          <p:cNvPr id="17413" name="Slide Number Placeholder 4"/>
          <p:cNvSpPr>
            <a:spLocks noGrp="1"/>
          </p:cNvSpPr>
          <p:nvPr>
            <p:ph type="sldNum" sz="quarter" idx="12"/>
          </p:nvPr>
        </p:nvSpPr>
        <p:spPr>
          <a:noFill/>
        </p:spPr>
        <p:txBody>
          <a:bodyPr/>
          <a:lstStyle/>
          <a:p>
            <a:fld id="{509887DB-463D-4B30-91E5-422F6B4706D8}" type="slidenum">
              <a:rPr lang="en-US" smtClean="0"/>
              <a:pPr/>
              <a:t>53</a:t>
            </a:fld>
            <a:endParaRPr lang="en-US" smtClean="0"/>
          </a:p>
        </p:txBody>
      </p:sp>
    </p:spTree>
    <p:extLst>
      <p:ext uri="{BB962C8B-B14F-4D97-AF65-F5344CB8AC3E}">
        <p14:creationId xmlns:p14="http://schemas.microsoft.com/office/powerpoint/2010/main" val="2058896120"/>
      </p:ext>
    </p:extLst>
  </p:cSld>
  <p:clrMapOvr>
    <a:masterClrMapping/>
  </p:clrMapOvr>
</p:sld>
</file>

<file path=ppt/theme/theme1.xml><?xml version="1.0" encoding="utf-8"?>
<a:theme xmlns:a="http://schemas.openxmlformats.org/drawingml/2006/main" name="Office Theme">
  <a:themeElements>
    <a:clrScheme name="Custom 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D9969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954</TotalTime>
  <Words>3612</Words>
  <Application>Microsoft Office PowerPoint</Application>
  <PresentationFormat>On-screen Show (4:3)</PresentationFormat>
  <Paragraphs>518</Paragraphs>
  <Slides>53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Symbol</vt:lpstr>
      <vt:lpstr>Times New Roman</vt:lpstr>
      <vt:lpstr>Wingdings</vt:lpstr>
      <vt:lpstr>Office Theme</vt:lpstr>
      <vt:lpstr>Database Security</vt:lpstr>
      <vt:lpstr>The Need for Database Security</vt:lpstr>
      <vt:lpstr>Tables and Queries</vt:lpstr>
      <vt:lpstr>SQL Queries</vt:lpstr>
      <vt:lpstr>SQL Example</vt:lpstr>
      <vt:lpstr>Another SQL Example</vt:lpstr>
      <vt:lpstr>Database Deletions</vt:lpstr>
      <vt:lpstr>Database Insertions</vt:lpstr>
      <vt:lpstr>Two-Phase Commit</vt:lpstr>
      <vt:lpstr>Database Access Control</vt:lpstr>
      <vt:lpstr>Access Control Using SQL</vt:lpstr>
      <vt:lpstr>Privilege Delegation</vt:lpstr>
      <vt:lpstr>Privilege Revocation</vt:lpstr>
      <vt:lpstr>Privilege Revocation Example</vt:lpstr>
      <vt:lpstr>Sensitive Data</vt:lpstr>
      <vt:lpstr>Using Cryptography</vt:lpstr>
      <vt:lpstr>Privacy Protection</vt:lpstr>
      <vt:lpstr>Inference Attacks</vt:lpstr>
      <vt:lpstr>Protecting Against Inference Attacks</vt:lpstr>
      <vt:lpstr>Example</vt:lpstr>
      <vt:lpstr>Spam and Cybercrime</vt:lpstr>
      <vt:lpstr>SMTP</vt:lpstr>
      <vt:lpstr>What is Email Spam?</vt:lpstr>
      <vt:lpstr>Who Responds to Spam anyhow?</vt:lpstr>
      <vt:lpstr>Spam Conversion</vt:lpstr>
      <vt:lpstr>Blacklisting</vt:lpstr>
      <vt:lpstr>Graylisting</vt:lpstr>
      <vt:lpstr>Sender ID and Sender Policy Framework</vt:lpstr>
      <vt:lpstr>DomainKeys Identified Mail (DKIM)</vt:lpstr>
      <vt:lpstr>SenderID vs. DKIM</vt:lpstr>
      <vt:lpstr>Cybercrime</vt:lpstr>
      <vt:lpstr>Credit Cards</vt:lpstr>
      <vt:lpstr>Common Credit Card Frauds</vt:lpstr>
      <vt:lpstr>Defending Against Credit Card Fraud</vt:lpstr>
      <vt:lpstr>Bank Accounts</vt:lpstr>
      <vt:lpstr>Common Bank Frauds</vt:lpstr>
      <vt:lpstr>Defending Against Bank Fraud</vt:lpstr>
      <vt:lpstr>Payment Systems</vt:lpstr>
      <vt:lpstr>Electronic Payment Schemes</vt:lpstr>
      <vt:lpstr>Transactions</vt:lpstr>
      <vt:lpstr>Goals</vt:lpstr>
      <vt:lpstr>Payment with Digital Signatures</vt:lpstr>
      <vt:lpstr>Private Payment Scheme</vt:lpstr>
      <vt:lpstr>Blind Signatures with RSA</vt:lpstr>
      <vt:lpstr>RSA Blind Signature Protocol</vt:lpstr>
      <vt:lpstr>Blindly Signing a Valid Coin</vt:lpstr>
      <vt:lpstr>Defenses Against Double Spending</vt:lpstr>
      <vt:lpstr>Secret Splitting into Shares</vt:lpstr>
      <vt:lpstr>Coins</vt:lpstr>
      <vt:lpstr>Withdrawal</vt:lpstr>
      <vt:lpstr>Payment</vt:lpstr>
      <vt:lpstr>Deposit and Security Properties</vt:lpstr>
      <vt:lpstr>References</vt:lpstr>
    </vt:vector>
  </TitlesOfParts>
  <Company>Brown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Confidentiality</dc:title>
  <dc:creator>Roberto Tamassia</dc:creator>
  <cp:lastModifiedBy>Computer Science</cp:lastModifiedBy>
  <cp:revision>171</cp:revision>
  <dcterms:created xsi:type="dcterms:W3CDTF">2010-03-21T23:36:49Z</dcterms:created>
  <dcterms:modified xsi:type="dcterms:W3CDTF">2017-08-22T19:24:09Z</dcterms:modified>
</cp:coreProperties>
</file>